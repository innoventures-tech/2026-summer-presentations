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embeddedFontLst>
    <p:embeddedFont>
      <p:font typeface="Overpass Thin"/>
      <p:regular r:id="rId201314"/>
    </p:embeddedFont>
    <p:embeddedFont>
      <p:font typeface="Overpass ExtraLight"/>
      <p:regular r:id="rId201315"/>
    </p:embeddedFont>
    <p:embeddedFont>
      <p:font typeface="Overpass Light"/>
      <p:regular r:id="rId201316"/>
    </p:embeddedFont>
    <p:embeddedFont>
      <p:font typeface="Overpass"/>
      <p:regular r:id="rId201317"/>
    </p:embeddedFont>
    <p:embeddedFont>
      <p:font typeface="Overpass Medium"/>
      <p:regular r:id="rId201318"/>
    </p:embeddedFont>
    <p:embeddedFont>
      <p:font typeface="Overpass SemiBold"/>
      <p:regular r:id="rId201319"/>
    </p:embeddedFont>
    <p:embeddedFont>
      <p:font typeface="Overpass Bold"/>
      <p:regular r:id="rId201320"/>
    </p:embeddedFont>
    <p:embeddedFont>
      <p:font typeface="Overpass Black"/>
      <p:regular r:id="rId201321"/>
    </p:embeddedFont>
    <p:embeddedFont>
      <p:font typeface="Overpass ExtraBold"/>
      <p:regular r:id="rId2013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252222">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image" Target="../media/image-5-8.png"/><Relationship Id="rId9" Type="http://schemas.openxmlformats.org/officeDocument/2006/relationships/image" Target="../media/image-5-9.sv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svg"/><Relationship Id="rId4" Type="http://schemas.openxmlformats.org/officeDocument/2006/relationships/image" Target="../media/image-21-2.png"/><Relationship Id="rId5" Type="http://schemas.openxmlformats.org/officeDocument/2006/relationships/image" Target="../media/image-21-3.svg"/><Relationship Id="rId6" Type="http://schemas.openxmlformats.org/officeDocument/2006/relationships/slideLayout" Target="../slideLayouts/slideLayout2.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image" Target="../media/image-22-2.png"/><Relationship Id="rId3" Type="http://schemas.openxmlformats.org/officeDocument/2006/relationships/image" Target="../media/image-22-3.svg"/><Relationship Id="rId4" Type="http://schemas.openxmlformats.org/officeDocument/2006/relationships/image" Target="../media/image-22-2.png"/><Relationship Id="rId5" Type="http://schemas.openxmlformats.org/officeDocument/2006/relationships/image" Target="../media/image-22-3.svg"/><Relationship Id="rId6" Type="http://schemas.openxmlformats.org/officeDocument/2006/relationships/image" Target="../media/image-22-6.png"/><Relationship Id="rId7" Type="http://schemas.openxmlformats.org/officeDocument/2006/relationships/image" Target="../media/image-22-7.svg"/><Relationship Id="rId8" Type="http://schemas.openxmlformats.org/officeDocument/2006/relationships/image" Target="../media/image-22-2.png"/><Relationship Id="rId9" Type="http://schemas.openxmlformats.org/officeDocument/2006/relationships/image" Target="../media/image-22-3.svg"/><Relationship Id="rId10" Type="http://schemas.openxmlformats.org/officeDocument/2006/relationships/slideLayout" Target="../slideLayouts/slideLayout2.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52577" y="1445791"/>
            <a:ext cx="4667845" cy="880021"/>
          </a:xfrm>
          <a:prstGeom prst="rect">
            <a:avLst/>
          </a:prstGeom>
          <a:noFill/>
          <a:ln/>
        </p:spPr>
        <p:txBody>
          <a:bodyPr wrap="square" lIns="0" tIns="0" rIns="0" bIns="0" rtlCol="0" anchor="t">
            <a:normAutofit/>
          </a:bodyPr>
          <a:lstStyle/>
          <a:p>
            <a:pPr algn="l" indent="0" marL="0">
              <a:lnSpc>
                <a:spcPct val="104000"/>
              </a:lnSpc>
              <a:buNone/>
            </a:pPr>
            <a:r>
              <a:rPr lang="en-US" sz="2750" b="1" dirty="0">
                <a:solidFill>
                  <a:srgbClr val="FFFFFF"/>
                </a:solidFill>
                <a:latin typeface="Overpass Bold" pitchFamily="34" charset="0"/>
                <a:ea typeface="Overpass Bold" pitchFamily="34" charset="-122"/>
                <a:cs typeface="Overpass Bold" pitchFamily="34" charset="-120"/>
              </a:rPr>
              <a:t>Chunking Strategies and the Effect of Chunk Size</a:t>
            </a:r>
            <a:endParaRPr lang="en-US" sz="2750" dirty="0"/>
          </a:p>
        </p:txBody>
      </p:sp>
      <p:sp>
        <p:nvSpPr>
          <p:cNvPr id="4" name="Text 1"/>
          <p:cNvSpPr/>
          <p:nvPr/>
        </p:nvSpPr>
        <p:spPr>
          <a:xfrm>
            <a:off x="3952577" y="2550170"/>
            <a:ext cx="5125045" cy="239390"/>
          </a:xfrm>
          <a:prstGeom prst="rect">
            <a:avLst/>
          </a:prstGeom>
          <a:noFill/>
          <a:ln/>
        </p:spPr>
        <p:txBody>
          <a:bodyPr wrap="none" lIns="0" tIns="0" rIns="0" bIns="0" rtlCol="0" anchor="t"/>
          <a:lstStyle/>
          <a:p>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Understanding RAG Systems</a:t>
            </a:r>
            <a:endParaRPr lang="en-US" sz="1150" dirty="0"/>
          </a:p>
        </p:txBody>
      </p:sp>
      <p:sp>
        <p:nvSpPr>
          <p:cNvPr id="5" name="Text 2"/>
          <p:cNvSpPr/>
          <p:nvPr/>
        </p:nvSpPr>
        <p:spPr>
          <a:xfrm>
            <a:off x="3952577" y="3013918"/>
            <a:ext cx="4667845" cy="219968"/>
          </a:xfrm>
          <a:prstGeom prst="rect">
            <a:avLst/>
          </a:prstGeom>
          <a:noFill/>
          <a:ln/>
        </p:spPr>
        <p:txBody>
          <a:bodyPr wrap="none" lIns="0" tIns="0" rIns="0" bIns="0" rtlCol="0" anchor="t"/>
          <a:lstStyle/>
          <a:p>
            <a:pPr algn="l" indent="0" marL="0">
              <a:lnSpc>
                <a:spcPct val="104000"/>
              </a:lnSpc>
              <a:buNone/>
            </a:pPr>
            <a:r>
              <a:rPr lang="en-US" sz="1350" b="1" dirty="0">
                <a:solidFill>
                  <a:srgbClr val="FFFFFF"/>
                </a:solidFill>
                <a:latin typeface="Overpass Bold" pitchFamily="34" charset="0"/>
                <a:ea typeface="Overpass Bold" pitchFamily="34" charset="-122"/>
                <a:cs typeface="Overpass Bold" pitchFamily="34" charset="-120"/>
              </a:rPr>
              <a:t>Narin Bilal </a:t>
            </a:r>
            <a:endParaRPr lang="en-US" sz="1350" dirty="0"/>
          </a:p>
        </p:txBody>
      </p:sp>
      <p:sp>
        <p:nvSpPr>
          <p:cNvPr id="6" name="Text 3"/>
          <p:cNvSpPr/>
          <p:nvPr/>
        </p:nvSpPr>
        <p:spPr>
          <a:xfrm>
            <a:off x="3952577" y="3458245"/>
            <a:ext cx="5125045" cy="239390"/>
          </a:xfrm>
          <a:prstGeom prst="rect">
            <a:avLst/>
          </a:prstGeom>
          <a:noFill/>
          <a:ln/>
        </p:spPr>
        <p:txBody>
          <a:bodyPr wrap="none" lIns="0" tIns="0" rIns="0" bIns="0" rtlCol="0" anchor="t"/>
          <a:lstStyle/>
          <a:p>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InnoVentures-Tech Summer Inter`nship</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23577" y="511373"/>
            <a:ext cx="8096845" cy="440010"/>
          </a:xfrm>
          <a:prstGeom prst="rect">
            <a:avLst/>
          </a:prstGeom>
          <a:noFill/>
          <a:ln/>
        </p:spPr>
        <p:txBody>
          <a:bodyPr wrap="none" lIns="0" tIns="0" rIns="0" bIns="0" rtlCol="0" anchor="t"/>
          <a:lstStyle/>
          <a:p>
            <a:pPr algn="l" indent="0" marL="0">
              <a:lnSpc>
                <a:spcPct val="104000"/>
              </a:lnSpc>
              <a:buNone/>
            </a:pPr>
            <a:r>
              <a:rPr lang="en-US" sz="2750" b="1" dirty="0">
                <a:solidFill>
                  <a:srgbClr val="FFFFFF"/>
                </a:solidFill>
                <a:latin typeface="Overpass Bold" pitchFamily="34" charset="0"/>
                <a:ea typeface="Overpass Bold" pitchFamily="34" charset="-122"/>
                <a:cs typeface="Overpass Bold" pitchFamily="34" charset="-120"/>
              </a:rPr>
              <a:t>(Retrieval-Augmented Generation)</a:t>
            </a:r>
            <a:endParaRPr lang="en-US" sz="2750" dirty="0"/>
          </a:p>
        </p:txBody>
      </p:sp>
      <p:sp>
        <p:nvSpPr>
          <p:cNvPr id="3" name="Text 1"/>
          <p:cNvSpPr/>
          <p:nvPr/>
        </p:nvSpPr>
        <p:spPr>
          <a:xfrm>
            <a:off x="523577" y="1011213"/>
            <a:ext cx="8096845" cy="263947"/>
          </a:xfrm>
          <a:prstGeom prst="rect">
            <a:avLst/>
          </a:prstGeom>
          <a:noFill/>
          <a:ln/>
        </p:spPr>
        <p:txBody>
          <a:bodyPr wrap="none" lIns="0" tIns="0" rIns="0" bIns="0" rtlCol="0" anchor="t"/>
          <a:lstStyle/>
          <a:p>
            <a:pPr algn="l" indent="0" marL="0">
              <a:lnSpc>
                <a:spcPct val="104000"/>
              </a:lnSpc>
              <a:buNone/>
            </a:pPr>
            <a:r>
              <a:rPr lang="en-US" sz="1650" b="1" dirty="0">
                <a:solidFill>
                  <a:srgbClr val="FFFFFF"/>
                </a:solidFill>
                <a:latin typeface="Overpass Bold" pitchFamily="34" charset="0"/>
                <a:ea typeface="Overpass Bold" pitchFamily="34" charset="-122"/>
                <a:cs typeface="Overpass Bold" pitchFamily="34" charset="-120"/>
              </a:rPr>
              <a:t>The problem:</a:t>
            </a:r>
            <a:endParaRPr lang="en-US" sz="1650" dirty="0"/>
          </a:p>
        </p:txBody>
      </p:sp>
      <p:sp>
        <p:nvSpPr>
          <p:cNvPr id="4" name="Text 2"/>
          <p:cNvSpPr/>
          <p:nvPr/>
        </p:nvSpPr>
        <p:spPr>
          <a:xfrm>
            <a:off x="523577" y="1499518"/>
            <a:ext cx="8096845" cy="47878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LLMs only know what they were trained on — they can't access private documents, recent news, or specialized knowledge on their own. This makes them prone to hallucination, confidently giving outdated or incorrect answers.</a:t>
            </a:r>
            <a:endParaRPr lang="en-US" sz="1150" dirty="0"/>
          </a:p>
        </p:txBody>
      </p:sp>
      <p:sp>
        <p:nvSpPr>
          <p:cNvPr id="5" name="Text 3"/>
          <p:cNvSpPr/>
          <p:nvPr/>
        </p:nvSpPr>
        <p:spPr>
          <a:xfrm>
            <a:off x="523577" y="2202656"/>
            <a:ext cx="8096845" cy="263947"/>
          </a:xfrm>
          <a:prstGeom prst="rect">
            <a:avLst/>
          </a:prstGeom>
          <a:noFill/>
          <a:ln/>
        </p:spPr>
        <p:txBody>
          <a:bodyPr wrap="none" lIns="0" tIns="0" rIns="0" bIns="0" rtlCol="0" anchor="t"/>
          <a:lstStyle/>
          <a:p>
            <a:pPr algn="l" indent="0" marL="0">
              <a:lnSpc>
                <a:spcPct val="104000"/>
              </a:lnSpc>
              <a:buNone/>
            </a:pPr>
            <a:r>
              <a:rPr lang="en-US" sz="1650" b="1" dirty="0">
                <a:solidFill>
                  <a:srgbClr val="FFFFFF"/>
                </a:solidFill>
                <a:latin typeface="Overpass Bold" pitchFamily="34" charset="0"/>
                <a:ea typeface="Overpass Bold" pitchFamily="34" charset="-122"/>
                <a:cs typeface="Overpass Bold" pitchFamily="34" charset="-120"/>
              </a:rPr>
              <a:t> The solution: </a:t>
            </a:r>
            <a:endParaRPr lang="en-US" sz="1650" dirty="0"/>
          </a:p>
        </p:txBody>
      </p:sp>
      <p:sp>
        <p:nvSpPr>
          <p:cNvPr id="6" name="Text 4"/>
          <p:cNvSpPr/>
          <p:nvPr/>
        </p:nvSpPr>
        <p:spPr>
          <a:xfrm>
            <a:off x="523577" y="2690961"/>
            <a:ext cx="8096845" cy="47878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RAG combines a retrieval system (searches documents) with a language model (generates answers), so the model can look things up before answering — grounding its response in real information instead of guessing from memory alone.</a:t>
            </a:r>
            <a:endParaRPr lang="en-US" sz="1150" dirty="0"/>
          </a:p>
        </p:txBody>
      </p:sp>
      <p:sp>
        <p:nvSpPr>
          <p:cNvPr id="7" name="Text 5"/>
          <p:cNvSpPr/>
          <p:nvPr/>
        </p:nvSpPr>
        <p:spPr>
          <a:xfrm>
            <a:off x="523577" y="3337992"/>
            <a:ext cx="8096845" cy="1294061"/>
          </a:xfrm>
          <a:prstGeom prst="rect">
            <a:avLst/>
          </a:prstGeom>
          <a:noFill/>
          <a:ln/>
        </p:spPr>
        <p:txBody>
          <a:bodyPr wrap="square" lIns="0" tIns="0" rIns="0" bIns="0" rtlCol="0" anchor="t"/>
          <a:lstStyle/>
          <a:p>
            <a:pPr algn="l" indent="0" marL="0">
              <a:lnSpc>
                <a:spcPct val="133000"/>
              </a:lnSpc>
              <a:spcAft>
                <a:spcPts val="3200"/>
              </a:spcAft>
              <a:buNone/>
            </a:pPr>
            <a:endParaRPr lang="en-US" sz="1150" dirty="0"/>
          </a:p>
          <a:p>
            <a:pPr algn="l" indent="0" marL="0">
              <a:lnSpc>
                <a:spcPct val="133000"/>
              </a:lnSpc>
              <a:buNone/>
            </a:pPr>
            <a:r>
              <a:rPr lang="en-US" sz="1150" b="1" dirty="0">
                <a:solidFill>
                  <a:srgbClr val="E5E0DF"/>
                </a:solidFill>
                <a:latin typeface="Overpass Bold" pitchFamily="34" charset="0"/>
                <a:ea typeface="Overpass Bold" pitchFamily="34" charset="-122"/>
                <a:cs typeface="Overpass Bold" pitchFamily="34" charset="-120"/>
              </a:rPr>
              <a:t>Normal LLM (no RAG)</a:t>
            </a:r>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 = closed-book exam — answering purely from memory (training data), which may be outdated, incomplete, or </a:t>
            </a:r>
            <a:pPr algn="l" indent="0" marL="0">
              <a:lnSpc>
                <a:spcPct val="133000"/>
              </a:lnSpc>
              <a:buNone/>
            </a:pPr>
            <a:r>
              <a:rPr lang="en-US" sz="1150" b="1" dirty="0">
                <a:solidFill>
                  <a:srgbClr val="E5E0DF"/>
                </a:solidFill>
                <a:latin typeface="Overpass Bold" pitchFamily="34" charset="0"/>
                <a:ea typeface="Overpass Bold" pitchFamily="34" charset="-122"/>
                <a:cs typeface="Overpass Bold" pitchFamily="34" charset="-120"/>
              </a:rPr>
              <a:t>lead to hallucination</a:t>
            </a:r>
            <a:pPr algn="l" indent="0" marL="0">
              <a:lnSpc>
                <a:spcPct val="133000"/>
              </a:lnSpc>
              <a:spcAft>
                <a:spcPts val="1300"/>
              </a:spcAft>
              <a:buNone/>
            </a:pPr>
            <a:r>
              <a:rPr lang="en-US" sz="1150" dirty="0">
                <a:solidFill>
                  <a:srgbClr val="E5E0DF"/>
                </a:solidFill>
                <a:latin typeface="Overpass" pitchFamily="34" charset="0"/>
                <a:ea typeface="Overpass" pitchFamily="34" charset="-122"/>
                <a:cs typeface="Overpass" pitchFamily="34" charset="-120"/>
              </a:rPr>
              <a:t> (confidently guessing wrong instead of admitting it doesn't know).</a:t>
            </a:r>
            <a:endParaRPr lang="en-US" sz="1150" dirty="0"/>
          </a:p>
          <a:p>
            <a:pPr algn="l" indent="0" marL="0">
              <a:lnSpc>
                <a:spcPct val="133000"/>
              </a:lnSpc>
              <a:buNone/>
            </a:pPr>
            <a:r>
              <a:rPr lang="en-US" sz="1150" b="1" dirty="0">
                <a:solidFill>
                  <a:srgbClr val="E5E0DF"/>
                </a:solidFill>
                <a:latin typeface="Overpass Bold" pitchFamily="34" charset="0"/>
                <a:ea typeface="Overpass Bold" pitchFamily="34" charset="-122"/>
                <a:cs typeface="Overpass Bold" pitchFamily="34" charset="-120"/>
              </a:rPr>
              <a:t>RAG</a:t>
            </a:r>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 = open-book exam — looking up the exact information before answering, so the response is accurate and up-to-date.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23577" y="446410"/>
            <a:ext cx="8096845" cy="302493"/>
          </a:xfrm>
          <a:prstGeom prst="rect">
            <a:avLst/>
          </a:prstGeom>
          <a:noFill/>
          <a:ln/>
        </p:spPr>
        <p:txBody>
          <a:bodyPr wrap="none" lIns="0" tIns="0" rIns="0" bIns="0" rtlCol="0" anchor="t"/>
          <a:lstStyle/>
          <a:p>
            <a:pPr algn="l" indent="0" marL="0">
              <a:lnSpc>
                <a:spcPct val="104000"/>
              </a:lnSpc>
              <a:buNone/>
            </a:pPr>
            <a:r>
              <a:rPr lang="en-US" sz="1900" b="1" dirty="0">
                <a:solidFill>
                  <a:srgbClr val="FFFFFF"/>
                </a:solidFill>
                <a:latin typeface="Overpass Bold" pitchFamily="34" charset="0"/>
                <a:ea typeface="Overpass Bold" pitchFamily="34" charset="-122"/>
                <a:cs typeface="Overpass Bold" pitchFamily="34" charset="-120"/>
              </a:rPr>
              <a:t>How RAG Works:</a:t>
            </a:r>
            <a:endParaRPr lang="en-US" sz="1900" dirty="0"/>
          </a:p>
        </p:txBody>
      </p:sp>
      <p:sp>
        <p:nvSpPr>
          <p:cNvPr id="3" name="Text 1"/>
          <p:cNvSpPr/>
          <p:nvPr/>
        </p:nvSpPr>
        <p:spPr>
          <a:xfrm>
            <a:off x="523577" y="890290"/>
            <a:ext cx="8096845" cy="792733"/>
          </a:xfrm>
          <a:prstGeom prst="rect">
            <a:avLst/>
          </a:prstGeom>
          <a:noFill/>
          <a:ln/>
        </p:spPr>
        <p:txBody>
          <a:bodyPr wrap="square" lIns="0" tIns="0" rIns="0" bIns="0" rtlCol="0" anchor="t">
            <a:normAutofit/>
          </a:bodyPr>
          <a:lstStyle/>
          <a:p>
            <a:pPr algn="l" marL="162560" indent="-162560">
              <a:lnSpc>
                <a:spcPct val="113000"/>
              </a:lnSpc>
              <a:buSzPct val="100000"/>
              <a:buFont typeface="+mj-lt"/>
              <a:buAutoNum type="arabicPeriod" startAt="1"/>
            </a:pPr>
            <a:r>
              <a:rPr lang="en-US" sz="800" dirty="0">
                <a:solidFill>
                  <a:srgbClr val="E5E0DF"/>
                </a:solidFill>
                <a:latin typeface="Overpass" pitchFamily="34" charset="0"/>
                <a:ea typeface="Overpass" pitchFamily="34" charset="-122"/>
                <a:cs typeface="Overpass" pitchFamily="34" charset="-120"/>
              </a:rPr>
              <a:t>Documents are split into chunks</a:t>
            </a:r>
            <a:endParaRPr lang="en-US" sz="800" dirty="0"/>
          </a:p>
          <a:p>
            <a:pPr algn="l" marL="162560" indent="-162560">
              <a:lnSpc>
                <a:spcPct val="113000"/>
              </a:lnSpc>
              <a:buSzPct val="100000"/>
              <a:buFont typeface="+mj-lt"/>
              <a:buAutoNum type="arabicPeriod" startAt="2"/>
            </a:pPr>
            <a:r>
              <a:rPr lang="en-US" sz="800" dirty="0">
                <a:solidFill>
                  <a:srgbClr val="E5E0DF"/>
                </a:solidFill>
                <a:latin typeface="Overpass" pitchFamily="34" charset="0"/>
                <a:ea typeface="Overpass" pitchFamily="34" charset="-122"/>
                <a:cs typeface="Overpass" pitchFamily="34" charset="-120"/>
              </a:rPr>
              <a:t>Chunks are converted into embeddings and stored in a vector database</a:t>
            </a:r>
            <a:endParaRPr lang="en-US" sz="800" dirty="0"/>
          </a:p>
          <a:p>
            <a:pPr algn="l" marL="162560" indent="-162560">
              <a:lnSpc>
                <a:spcPct val="113000"/>
              </a:lnSpc>
              <a:buSzPct val="100000"/>
              <a:buFont typeface="+mj-lt"/>
              <a:buAutoNum type="arabicPeriod" startAt="3"/>
            </a:pPr>
            <a:r>
              <a:rPr lang="en-US" sz="800" dirty="0">
                <a:solidFill>
                  <a:srgbClr val="E5E0DF"/>
                </a:solidFill>
                <a:latin typeface="Overpass" pitchFamily="34" charset="0"/>
                <a:ea typeface="Overpass" pitchFamily="34" charset="-122"/>
                <a:cs typeface="Overpass" pitchFamily="34" charset="-120"/>
              </a:rPr>
              <a:t>User asks a question( convert the question to emmbedding vector)</a:t>
            </a:r>
            <a:endParaRPr lang="en-US" sz="800" dirty="0"/>
          </a:p>
          <a:p>
            <a:pPr algn="l" marL="162560" indent="-162560">
              <a:lnSpc>
                <a:spcPct val="113000"/>
              </a:lnSpc>
              <a:buSzPct val="100000"/>
              <a:buFont typeface="+mj-lt"/>
              <a:buAutoNum type="arabicPeriod" startAt="4"/>
            </a:pPr>
            <a:r>
              <a:rPr lang="en-US" sz="800" dirty="0">
                <a:solidFill>
                  <a:srgbClr val="E5E0DF"/>
                </a:solidFill>
                <a:latin typeface="Overpass" pitchFamily="34" charset="0"/>
                <a:ea typeface="Overpass" pitchFamily="34" charset="-122"/>
                <a:cs typeface="Overpass" pitchFamily="34" charset="-120"/>
              </a:rPr>
              <a:t>System finds the most relevant chunks by comparing embeddings</a:t>
            </a:r>
            <a:endParaRPr lang="en-US" sz="800" dirty="0"/>
          </a:p>
          <a:p>
            <a:pPr algn="l" marL="162560" indent="-162560">
              <a:lnSpc>
                <a:spcPct val="113000"/>
              </a:lnSpc>
              <a:buSzPct val="100000"/>
              <a:buFont typeface="+mj-lt"/>
              <a:buAutoNum type="arabicPeriod" startAt="5"/>
            </a:pPr>
            <a:r>
              <a:rPr lang="en-US" sz="800" dirty="0">
                <a:solidFill>
                  <a:srgbClr val="E5E0DF"/>
                </a:solidFill>
                <a:latin typeface="Overpass" pitchFamily="34" charset="0"/>
                <a:ea typeface="Overpass" pitchFamily="34" charset="-122"/>
                <a:cs typeface="Overpass" pitchFamily="34" charset="-120"/>
              </a:rPr>
              <a:t>Retrieved chunks + question are given to the LLM to generate an answer</a:t>
            </a:r>
            <a:endParaRPr lang="en-US" sz="800" dirty="0"/>
          </a:p>
        </p:txBody>
      </p:sp>
      <p:pic>
        <p:nvPicPr>
          <p:cNvPr id="4" name="Image 0" descr="preencoded.png">    </p:cNvPr>
          <p:cNvPicPr>
            <a:picLocks noChangeAspect="1"/>
          </p:cNvPicPr>
          <p:nvPr/>
        </p:nvPicPr>
        <p:blipFill>
          <a:blip r:embed="rId1"/>
          <a:stretch>
            <a:fillRect/>
          </a:stretch>
        </p:blipFill>
        <p:spPr>
          <a:xfrm>
            <a:off x="523577" y="1762571"/>
            <a:ext cx="5216872" cy="29344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23577" y="440903"/>
            <a:ext cx="8096845" cy="412477"/>
          </a:xfrm>
          <a:prstGeom prst="rect">
            <a:avLst/>
          </a:prstGeom>
          <a:noFill/>
          <a:ln/>
        </p:spPr>
        <p:txBody>
          <a:bodyPr wrap="none" lIns="0" tIns="0" rIns="0" bIns="0" rtlCol="0" anchor="t"/>
          <a:lstStyle/>
          <a:p>
            <a:pPr algn="l" indent="0" marL="0">
              <a:lnSpc>
                <a:spcPct val="104000"/>
              </a:lnSpc>
              <a:buNone/>
            </a:pPr>
            <a:r>
              <a:rPr lang="en-US" sz="2550" b="1" dirty="0">
                <a:solidFill>
                  <a:srgbClr val="FFFFFF"/>
                </a:solidFill>
                <a:latin typeface="Overpass Bold" pitchFamily="34" charset="0"/>
                <a:ea typeface="Overpass Bold" pitchFamily="34" charset="-122"/>
                <a:cs typeface="Overpass Bold" pitchFamily="34" charset="-120"/>
              </a:rPr>
              <a:t>What happens in the LLM steps :</a:t>
            </a:r>
            <a:endParaRPr lang="en-US" sz="2550" dirty="0"/>
          </a:p>
        </p:txBody>
      </p:sp>
      <p:sp>
        <p:nvSpPr>
          <p:cNvPr id="3" name="Text 1"/>
          <p:cNvSpPr/>
          <p:nvPr/>
        </p:nvSpPr>
        <p:spPr>
          <a:xfrm>
            <a:off x="523577" y="1116360"/>
            <a:ext cx="8096845" cy="1876871"/>
          </a:xfrm>
          <a:prstGeom prst="rect">
            <a:avLst/>
          </a:prstGeom>
          <a:noFill/>
          <a:ln/>
        </p:spPr>
        <p:txBody>
          <a:bodyPr wrap="square" lIns="0" tIns="0" rIns="0" bIns="0" rtlCol="0" anchor="t">
            <a:normAutofit/>
          </a:bodyPr>
          <a:lstStyle/>
          <a:p>
            <a:pPr algn="l" marL="223520" indent="-223520">
              <a:lnSpc>
                <a:spcPct val="129000"/>
              </a:lnSpc>
              <a:buSzPct val="100000"/>
              <a:buFont typeface="+mj-lt"/>
              <a:buAutoNum type="arabicPeriod" startAt="1"/>
            </a:pPr>
            <a:r>
              <a:rPr lang="en-US" sz="1100" b="1" dirty="0">
                <a:solidFill>
                  <a:srgbClr val="E5E0DF"/>
                </a:solidFill>
                <a:latin typeface="Overpass Bold" pitchFamily="34" charset="0"/>
                <a:ea typeface="Overpass Bold" pitchFamily="34" charset="-122"/>
                <a:cs typeface="Overpass Bold" pitchFamily="34" charset="-120"/>
              </a:rPr>
              <a:t>Prompt assembly</a:t>
            </a:r>
            <a:pPr algn="l" marL="223520" indent="-223520">
              <a:lnSpc>
                <a:spcPct val="129000"/>
              </a:lnSpc>
              <a:buSzPct val="100000"/>
              <a:buFont typeface="+mj-lt"/>
              <a:buAutoNum type="arabicPeriod" startAt="1"/>
            </a:pPr>
            <a:r>
              <a:rPr lang="en-US" sz="1100" dirty="0">
                <a:solidFill>
                  <a:srgbClr val="E5E0DF"/>
                </a:solidFill>
                <a:latin typeface="Overpass" pitchFamily="34" charset="0"/>
                <a:ea typeface="Overpass" pitchFamily="34" charset="-122"/>
                <a:cs typeface="Overpass" pitchFamily="34" charset="-120"/>
              </a:rPr>
              <a:t> — The retrieved chunks and the user's question are combined into one prompt: "Answer the question using the information below" + chunks + question.</a:t>
            </a:r>
            <a:endParaRPr lang="en-US" sz="1100" dirty="0"/>
          </a:p>
          <a:p>
            <a:pPr algn="l" marL="223520" indent="-223520">
              <a:lnSpc>
                <a:spcPct val="129000"/>
              </a:lnSpc>
              <a:buSzPct val="100000"/>
              <a:buFont typeface="+mj-lt"/>
              <a:buAutoNum type="arabicPeriod" startAt="2"/>
            </a:pPr>
            <a:r>
              <a:rPr lang="en-US" sz="1100" b="1" dirty="0">
                <a:solidFill>
                  <a:srgbClr val="E5E0DF"/>
                </a:solidFill>
                <a:latin typeface="Overpass Bold" pitchFamily="34" charset="0"/>
                <a:ea typeface="Overpass Bold" pitchFamily="34" charset="-122"/>
                <a:cs typeface="Overpass Bold" pitchFamily="34" charset="-120"/>
              </a:rPr>
              <a:t>Reading the context</a:t>
            </a:r>
            <a:pPr algn="l" marL="223520" indent="-223520">
              <a:lnSpc>
                <a:spcPct val="129000"/>
              </a:lnSpc>
              <a:buSzPct val="100000"/>
              <a:buFont typeface="+mj-lt"/>
              <a:buAutoNum type="arabicPeriod" startAt="2"/>
            </a:pPr>
            <a:r>
              <a:rPr lang="en-US" sz="1100" dirty="0">
                <a:solidFill>
                  <a:srgbClr val="E5E0DF"/>
                </a:solidFill>
                <a:latin typeface="Overpass" pitchFamily="34" charset="0"/>
                <a:ea typeface="Overpass" pitchFamily="34" charset="-122"/>
                <a:cs typeface="Overpass" pitchFamily="34" charset="-120"/>
              </a:rPr>
              <a:t> — The LLM doesn't recall chunks from memory — it reads them in real time, like a passage just handed to it, and grounds its answer in that text.</a:t>
            </a:r>
            <a:endParaRPr lang="en-US" sz="1100" dirty="0"/>
          </a:p>
          <a:p>
            <a:pPr algn="l" marL="223520" indent="-223520">
              <a:lnSpc>
                <a:spcPct val="129000"/>
              </a:lnSpc>
              <a:buSzPct val="100000"/>
              <a:buFont typeface="+mj-lt"/>
              <a:buAutoNum type="arabicPeriod" startAt="3"/>
            </a:pPr>
            <a:r>
              <a:rPr lang="en-US" sz="1100" b="1" dirty="0">
                <a:solidFill>
                  <a:srgbClr val="E5E0DF"/>
                </a:solidFill>
                <a:latin typeface="Overpass Bold" pitchFamily="34" charset="0"/>
                <a:ea typeface="Overpass Bold" pitchFamily="34" charset="-122"/>
                <a:cs typeface="Overpass Bold" pitchFamily="34" charset="-120"/>
              </a:rPr>
              <a:t>Answer generation</a:t>
            </a:r>
            <a:pPr algn="l" marL="223520" indent="-223520">
              <a:lnSpc>
                <a:spcPct val="129000"/>
              </a:lnSpc>
              <a:buSzPct val="100000"/>
              <a:buFont typeface="+mj-lt"/>
              <a:buAutoNum type="arabicPeriod" startAt="3"/>
            </a:pPr>
            <a:r>
              <a:rPr lang="en-US" sz="1100" dirty="0">
                <a:solidFill>
                  <a:srgbClr val="E5E0DF"/>
                </a:solidFill>
                <a:latin typeface="Overpass" pitchFamily="34" charset="0"/>
                <a:ea typeface="Overpass" pitchFamily="34" charset="-122"/>
                <a:cs typeface="Overpass" pitchFamily="34" charset="-120"/>
              </a:rPr>
              <a:t> — If the chunks contain the answer, the model uses them. If not, a well-designed system responds "I don't have that information" instead of guessing.</a:t>
            </a:r>
            <a:endParaRPr lang="en-US" sz="1100" dirty="0"/>
          </a:p>
          <a:p>
            <a:pPr algn="l" marL="223520" indent="-223520">
              <a:lnSpc>
                <a:spcPct val="129000"/>
              </a:lnSpc>
              <a:buSzPct val="100000"/>
              <a:buFont typeface="+mj-lt"/>
              <a:buAutoNum type="arabicPeriod" startAt="4"/>
            </a:pPr>
            <a:r>
              <a:rPr lang="en-US" sz="1100" b="1" dirty="0">
                <a:solidFill>
                  <a:srgbClr val="E5E0DF"/>
                </a:solidFill>
                <a:latin typeface="Overpass Bold" pitchFamily="34" charset="0"/>
                <a:ea typeface="Overpass Bold" pitchFamily="34" charset="-122"/>
                <a:cs typeface="Overpass Bold" pitchFamily="34" charset="-120"/>
              </a:rPr>
              <a:t>Source attribution</a:t>
            </a:r>
            <a:pPr algn="l" marL="223520" indent="-223520">
              <a:lnSpc>
                <a:spcPct val="129000"/>
              </a:lnSpc>
              <a:buSzPct val="100000"/>
              <a:buFont typeface="+mj-lt"/>
              <a:buAutoNum type="arabicPeriod" startAt="4"/>
            </a:pPr>
            <a:r>
              <a:rPr lang="en-US" sz="1100" dirty="0">
                <a:solidFill>
                  <a:srgbClr val="E5E0DF"/>
                </a:solidFill>
                <a:latin typeface="Overpass" pitchFamily="34" charset="0"/>
                <a:ea typeface="Overpass" pitchFamily="34" charset="-122"/>
                <a:cs typeface="Overpass" pitchFamily="34" charset="-120"/>
              </a:rPr>
              <a:t> </a:t>
            </a:r>
            <a:pPr algn="l" marL="223520" indent="-223520">
              <a:lnSpc>
                <a:spcPct val="129000"/>
              </a:lnSpc>
              <a:buSzPct val="100000"/>
              <a:buFont typeface="+mj-lt"/>
              <a:buAutoNum type="arabicPeriod" startAt="4"/>
            </a:pPr>
            <a:r>
              <a:rPr lang="en-US" sz="1100" i="1" dirty="0">
                <a:solidFill>
                  <a:srgbClr val="E5E0DF"/>
                </a:solidFill>
                <a:latin typeface="Overpass" pitchFamily="34" charset="0"/>
                <a:ea typeface="Overpass" pitchFamily="34" charset="-122"/>
                <a:cs typeface="Overpass" pitchFamily="34" charset="-120"/>
              </a:rPr>
              <a:t>(optional but common)</a:t>
            </a:r>
            <a:pPr algn="l" marL="223520" indent="-223520">
              <a:lnSpc>
                <a:spcPct val="129000"/>
              </a:lnSpc>
              <a:buSzPct val="100000"/>
              <a:buFont typeface="+mj-lt"/>
              <a:buAutoNum type="arabicPeriod" startAt="4"/>
            </a:pPr>
            <a:r>
              <a:rPr lang="en-US" sz="1100" dirty="0">
                <a:solidFill>
                  <a:srgbClr val="E5E0DF"/>
                </a:solidFill>
                <a:latin typeface="Overpass" pitchFamily="34" charset="0"/>
                <a:ea typeface="Overpass" pitchFamily="34" charset="-122"/>
                <a:cs typeface="Overpass" pitchFamily="34" charset="-120"/>
              </a:rPr>
              <a:t> — Many RAG systems show which chunk/document the answer came from, so it's traceable.</a:t>
            </a:r>
            <a:endParaRPr lang="en-US" sz="1100" dirty="0"/>
          </a:p>
        </p:txBody>
      </p:sp>
      <p:sp>
        <p:nvSpPr>
          <p:cNvPr id="4" name="Text 2"/>
          <p:cNvSpPr/>
          <p:nvPr/>
        </p:nvSpPr>
        <p:spPr>
          <a:xfrm>
            <a:off x="523577" y="3141092"/>
            <a:ext cx="8554045" cy="217363"/>
          </a:xfrm>
          <a:prstGeom prst="rect">
            <a:avLst/>
          </a:prstGeom>
          <a:noFill/>
          <a:ln/>
        </p:spPr>
        <p:txBody>
          <a:bodyPr wrap="none" lIns="0" tIns="0" rIns="0" bIns="0" rtlCol="0" anchor="t"/>
          <a:lstStyle/>
          <a:p>
            <a:pPr algn="l" indent="0" marL="0">
              <a:lnSpc>
                <a:spcPct val="129000"/>
              </a:lnSpc>
              <a:buNone/>
            </a:pPr>
            <a:r>
              <a:rPr lang="en-US" sz="1100" dirty="0">
                <a:solidFill>
                  <a:srgbClr val="E5E0DF"/>
                </a:solidFill>
                <a:latin typeface="Overpass" pitchFamily="34" charset="0"/>
                <a:ea typeface="Overpass" pitchFamily="34" charset="-122"/>
                <a:cs typeface="Overpass" pitchFamily="34" charset="-120"/>
              </a:rPr>
              <a:t>The LLM doesn't remember — it reads the retrieved chunks and generates an answer grounded in them.</a:t>
            </a:r>
            <a:endParaRPr lang="en-US" sz="1100" dirty="0"/>
          </a:p>
        </p:txBody>
      </p:sp>
      <p:sp>
        <p:nvSpPr>
          <p:cNvPr id="5" name="Shape 3"/>
          <p:cNvSpPr/>
          <p:nvPr/>
        </p:nvSpPr>
        <p:spPr>
          <a:xfrm>
            <a:off x="523577" y="3506316"/>
            <a:ext cx="2163142" cy="213122"/>
          </a:xfrm>
          <a:prstGeom prst="roundRect">
            <a:avLst>
              <a:gd name="adj" fmla="val 22113"/>
            </a:avLst>
          </a:prstGeom>
          <a:solidFill>
            <a:srgbClr val="4C0124"/>
          </a:solidFill>
          <a:ln/>
        </p:spPr>
      </p:sp>
      <p:sp>
        <p:nvSpPr>
          <p:cNvPr id="6" name="Text 4"/>
          <p:cNvSpPr/>
          <p:nvPr/>
        </p:nvSpPr>
        <p:spPr>
          <a:xfrm>
            <a:off x="607665" y="3548360"/>
            <a:ext cx="2452167" cy="129034"/>
          </a:xfrm>
          <a:prstGeom prst="rect">
            <a:avLst/>
          </a:prstGeom>
          <a:noFill/>
          <a:ln/>
        </p:spPr>
        <p:txBody>
          <a:bodyPr wrap="none" lIns="0" tIns="0" rIns="0" bIns="0" rtlCol="0" anchor="t"/>
          <a:lstStyle/>
          <a:p>
            <a:pPr algn="l" indent="0" marL="0">
              <a:lnSpc>
                <a:spcPct val="96000"/>
              </a:lnSpc>
              <a:buNone/>
            </a:pPr>
            <a:r>
              <a:rPr lang="en-US" sz="850" dirty="0">
                <a:solidFill>
                  <a:srgbClr val="E5E0DF"/>
                </a:solidFill>
                <a:latin typeface="Overpass" pitchFamily="34" charset="0"/>
                <a:ea typeface="Overpass" pitchFamily="34" charset="-122"/>
                <a:cs typeface="Overpass" pitchFamily="34" charset="-120"/>
              </a:rPr>
              <a:t>RETRIEVAL-AUGMENTED GENERATION</a:t>
            </a:r>
            <a:endParaRPr lang="en-US" sz="85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3577" y="3867299"/>
            <a:ext cx="3982641" cy="835298"/>
          </a:xfrm>
          <a:prstGeom prst="rect">
            <a:avLst/>
          </a:prstGeom>
        </p:spPr>
      </p:pic>
      <p:sp>
        <p:nvSpPr>
          <p:cNvPr id="8" name="Text 5"/>
          <p:cNvSpPr/>
          <p:nvPr/>
        </p:nvSpPr>
        <p:spPr>
          <a:xfrm>
            <a:off x="759023" y="4026545"/>
            <a:ext cx="3587948" cy="220563"/>
          </a:xfrm>
          <a:prstGeom prst="rect">
            <a:avLst/>
          </a:prstGeom>
          <a:noFill/>
          <a:ln/>
        </p:spPr>
        <p:txBody>
          <a:bodyPr wrap="none" lIns="0" tIns="0" rIns="0" bIns="0" rtlCol="0" anchor="t"/>
          <a:lstStyle/>
          <a:p>
            <a:pPr algn="l" indent="0" marL="0">
              <a:lnSpc>
                <a:spcPct val="104000"/>
              </a:lnSpc>
              <a:buNone/>
            </a:pPr>
            <a:r>
              <a:rPr lang="en-US" sz="125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250" b="1" dirty="0">
                <a:solidFill>
                  <a:srgbClr val="E5E0DF"/>
                </a:solidFill>
                <a:latin typeface="Overpass Bold" pitchFamily="34" charset="0"/>
                <a:ea typeface="Overpass Bold" pitchFamily="34" charset="-122"/>
                <a:cs typeface="Overpass Bold" pitchFamily="34" charset="-120"/>
              </a:rPr>
              <a:t> Retrieve</a:t>
            </a:r>
            <a:endParaRPr lang="en-US" sz="1250" dirty="0"/>
          </a:p>
        </p:txBody>
      </p:sp>
      <p:sp>
        <p:nvSpPr>
          <p:cNvPr id="9" name="Text 6"/>
          <p:cNvSpPr/>
          <p:nvPr/>
        </p:nvSpPr>
        <p:spPr>
          <a:xfrm>
            <a:off x="759023" y="4325987"/>
            <a:ext cx="3587948" cy="217363"/>
          </a:xfrm>
          <a:prstGeom prst="rect">
            <a:avLst/>
          </a:prstGeom>
          <a:noFill/>
          <a:ln/>
        </p:spPr>
        <p:txBody>
          <a:bodyPr wrap="none" lIns="0" tIns="0" rIns="0" bIns="0" rtlCol="0" anchor="t"/>
          <a:lstStyle/>
          <a:p>
            <a:pPr algn="l" indent="0" marL="0">
              <a:lnSpc>
                <a:spcPct val="129000"/>
              </a:lnSpc>
              <a:buNone/>
            </a:pPr>
            <a:r>
              <a:rPr lang="en-US" sz="1100" dirty="0">
                <a:solidFill>
                  <a:srgbClr val="E5E0DF"/>
                </a:solidFill>
                <a:latin typeface="Overpass" pitchFamily="34" charset="0"/>
                <a:ea typeface="Overpass" pitchFamily="34" charset="-122"/>
                <a:cs typeface="Overpass" pitchFamily="34" charset="-120"/>
              </a:rPr>
              <a:t>Search a vector database for relevant document chunks.</a:t>
            </a:r>
            <a:endParaRPr lang="en-US" sz="11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37708" y="3867299"/>
            <a:ext cx="3982715" cy="835298"/>
          </a:xfrm>
          <a:prstGeom prst="rect">
            <a:avLst/>
          </a:prstGeom>
        </p:spPr>
      </p:pic>
      <p:sp>
        <p:nvSpPr>
          <p:cNvPr id="11" name="Text 7"/>
          <p:cNvSpPr/>
          <p:nvPr/>
        </p:nvSpPr>
        <p:spPr>
          <a:xfrm>
            <a:off x="4873154" y="4026545"/>
            <a:ext cx="3588023" cy="220563"/>
          </a:xfrm>
          <a:prstGeom prst="rect">
            <a:avLst/>
          </a:prstGeom>
          <a:noFill/>
          <a:ln/>
        </p:spPr>
        <p:txBody>
          <a:bodyPr wrap="none" lIns="0" tIns="0" rIns="0" bIns="0" rtlCol="0" anchor="t"/>
          <a:lstStyle/>
          <a:p>
            <a:pPr algn="l" indent="0" marL="0">
              <a:lnSpc>
                <a:spcPct val="104000"/>
              </a:lnSpc>
              <a:buNone/>
            </a:pPr>
            <a:r>
              <a:rPr lang="en-US" sz="125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250" b="1" dirty="0">
                <a:solidFill>
                  <a:srgbClr val="E5E0DF"/>
                </a:solidFill>
                <a:latin typeface="Overpass Bold" pitchFamily="34" charset="0"/>
                <a:ea typeface="Overpass Bold" pitchFamily="34" charset="-122"/>
                <a:cs typeface="Overpass Bold" pitchFamily="34" charset="-120"/>
              </a:rPr>
              <a:t> Generate</a:t>
            </a:r>
            <a:endParaRPr lang="en-US" sz="1250" dirty="0"/>
          </a:p>
        </p:txBody>
      </p:sp>
      <p:sp>
        <p:nvSpPr>
          <p:cNvPr id="12" name="Text 8"/>
          <p:cNvSpPr/>
          <p:nvPr/>
        </p:nvSpPr>
        <p:spPr>
          <a:xfrm>
            <a:off x="4873154" y="4325987"/>
            <a:ext cx="3588023" cy="217363"/>
          </a:xfrm>
          <a:prstGeom prst="rect">
            <a:avLst/>
          </a:prstGeom>
          <a:noFill/>
          <a:ln/>
        </p:spPr>
        <p:txBody>
          <a:bodyPr wrap="none" lIns="0" tIns="0" rIns="0" bIns="0" rtlCol="0" anchor="t"/>
          <a:lstStyle/>
          <a:p>
            <a:pPr algn="l" indent="0" marL="0">
              <a:lnSpc>
                <a:spcPct val="129000"/>
              </a:lnSpc>
              <a:buNone/>
            </a:pPr>
            <a:r>
              <a:rPr lang="en-US" sz="1100" dirty="0">
                <a:solidFill>
                  <a:srgbClr val="E5E0DF"/>
                </a:solidFill>
                <a:latin typeface="Overpass" pitchFamily="34" charset="0"/>
                <a:ea typeface="Overpass" pitchFamily="34" charset="-122"/>
                <a:cs typeface="Overpass" pitchFamily="34" charset="-120"/>
              </a:rPr>
              <a:t>Feed retrieved context to the LLM for informed answers.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52577" y="460995"/>
            <a:ext cx="4667845" cy="357560"/>
          </a:xfrm>
          <a:prstGeom prst="rect">
            <a:avLst/>
          </a:prstGeom>
          <a:noFill/>
          <a:ln/>
        </p:spPr>
        <p:txBody>
          <a:bodyPr wrap="none" lIns="0" tIns="0" rIns="0" bIns="0" rtlCol="0" anchor="t"/>
          <a:lstStyle/>
          <a:p>
            <a:pPr algn="l" indent="0" marL="0">
              <a:lnSpc>
                <a:spcPct val="104000"/>
              </a:lnSpc>
              <a:buNone/>
            </a:pPr>
            <a:r>
              <a:rPr lang="en-US" sz="2250" b="1" dirty="0">
                <a:solidFill>
                  <a:srgbClr val="FFFFFF"/>
                </a:solidFill>
                <a:latin typeface="Overpass Bold" pitchFamily="34" charset="0"/>
                <a:ea typeface="Overpass Bold" pitchFamily="34" charset="-122"/>
                <a:cs typeface="Overpass Bold" pitchFamily="34" charset="-120"/>
              </a:rPr>
              <a:t>Why RAG Maters</a:t>
            </a:r>
            <a:endParaRPr lang="en-US" sz="22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52577" y="966639"/>
            <a:ext cx="243111" cy="243111"/>
          </a:xfrm>
          <a:prstGeom prst="rect">
            <a:avLst/>
          </a:prstGeom>
        </p:spPr>
      </p:pic>
      <p:sp>
        <p:nvSpPr>
          <p:cNvPr id="5" name="Text 1"/>
          <p:cNvSpPr/>
          <p:nvPr/>
        </p:nvSpPr>
        <p:spPr>
          <a:xfrm>
            <a:off x="3952577" y="1333202"/>
            <a:ext cx="4667845" cy="178743"/>
          </a:xfrm>
          <a:prstGeom prst="rect">
            <a:avLst/>
          </a:prstGeom>
          <a:noFill/>
          <a:ln/>
        </p:spPr>
        <p:txBody>
          <a:bodyPr wrap="none" lIns="0" tIns="0" rIns="0" bIns="0" rtlCol="0" anchor="t"/>
          <a:lstStyle/>
          <a:p>
            <a:pPr algn="l" indent="0" marL="0">
              <a:lnSpc>
                <a:spcPct val="104000"/>
              </a:lnSpc>
              <a:buNone/>
            </a:pPr>
            <a:r>
              <a:rPr lang="en-US" sz="1100" b="1" dirty="0">
                <a:solidFill>
                  <a:srgbClr val="E5E0DF"/>
                </a:solidFill>
                <a:latin typeface="Overpass Bold" pitchFamily="34" charset="0"/>
                <a:ea typeface="Overpass Bold" pitchFamily="34" charset="-122"/>
                <a:cs typeface="Overpass Bold" pitchFamily="34" charset="-120"/>
              </a:rPr>
              <a:t>Higher Accuracy</a:t>
            </a:r>
            <a:endParaRPr lang="en-US" sz="1100" dirty="0"/>
          </a:p>
        </p:txBody>
      </p:sp>
      <p:sp>
        <p:nvSpPr>
          <p:cNvPr id="6" name="Text 2"/>
          <p:cNvSpPr/>
          <p:nvPr/>
        </p:nvSpPr>
        <p:spPr>
          <a:xfrm>
            <a:off x="3952577" y="1571179"/>
            <a:ext cx="4667845" cy="176287"/>
          </a:xfrm>
          <a:prstGeom prst="rect">
            <a:avLst/>
          </a:prstGeom>
          <a:noFill/>
          <a:ln/>
        </p:spPr>
        <p:txBody>
          <a:bodyPr wrap="none" lIns="0" tIns="0" rIns="0" bIns="0" rtlCol="0" anchor="t"/>
          <a:lstStyle/>
          <a:p>
            <a:pPr algn="l" indent="0" marL="0">
              <a:lnSpc>
                <a:spcPct val="121000"/>
              </a:lnSpc>
              <a:buNone/>
            </a:pPr>
            <a:r>
              <a:rPr lang="en-US" sz="950" dirty="0">
                <a:solidFill>
                  <a:srgbClr val="E5E0DF"/>
                </a:solidFill>
                <a:latin typeface="Overpass" pitchFamily="34" charset="0"/>
                <a:ea typeface="Overpass" pitchFamily="34" charset="-122"/>
                <a:cs typeface="Overpass" pitchFamily="34" charset="-120"/>
              </a:rPr>
              <a:t>Answers are grounded in retrieved evidence, not model memory alone.</a:t>
            </a:r>
            <a:endParaRPr lang="en-US" sz="9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52577" y="1944960"/>
            <a:ext cx="243111" cy="243111"/>
          </a:xfrm>
          <a:prstGeom prst="rect">
            <a:avLst/>
          </a:prstGeom>
        </p:spPr>
      </p:pic>
      <p:sp>
        <p:nvSpPr>
          <p:cNvPr id="8" name="Text 3"/>
          <p:cNvSpPr/>
          <p:nvPr/>
        </p:nvSpPr>
        <p:spPr>
          <a:xfrm>
            <a:off x="3952577" y="2311524"/>
            <a:ext cx="4667845" cy="178743"/>
          </a:xfrm>
          <a:prstGeom prst="rect">
            <a:avLst/>
          </a:prstGeom>
          <a:noFill/>
          <a:ln/>
        </p:spPr>
        <p:txBody>
          <a:bodyPr wrap="none" lIns="0" tIns="0" rIns="0" bIns="0" rtlCol="0" anchor="t"/>
          <a:lstStyle/>
          <a:p>
            <a:pPr algn="l" indent="0" marL="0">
              <a:lnSpc>
                <a:spcPct val="104000"/>
              </a:lnSpc>
              <a:buNone/>
            </a:pPr>
            <a:r>
              <a:rPr lang="en-US" sz="1100" b="1" dirty="0">
                <a:solidFill>
                  <a:srgbClr val="E5E0DF"/>
                </a:solidFill>
                <a:latin typeface="Overpass Bold" pitchFamily="34" charset="0"/>
                <a:ea typeface="Overpass Bold" pitchFamily="34" charset="-122"/>
                <a:cs typeface="Overpass Bold" pitchFamily="34" charset="-120"/>
              </a:rPr>
              <a:t>Always Up-to-Date</a:t>
            </a:r>
            <a:endParaRPr lang="en-US" sz="1100" dirty="0"/>
          </a:p>
        </p:txBody>
      </p:sp>
      <p:sp>
        <p:nvSpPr>
          <p:cNvPr id="9" name="Text 4"/>
          <p:cNvSpPr/>
          <p:nvPr/>
        </p:nvSpPr>
        <p:spPr>
          <a:xfrm>
            <a:off x="3952577" y="2549500"/>
            <a:ext cx="4667845" cy="176287"/>
          </a:xfrm>
          <a:prstGeom prst="rect">
            <a:avLst/>
          </a:prstGeom>
          <a:noFill/>
          <a:ln/>
        </p:spPr>
        <p:txBody>
          <a:bodyPr wrap="none" lIns="0" tIns="0" rIns="0" bIns="0" rtlCol="0" anchor="t"/>
          <a:lstStyle/>
          <a:p>
            <a:pPr algn="l" indent="0" marL="0">
              <a:lnSpc>
                <a:spcPct val="121000"/>
              </a:lnSpc>
              <a:buNone/>
            </a:pPr>
            <a:r>
              <a:rPr lang="en-US" sz="950" dirty="0">
                <a:solidFill>
                  <a:srgbClr val="E5E0DF"/>
                </a:solidFill>
                <a:latin typeface="Overpass" pitchFamily="34" charset="0"/>
                <a:ea typeface="Overpass" pitchFamily="34" charset="-122"/>
                <a:cs typeface="Overpass" pitchFamily="34" charset="-120"/>
              </a:rPr>
              <a:t>Update the vector store without retraining the entire model.</a:t>
            </a:r>
            <a:endParaRPr lang="en-US" sz="9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52577" y="2923282"/>
            <a:ext cx="243111" cy="243111"/>
          </a:xfrm>
          <a:prstGeom prst="rect">
            <a:avLst/>
          </a:prstGeom>
        </p:spPr>
      </p:pic>
      <p:sp>
        <p:nvSpPr>
          <p:cNvPr id="11" name="Text 5"/>
          <p:cNvSpPr/>
          <p:nvPr/>
        </p:nvSpPr>
        <p:spPr>
          <a:xfrm>
            <a:off x="3952577" y="3289846"/>
            <a:ext cx="4667845" cy="178743"/>
          </a:xfrm>
          <a:prstGeom prst="rect">
            <a:avLst/>
          </a:prstGeom>
          <a:noFill/>
          <a:ln/>
        </p:spPr>
        <p:txBody>
          <a:bodyPr wrap="none" lIns="0" tIns="0" rIns="0" bIns="0" rtlCol="0" anchor="t"/>
          <a:lstStyle/>
          <a:p>
            <a:pPr algn="l" indent="0" marL="0">
              <a:lnSpc>
                <a:spcPct val="104000"/>
              </a:lnSpc>
              <a:buNone/>
            </a:pPr>
            <a:r>
              <a:rPr lang="en-US" sz="1100" b="1" dirty="0">
                <a:solidFill>
                  <a:srgbClr val="E5E0DF"/>
                </a:solidFill>
                <a:latin typeface="Overpass Bold" pitchFamily="34" charset="0"/>
                <a:ea typeface="Overpass Bold" pitchFamily="34" charset="-122"/>
                <a:cs typeface="Overpass Bold" pitchFamily="34" charset="-120"/>
              </a:rPr>
              <a:t>Reduced Hallucination</a:t>
            </a:r>
            <a:endParaRPr lang="en-US" sz="1100" dirty="0"/>
          </a:p>
        </p:txBody>
      </p:sp>
      <p:sp>
        <p:nvSpPr>
          <p:cNvPr id="12" name="Text 6"/>
          <p:cNvSpPr/>
          <p:nvPr/>
        </p:nvSpPr>
        <p:spPr>
          <a:xfrm>
            <a:off x="3952577" y="3527822"/>
            <a:ext cx="4667845" cy="176287"/>
          </a:xfrm>
          <a:prstGeom prst="rect">
            <a:avLst/>
          </a:prstGeom>
          <a:noFill/>
          <a:ln/>
        </p:spPr>
        <p:txBody>
          <a:bodyPr wrap="none" lIns="0" tIns="0" rIns="0" bIns="0" rtlCol="0" anchor="t"/>
          <a:lstStyle/>
          <a:p>
            <a:pPr algn="l" indent="0" marL="0">
              <a:lnSpc>
                <a:spcPct val="121000"/>
              </a:lnSpc>
              <a:buNone/>
            </a:pPr>
            <a:r>
              <a:rPr lang="en-US" sz="950" dirty="0">
                <a:solidFill>
                  <a:srgbClr val="E5E0DF"/>
                </a:solidFill>
                <a:latin typeface="Overpass" pitchFamily="34" charset="0"/>
                <a:ea typeface="Overpass" pitchFamily="34" charset="-122"/>
                <a:cs typeface="Overpass" pitchFamily="34" charset="-120"/>
              </a:rPr>
              <a:t>Retrieved context anchors responses to factual source material.</a:t>
            </a:r>
            <a:endParaRPr lang="en-US" sz="95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52577" y="3901604"/>
            <a:ext cx="243111" cy="243111"/>
          </a:xfrm>
          <a:prstGeom prst="rect">
            <a:avLst/>
          </a:prstGeom>
        </p:spPr>
      </p:pic>
      <p:sp>
        <p:nvSpPr>
          <p:cNvPr id="14" name="Text 7"/>
          <p:cNvSpPr/>
          <p:nvPr/>
        </p:nvSpPr>
        <p:spPr>
          <a:xfrm>
            <a:off x="3952577" y="4268167"/>
            <a:ext cx="4667845" cy="178743"/>
          </a:xfrm>
          <a:prstGeom prst="rect">
            <a:avLst/>
          </a:prstGeom>
          <a:noFill/>
          <a:ln/>
        </p:spPr>
        <p:txBody>
          <a:bodyPr wrap="none" lIns="0" tIns="0" rIns="0" bIns="0" rtlCol="0" anchor="t"/>
          <a:lstStyle/>
          <a:p>
            <a:pPr algn="l" indent="0" marL="0">
              <a:lnSpc>
                <a:spcPct val="104000"/>
              </a:lnSpc>
              <a:buNone/>
            </a:pPr>
            <a:r>
              <a:rPr lang="en-US" sz="1100" b="1" dirty="0">
                <a:solidFill>
                  <a:srgbClr val="E5E0DF"/>
                </a:solidFill>
                <a:latin typeface="Overpass Bold" pitchFamily="34" charset="0"/>
                <a:ea typeface="Overpass Bold" pitchFamily="34" charset="-122"/>
                <a:cs typeface="Overpass Bold" pitchFamily="34" charset="-120"/>
              </a:rPr>
              <a:t>Private &amp; Proprietary</a:t>
            </a:r>
            <a:endParaRPr lang="en-US" sz="1100" dirty="0"/>
          </a:p>
        </p:txBody>
      </p:sp>
      <p:sp>
        <p:nvSpPr>
          <p:cNvPr id="15" name="Text 8"/>
          <p:cNvSpPr/>
          <p:nvPr/>
        </p:nvSpPr>
        <p:spPr>
          <a:xfrm>
            <a:off x="3952577" y="4506144"/>
            <a:ext cx="4667845" cy="176287"/>
          </a:xfrm>
          <a:prstGeom prst="rect">
            <a:avLst/>
          </a:prstGeom>
          <a:noFill/>
          <a:ln/>
        </p:spPr>
        <p:txBody>
          <a:bodyPr wrap="none" lIns="0" tIns="0" rIns="0" bIns="0" rtlCol="0" anchor="t"/>
          <a:lstStyle/>
          <a:p>
            <a:pPr algn="l" indent="0" marL="0">
              <a:lnSpc>
                <a:spcPct val="121000"/>
              </a:lnSpc>
              <a:buNone/>
            </a:pPr>
            <a:r>
              <a:rPr lang="en-US" sz="950" dirty="0">
                <a:solidFill>
                  <a:srgbClr val="E5E0DF"/>
                </a:solidFill>
                <a:latin typeface="Overpass" pitchFamily="34" charset="0"/>
                <a:ea typeface="Overpass" pitchFamily="34" charset="-122"/>
                <a:cs typeface="Overpass" pitchFamily="34" charset="-120"/>
              </a:rPr>
              <a:t>Query internal documents without exposing them to the model's training.</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23577" y="430857"/>
            <a:ext cx="8096845" cy="398711"/>
          </a:xfrm>
          <a:prstGeom prst="rect">
            <a:avLst/>
          </a:prstGeom>
          <a:noFill/>
          <a:ln/>
        </p:spPr>
        <p:txBody>
          <a:bodyPr wrap="none" lIns="0" tIns="0" rIns="0" bIns="0" rtlCol="0" anchor="t"/>
          <a:lstStyle/>
          <a:p>
            <a:pPr algn="l" indent="0" marL="0">
              <a:lnSpc>
                <a:spcPct val="104000"/>
              </a:lnSpc>
              <a:buNone/>
            </a:pPr>
            <a:r>
              <a:rPr lang="en-US" sz="2500" b="1" dirty="0">
                <a:solidFill>
                  <a:srgbClr val="FFFFFF"/>
                </a:solidFill>
                <a:latin typeface="Overpass Bold" pitchFamily="34" charset="0"/>
                <a:ea typeface="Overpass Bold" pitchFamily="34" charset="-122"/>
                <a:cs typeface="Overpass Bold" pitchFamily="34" charset="-120"/>
              </a:rPr>
              <a:t>What is Chunking?</a:t>
            </a:r>
            <a:endParaRPr lang="en-US" sz="2500" dirty="0"/>
          </a:p>
        </p:txBody>
      </p:sp>
      <p:pic>
        <p:nvPicPr>
          <p:cNvPr id="3" name="Image 0" descr="preencoded.png">    </p:cNvPr>
          <p:cNvPicPr>
            <a:picLocks noChangeAspect="1"/>
          </p:cNvPicPr>
          <p:nvPr/>
        </p:nvPicPr>
        <p:blipFill>
          <a:blip r:embed="rId1"/>
          <a:stretch>
            <a:fillRect/>
          </a:stretch>
        </p:blipFill>
        <p:spPr>
          <a:xfrm>
            <a:off x="523577" y="1404863"/>
            <a:ext cx="5147146" cy="2916659"/>
          </a:xfrm>
          <a:prstGeom prst="rect">
            <a:avLst/>
          </a:prstGeom>
        </p:spPr>
      </p:pic>
      <p:sp>
        <p:nvSpPr>
          <p:cNvPr id="4" name="Text 1"/>
          <p:cNvSpPr/>
          <p:nvPr/>
        </p:nvSpPr>
        <p:spPr>
          <a:xfrm>
            <a:off x="6006182" y="1124396"/>
            <a:ext cx="2618929" cy="1240334"/>
          </a:xfrm>
          <a:prstGeom prst="rect">
            <a:avLst/>
          </a:prstGeom>
          <a:noFill/>
          <a:ln/>
        </p:spPr>
        <p:txBody>
          <a:bodyPr wrap="square" lIns="0" tIns="0" rIns="0" bIns="0" rtlCol="0" anchor="t">
            <a:normAutofit/>
          </a:bodyPr>
          <a:lstStyle/>
          <a:p>
            <a:pPr algn="l" indent="0" marL="0">
              <a:lnSpc>
                <a:spcPct val="127000"/>
              </a:lnSpc>
              <a:buNone/>
            </a:pPr>
            <a:r>
              <a:rPr lang="en-US" sz="1050" b="1" dirty="0">
                <a:solidFill>
                  <a:srgbClr val="E5E0DF"/>
                </a:solidFill>
                <a:latin typeface="Overpass Bold" pitchFamily="34" charset="0"/>
                <a:ea typeface="Overpass Bold" pitchFamily="34" charset="-122"/>
                <a:cs typeface="Overpass Bold" pitchFamily="34" charset="-120"/>
              </a:rPr>
              <a:t>Chunking</a:t>
            </a:r>
            <a:pPr algn="l" indent="0" marL="0">
              <a:lnSpc>
                <a:spcPct val="127000"/>
              </a:lnSpc>
              <a:buNone/>
            </a:pPr>
            <a:r>
              <a:rPr lang="en-US" sz="1050" dirty="0">
                <a:solidFill>
                  <a:srgbClr val="E5E0DF"/>
                </a:solidFill>
                <a:latin typeface="Overpass" pitchFamily="34" charset="0"/>
                <a:ea typeface="Overpass" pitchFamily="34" charset="-122"/>
                <a:cs typeface="Overpass" pitchFamily="34" charset="-120"/>
              </a:rPr>
              <a:t> is the process of splitting large documents into smaller, manageable segments before embedding. It is the critical preprocessing step that determines what context the LLM receives at retrieval time.</a:t>
            </a:r>
            <a:endParaRPr lang="en-US" sz="1050" dirty="0"/>
          </a:p>
        </p:txBody>
      </p:sp>
      <p:sp>
        <p:nvSpPr>
          <p:cNvPr id="5" name="Shape 2"/>
          <p:cNvSpPr/>
          <p:nvPr/>
        </p:nvSpPr>
        <p:spPr>
          <a:xfrm>
            <a:off x="6006182" y="2502917"/>
            <a:ext cx="2618929" cy="1322487"/>
          </a:xfrm>
          <a:prstGeom prst="roundRect">
            <a:avLst>
              <a:gd name="adj" fmla="val 4306"/>
            </a:avLst>
          </a:prstGeom>
          <a:solidFill>
            <a:srgbClr val="7E023C"/>
          </a:solidFill>
          <a:ln/>
        </p:spPr>
      </p:sp>
      <p:pic>
        <p:nvPicPr>
          <p:cNvPr id="6" name="Image 1" descr="preencoded.png">    </p:cNvPr>
          <p:cNvPicPr>
            <a:picLocks noChangeAspect="1"/>
          </p:cNvPicPr>
          <p:nvPr/>
        </p:nvPicPr>
        <p:blipFill>
          <a:blip r:embed="rId2"/>
          <a:stretch>
            <a:fillRect/>
          </a:stretch>
        </p:blipFill>
        <p:spPr>
          <a:xfrm>
            <a:off x="6141765" y="2687017"/>
            <a:ext cx="169441" cy="135582"/>
          </a:xfrm>
          <a:prstGeom prst="rect">
            <a:avLst/>
          </a:prstGeom>
        </p:spPr>
      </p:pic>
      <p:sp>
        <p:nvSpPr>
          <p:cNvPr id="7" name="Text 3"/>
          <p:cNvSpPr/>
          <p:nvPr/>
        </p:nvSpPr>
        <p:spPr>
          <a:xfrm>
            <a:off x="6446788" y="2647355"/>
            <a:ext cx="2042740" cy="1033611"/>
          </a:xfrm>
          <a:prstGeom prst="rect">
            <a:avLst/>
          </a:prstGeom>
          <a:noFill/>
          <a:ln/>
        </p:spPr>
        <p:txBody>
          <a:bodyPr wrap="square" lIns="0" tIns="0" rIns="0" bIns="0" rtlCol="0" anchor="t">
            <a:normAutofit/>
          </a:bodyPr>
          <a:lstStyle/>
          <a:p>
            <a:pPr algn="l" indent="0" marL="0">
              <a:lnSpc>
                <a:spcPct val="127000"/>
              </a:lnSpc>
              <a:buNone/>
            </a:pPr>
            <a:r>
              <a:rPr lang="en-US" sz="1050" dirty="0">
                <a:solidFill>
                  <a:srgbClr val="FFFFFF"/>
                </a:solidFill>
                <a:latin typeface="Overpass" pitchFamily="34" charset="0"/>
                <a:ea typeface="Overpass" pitchFamily="34" charset="-122"/>
                <a:cs typeface="Overpass" pitchFamily="34" charset="-120"/>
              </a:rPr>
              <a:t>The chunking strategy and chunk size directly control retrieval quality, context relevance, and in the end the accuracy of the final answer.</a:t>
            </a:r>
            <a:endParaRPr lang="en-US" sz="1050" dirty="0"/>
          </a:p>
        </p:txBody>
      </p:sp>
      <p:sp>
        <p:nvSpPr>
          <p:cNvPr id="8" name="Text 4"/>
          <p:cNvSpPr/>
          <p:nvPr/>
        </p:nvSpPr>
        <p:spPr>
          <a:xfrm>
            <a:off x="6006182" y="3963591"/>
            <a:ext cx="2618929" cy="706041"/>
          </a:xfrm>
          <a:prstGeom prst="rect">
            <a:avLst/>
          </a:prstGeom>
          <a:noFill/>
          <a:ln/>
        </p:spPr>
        <p:txBody>
          <a:bodyPr wrap="square" lIns="0" tIns="0" rIns="0" bIns="0" rtlCol="0" anchor="t">
            <a:normAutofit/>
          </a:bodyPr>
          <a:lstStyle/>
          <a:p>
            <a:pPr algn="l" marL="213360" indent="-213360">
              <a:lnSpc>
                <a:spcPct val="127000"/>
              </a:lnSpc>
              <a:buSzPct val="100000"/>
              <a:buChar char="•"/>
            </a:pPr>
            <a:r>
              <a:rPr lang="en-US" sz="1050" dirty="0">
                <a:solidFill>
                  <a:srgbClr val="E5E0DF"/>
                </a:solidFill>
                <a:latin typeface="Overpass" pitchFamily="34" charset="0"/>
                <a:ea typeface="Overpass" pitchFamily="34" charset="-122"/>
                <a:cs typeface="Overpass" pitchFamily="34" charset="-120"/>
              </a:rPr>
              <a:t>Too small → missing context</a:t>
            </a:r>
            <a:endParaRPr lang="en-US" sz="1050" dirty="0"/>
          </a:p>
          <a:p>
            <a:pPr algn="l" marL="213360" indent="-213360">
              <a:lnSpc>
                <a:spcPct val="127000"/>
              </a:lnSpc>
              <a:buSzPct val="100000"/>
              <a:buChar char="•"/>
            </a:pPr>
            <a:r>
              <a:rPr lang="en-US" sz="1050" dirty="0">
                <a:solidFill>
                  <a:srgbClr val="E5E0DF"/>
                </a:solidFill>
                <a:latin typeface="Overpass" pitchFamily="34" charset="0"/>
                <a:ea typeface="Overpass" pitchFamily="34" charset="-122"/>
                <a:cs typeface="Overpass" pitchFamily="34" charset="-120"/>
              </a:rPr>
              <a:t>Too large → noise and diluted relevance</a:t>
            </a:r>
            <a:endParaRPr lang="en-US" sz="1050" dirty="0"/>
          </a:p>
          <a:p>
            <a:pPr algn="l" marL="213360" indent="-213360">
              <a:lnSpc>
                <a:spcPct val="127000"/>
              </a:lnSpc>
              <a:buSzPct val="100000"/>
              <a:buChar char="•"/>
            </a:pPr>
            <a:r>
              <a:rPr lang="en-US" sz="1050" dirty="0">
                <a:solidFill>
                  <a:srgbClr val="E5E0DF"/>
                </a:solidFill>
                <a:latin typeface="Overpass" pitchFamily="34" charset="0"/>
                <a:ea typeface="Overpass" pitchFamily="34" charset="-122"/>
                <a:cs typeface="Overpass" pitchFamily="34" charset="-120"/>
              </a:rPr>
              <a:t>Just right → precise, grounded answers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23577" y="587053"/>
            <a:ext cx="8096845" cy="440010"/>
          </a:xfrm>
          <a:prstGeom prst="rect">
            <a:avLst/>
          </a:prstGeom>
          <a:noFill/>
          <a:ln/>
        </p:spPr>
        <p:txBody>
          <a:bodyPr wrap="none" lIns="0" tIns="0" rIns="0" bIns="0" rtlCol="0" anchor="t"/>
          <a:lstStyle/>
          <a:p>
            <a:pPr algn="l" indent="0" marL="0">
              <a:lnSpc>
                <a:spcPct val="104000"/>
              </a:lnSpc>
              <a:buNone/>
            </a:pPr>
            <a:r>
              <a:rPr lang="en-US" sz="2750" b="1" dirty="0">
                <a:solidFill>
                  <a:srgbClr val="FFFFFF"/>
                </a:solidFill>
                <a:latin typeface="Overpass Bold" pitchFamily="34" charset="0"/>
                <a:ea typeface="Overpass Bold" pitchFamily="34" charset="-122"/>
                <a:cs typeface="Overpass Bold" pitchFamily="34" charset="-120"/>
              </a:rPr>
              <a:t>Chunking Strategies</a:t>
            </a:r>
            <a:endParaRPr lang="en-US" sz="2750" dirty="0"/>
          </a:p>
        </p:txBody>
      </p:sp>
      <p:sp>
        <p:nvSpPr>
          <p:cNvPr id="3" name="Text 1"/>
          <p:cNvSpPr/>
          <p:nvPr/>
        </p:nvSpPr>
        <p:spPr>
          <a:xfrm>
            <a:off x="523577" y="1086892"/>
            <a:ext cx="8096845" cy="352053"/>
          </a:xfrm>
          <a:prstGeom prst="rect">
            <a:avLst/>
          </a:prstGeom>
          <a:noFill/>
          <a:ln/>
        </p:spPr>
        <p:txBody>
          <a:bodyPr wrap="none" lIns="0" tIns="0" rIns="0" bIns="0" rtlCol="0" anchor="t"/>
          <a:lstStyle/>
          <a:p>
            <a:pPr algn="l" indent="0" marL="0">
              <a:lnSpc>
                <a:spcPct val="104000"/>
              </a:lnSpc>
              <a:buNone/>
            </a:pPr>
            <a:r>
              <a:rPr lang="en-US" sz="2200" b="1" dirty="0">
                <a:solidFill>
                  <a:srgbClr val="FFFFFF"/>
                </a:solidFill>
                <a:latin typeface="Overpass Bold" pitchFamily="34" charset="0"/>
                <a:ea typeface="Overpass Bold" pitchFamily="34" charset="-122"/>
                <a:cs typeface="Overpass Bold" pitchFamily="34" charset="-120"/>
              </a:rPr>
              <a:t>1. Size-based chunking</a:t>
            </a:r>
            <a:endParaRPr lang="en-US" sz="2200" dirty="0"/>
          </a:p>
        </p:txBody>
      </p:sp>
      <p:sp>
        <p:nvSpPr>
          <p:cNvPr id="4" name="Text 2"/>
          <p:cNvSpPr/>
          <p:nvPr/>
        </p:nvSpPr>
        <p:spPr>
          <a:xfrm>
            <a:off x="523577" y="1663303"/>
            <a:ext cx="8096845" cy="47878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Size-based chunking is the simplest approach. Pick a number, split when you hit it, repeat. No structure awareness, no smart decisions, just counting.</a:t>
            </a:r>
            <a:endParaRPr lang="en-US" sz="1150" dirty="0"/>
          </a:p>
        </p:txBody>
      </p:sp>
      <p:sp>
        <p:nvSpPr>
          <p:cNvPr id="5" name="Text 3"/>
          <p:cNvSpPr/>
          <p:nvPr/>
        </p:nvSpPr>
        <p:spPr>
          <a:xfrm>
            <a:off x="523577" y="2366442"/>
            <a:ext cx="8096845" cy="263947"/>
          </a:xfrm>
          <a:prstGeom prst="rect">
            <a:avLst/>
          </a:prstGeom>
          <a:noFill/>
          <a:ln/>
        </p:spPr>
        <p:txBody>
          <a:bodyPr wrap="none" lIns="0" tIns="0" rIns="0" bIns="0" rtlCol="0" anchor="t"/>
          <a:lstStyle/>
          <a:p>
            <a:pPr algn="l" indent="0" marL="0">
              <a:lnSpc>
                <a:spcPct val="104000"/>
              </a:lnSpc>
              <a:buNone/>
            </a:pPr>
            <a:r>
              <a:rPr lang="en-US" sz="1650" b="1" dirty="0">
                <a:solidFill>
                  <a:srgbClr val="FFFFFF"/>
                </a:solidFill>
                <a:latin typeface="Overpass Bold" pitchFamily="34" charset="0"/>
                <a:ea typeface="Overpass Bold" pitchFamily="34" charset="-122"/>
                <a:cs typeface="Overpass Bold" pitchFamily="34" charset="-120"/>
              </a:rPr>
              <a:t>How it works</a:t>
            </a:r>
            <a:endParaRPr lang="en-US" sz="1650" dirty="0"/>
          </a:p>
        </p:txBody>
      </p:sp>
      <p:sp>
        <p:nvSpPr>
          <p:cNvPr id="6" name="Text 4"/>
          <p:cNvSpPr/>
          <p:nvPr/>
        </p:nvSpPr>
        <p:spPr>
          <a:xfrm>
            <a:off x="523577" y="2854747"/>
            <a:ext cx="8096845" cy="886420"/>
          </a:xfrm>
          <a:prstGeom prst="rect">
            <a:avLst/>
          </a:prstGeom>
          <a:noFill/>
          <a:ln/>
        </p:spPr>
        <p:txBody>
          <a:bodyPr wrap="square" lIns="0" tIns="0" rIns="0" bIns="0" rtlCol="0" anchor="t"/>
          <a:lstStyle/>
          <a:p>
            <a:pPr algn="l" indent="0" marL="0">
              <a:lnSpc>
                <a:spcPct val="133000"/>
              </a:lnSpc>
              <a:spcAft>
                <a:spcPts val="1300"/>
              </a:spcAft>
              <a:buNone/>
            </a:pPr>
            <a:r>
              <a:rPr lang="en-US" sz="1150" dirty="0">
                <a:solidFill>
                  <a:srgbClr val="E5E0DF"/>
                </a:solidFill>
                <a:latin typeface="Overpass" pitchFamily="34" charset="0"/>
                <a:ea typeface="Overpass" pitchFamily="34" charset="-122"/>
                <a:cs typeface="Overpass" pitchFamily="34" charset="-120"/>
              </a:rPr>
              <a:t>Two main variants exist: character-based and token-based.</a:t>
            </a:r>
            <a:endParaRPr lang="en-US" sz="1150" dirty="0"/>
          </a:p>
          <a:p>
            <a:pPr algn="l" indent="0" marL="0">
              <a:lnSpc>
                <a:spcPct val="133000"/>
              </a:lnSpc>
              <a:buNone/>
            </a:pPr>
            <a:r>
              <a:rPr lang="en-US" sz="1150" b="1" dirty="0">
                <a:solidFill>
                  <a:srgbClr val="E5E0DF"/>
                </a:solidFill>
                <a:latin typeface="Overpass Bold" pitchFamily="34" charset="0"/>
                <a:ea typeface="Overpass Bold" pitchFamily="34" charset="-122"/>
                <a:cs typeface="Overpass Bold" pitchFamily="34" charset="-120"/>
              </a:rPr>
              <a:t>Character-based splitting</a:t>
            </a:r>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 is the simplest chunking method. It just counts letters (including spaces) and cuts the text once it reaches a set number.</a:t>
            </a:r>
            <a:endParaRPr lang="en-US" sz="1150" dirty="0"/>
          </a:p>
        </p:txBody>
      </p:sp>
      <p:sp>
        <p:nvSpPr>
          <p:cNvPr id="7" name="Text 5"/>
          <p:cNvSpPr/>
          <p:nvPr/>
        </p:nvSpPr>
        <p:spPr>
          <a:xfrm>
            <a:off x="523577" y="3909417"/>
            <a:ext cx="8096845" cy="647030"/>
          </a:xfrm>
          <a:prstGeom prst="rect">
            <a:avLst/>
          </a:prstGeom>
          <a:noFill/>
          <a:ln/>
        </p:spPr>
        <p:txBody>
          <a:bodyPr wrap="square" lIns="0" tIns="0" rIns="0" bIns="0" rtlCol="0" anchor="t"/>
          <a:lstStyle/>
          <a:p>
            <a:pPr algn="l" indent="0" marL="0">
              <a:lnSpc>
                <a:spcPct val="133000"/>
              </a:lnSpc>
              <a:spcAft>
                <a:spcPts val="3200"/>
              </a:spcAft>
              <a:buNone/>
            </a:pP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23577" y="584225"/>
            <a:ext cx="8096845" cy="49783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For example, if </a:t>
            </a:r>
            <a:pPr algn="l" indent="0" marL="0">
              <a:lnSpc>
                <a:spcPct val="133000"/>
              </a:lnSpc>
              <a:buNone/>
            </a:pPr>
            <a:r>
              <a:rPr lang="en-US" sz="1150" dirty="0">
                <a:solidFill>
                  <a:srgbClr val="E5E0DF"/>
                </a:solidFill>
                <a:highlight>
                  <a:srgbClr val="322F2F"/>
                </a:highlight>
                <a:latin typeface="Consolas" pitchFamily="34" charset="0"/>
                <a:ea typeface="Consolas" pitchFamily="34" charset="-122"/>
                <a:cs typeface="Consolas" pitchFamily="34" charset="-120"/>
              </a:rPr>
              <a:t>chunk_size = 55</a:t>
            </a:r>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 each chunk will have about 55 characters. A document with 255 characters will be cut into about 5 chunks.</a:t>
            </a:r>
            <a:endParaRPr lang="en-US" sz="1150" dirty="0"/>
          </a:p>
        </p:txBody>
      </p:sp>
      <p:pic>
        <p:nvPicPr>
          <p:cNvPr id="3" name="Image 0" descr="preencoded.png">    </p:cNvPr>
          <p:cNvPicPr>
            <a:picLocks noChangeAspect="1"/>
          </p:cNvPicPr>
          <p:nvPr/>
        </p:nvPicPr>
        <p:blipFill>
          <a:blip r:embed="rId1"/>
          <a:stretch>
            <a:fillRect/>
          </a:stretch>
        </p:blipFill>
        <p:spPr>
          <a:xfrm>
            <a:off x="523577" y="1418555"/>
            <a:ext cx="5642893" cy="3107085"/>
          </a:xfrm>
          <a:prstGeom prst="rect">
            <a:avLst/>
          </a:prstGeom>
        </p:spPr>
      </p:pic>
      <p:sp>
        <p:nvSpPr>
          <p:cNvPr id="4" name="Text 1"/>
          <p:cNvSpPr/>
          <p:nvPr/>
        </p:nvSpPr>
        <p:spPr>
          <a:xfrm>
            <a:off x="6536159" y="1384920"/>
            <a:ext cx="2088952" cy="143634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 problem: It doesn't care about words, sentences, or meaning — it only counts characters and cuts so the idea can get split in the middle and lose its meaning.</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23577" y="447229"/>
            <a:ext cx="8096845" cy="384944"/>
          </a:xfrm>
          <a:prstGeom prst="rect">
            <a:avLst/>
          </a:prstGeom>
          <a:noFill/>
          <a:ln/>
        </p:spPr>
        <p:txBody>
          <a:bodyPr wrap="none" lIns="0" tIns="0" rIns="0" bIns="0" rtlCol="0" anchor="t"/>
          <a:lstStyle/>
          <a:p>
            <a:pPr algn="l" indent="0" marL="0">
              <a:lnSpc>
                <a:spcPct val="104000"/>
              </a:lnSpc>
              <a:buNone/>
            </a:pPr>
            <a:endParaRPr lang="en-US" sz="2400" dirty="0"/>
          </a:p>
        </p:txBody>
      </p:sp>
      <p:sp>
        <p:nvSpPr>
          <p:cNvPr id="3" name="Text 1"/>
          <p:cNvSpPr/>
          <p:nvPr/>
        </p:nvSpPr>
        <p:spPr>
          <a:xfrm>
            <a:off x="523577" y="877937"/>
            <a:ext cx="8096845" cy="307925"/>
          </a:xfrm>
          <a:prstGeom prst="rect">
            <a:avLst/>
          </a:prstGeom>
          <a:noFill/>
          <a:ln/>
        </p:spPr>
        <p:txBody>
          <a:bodyPr wrap="none" lIns="0" tIns="0" rIns="0" bIns="0" rtlCol="0" anchor="t"/>
          <a:lstStyle/>
          <a:p>
            <a:pPr algn="l" indent="0" marL="0">
              <a:lnSpc>
                <a:spcPct val="104000"/>
              </a:lnSpc>
              <a:buNone/>
            </a:pPr>
            <a:r>
              <a:rPr lang="en-US" sz="1900" b="1" dirty="0">
                <a:solidFill>
                  <a:srgbClr val="FFFFFF"/>
                </a:solidFill>
                <a:latin typeface="Overpass Bold" pitchFamily="34" charset="0"/>
                <a:ea typeface="Overpass Bold" pitchFamily="34" charset="-122"/>
                <a:cs typeface="Overpass Bold" pitchFamily="34" charset="-120"/>
              </a:rPr>
              <a:t>1. Size-based chunking</a:t>
            </a:r>
            <a:endParaRPr lang="en-US" sz="1900" dirty="0"/>
          </a:p>
        </p:txBody>
      </p:sp>
      <p:sp>
        <p:nvSpPr>
          <p:cNvPr id="4" name="Text 2"/>
          <p:cNvSpPr/>
          <p:nvPr/>
        </p:nvSpPr>
        <p:spPr>
          <a:xfrm>
            <a:off x="523577" y="1357610"/>
            <a:ext cx="8096845" cy="1042839"/>
          </a:xfrm>
          <a:prstGeom prst="rect">
            <a:avLst/>
          </a:prstGeom>
          <a:noFill/>
          <a:ln/>
        </p:spPr>
        <p:txBody>
          <a:bodyPr wrap="square" lIns="0" tIns="0" rIns="0" bIns="0" rtlCol="0" anchor="t"/>
          <a:lstStyle/>
          <a:p>
            <a:pPr algn="l" indent="0" marL="0">
              <a:lnSpc>
                <a:spcPct val="125000"/>
              </a:lnSpc>
              <a:spcAft>
                <a:spcPts val="1000"/>
              </a:spcAft>
              <a:buNone/>
            </a:pPr>
            <a:r>
              <a:rPr lang="en-US" sz="1000" b="1" dirty="0">
                <a:solidFill>
                  <a:srgbClr val="E5E0DF"/>
                </a:solidFill>
                <a:latin typeface="Overpass Bold" pitchFamily="34" charset="0"/>
                <a:ea typeface="Overpass Bold" pitchFamily="34" charset="-122"/>
                <a:cs typeface="Overpass Bold" pitchFamily="34" charset="-120"/>
              </a:rPr>
              <a:t>Token-based splitting </a:t>
            </a:r>
            <a:endParaRPr lang="en-US" sz="1000" dirty="0"/>
          </a:p>
          <a:p>
            <a:pPr algn="l" indent="0" marL="0">
              <a:lnSpc>
                <a:spcPct val="125000"/>
              </a:lnSpc>
              <a:spcAft>
                <a:spcPts val="1000"/>
              </a:spcAft>
              <a:buNone/>
            </a:pPr>
            <a:r>
              <a:rPr lang="en-US" sz="1000" dirty="0">
                <a:solidFill>
                  <a:srgbClr val="E5E0DF"/>
                </a:solidFill>
                <a:latin typeface="Overpass" pitchFamily="34" charset="0"/>
                <a:ea typeface="Overpass" pitchFamily="34" charset="-122"/>
                <a:cs typeface="Overpass" pitchFamily="34" charset="-120"/>
              </a:rPr>
              <a:t>counts tokens instead of characters. This distinction matters because embedding models have token limits, not character limits. The word "unhappiness" is one word and 11 characters, but it might be 2 tokens ("un" + "happiness") depending on the tokenizer.</a:t>
            </a:r>
            <a:endParaRPr lang="en-US" sz="1000" dirty="0"/>
          </a:p>
          <a:p>
            <a:pPr algn="l" indent="0" marL="0">
              <a:lnSpc>
                <a:spcPct val="125000"/>
              </a:lnSpc>
              <a:buNone/>
            </a:pPr>
            <a:r>
              <a:rPr lang="en-US" sz="1000" dirty="0">
                <a:solidFill>
                  <a:srgbClr val="E5E0DF"/>
                </a:solidFill>
                <a:latin typeface="Overpass" pitchFamily="34" charset="0"/>
                <a:ea typeface="Overpass" pitchFamily="34" charset="-122"/>
                <a:cs typeface="Overpass" pitchFamily="34" charset="-120"/>
              </a:rPr>
              <a:t>Like character-based splitting, it still cuts by count, not by meaning — so it can break sentences or ideas mid-way.</a:t>
            </a:r>
            <a:endParaRPr lang="en-US" sz="1000" dirty="0"/>
          </a:p>
        </p:txBody>
      </p:sp>
      <p:sp>
        <p:nvSpPr>
          <p:cNvPr id="5" name="Text 3"/>
          <p:cNvSpPr/>
          <p:nvPr/>
        </p:nvSpPr>
        <p:spPr>
          <a:xfrm>
            <a:off x="523577" y="2572196"/>
            <a:ext cx="8096845" cy="307925"/>
          </a:xfrm>
          <a:prstGeom prst="rect">
            <a:avLst/>
          </a:prstGeom>
          <a:noFill/>
          <a:ln/>
        </p:spPr>
        <p:txBody>
          <a:bodyPr wrap="none" lIns="0" tIns="0" rIns="0" bIns="0" rtlCol="0" anchor="t"/>
          <a:lstStyle/>
          <a:p>
            <a:pPr algn="l" indent="0" marL="0">
              <a:lnSpc>
                <a:spcPct val="104000"/>
              </a:lnSpc>
              <a:buNone/>
            </a:pPr>
            <a:r>
              <a:rPr lang="en-US" sz="1900" b="1" dirty="0">
                <a:solidFill>
                  <a:srgbClr val="FFFFFF"/>
                </a:solidFill>
                <a:latin typeface="Overpass Bold" pitchFamily="34" charset="0"/>
                <a:ea typeface="Overpass Bold" pitchFamily="34" charset="-122"/>
                <a:cs typeface="Overpass Bold" pitchFamily="34" charset="-120"/>
              </a:rPr>
              <a:t>When to use this</a:t>
            </a:r>
            <a:endParaRPr lang="en-US" sz="1900" dirty="0"/>
          </a:p>
        </p:txBody>
      </p:sp>
      <p:sp>
        <p:nvSpPr>
          <p:cNvPr id="6" name="Text 4"/>
          <p:cNvSpPr/>
          <p:nvPr/>
        </p:nvSpPr>
        <p:spPr>
          <a:xfrm>
            <a:off x="523577" y="3051870"/>
            <a:ext cx="8554045" cy="196304"/>
          </a:xfrm>
          <a:prstGeom prst="rect">
            <a:avLst/>
          </a:prstGeom>
          <a:noFill/>
          <a:ln/>
        </p:spPr>
        <p:txBody>
          <a:bodyPr wrap="none" lIns="0" tIns="0" rIns="0" bIns="0" rtlCol="0" anchor="t"/>
          <a:lstStyle/>
          <a:p>
            <a:pPr algn="l" indent="0" marL="0">
              <a:lnSpc>
                <a:spcPct val="125000"/>
              </a:lnSpc>
              <a:buNone/>
            </a:pPr>
            <a:r>
              <a:rPr lang="en-US" sz="1000" dirty="0">
                <a:solidFill>
                  <a:srgbClr val="E5E0DF"/>
                </a:solidFill>
                <a:latin typeface="Overpass" pitchFamily="34" charset="0"/>
                <a:ea typeface="Overpass" pitchFamily="34" charset="-122"/>
                <a:cs typeface="Overpass" pitchFamily="34" charset="-120"/>
              </a:rPr>
              <a:t>Size-based chunking works for:</a:t>
            </a:r>
            <a:endParaRPr lang="en-US" sz="1000" dirty="0"/>
          </a:p>
        </p:txBody>
      </p:sp>
      <p:sp>
        <p:nvSpPr>
          <p:cNvPr id="7" name="Text 5"/>
          <p:cNvSpPr/>
          <p:nvPr/>
        </p:nvSpPr>
        <p:spPr>
          <a:xfrm>
            <a:off x="523577" y="3376985"/>
            <a:ext cx="8096845" cy="668982"/>
          </a:xfrm>
          <a:prstGeom prst="rect">
            <a:avLst/>
          </a:prstGeom>
          <a:noFill/>
          <a:ln/>
        </p:spPr>
        <p:txBody>
          <a:bodyPr wrap="square" lIns="0" tIns="0" rIns="0" bIns="0" rtlCol="0" anchor="t">
            <a:normAutofit/>
          </a:bodyPr>
          <a:lstStyle/>
          <a:p>
            <a:pPr algn="l" marL="203200" indent="-203200">
              <a:lnSpc>
                <a:spcPct val="125000"/>
              </a:lnSpc>
              <a:buSzPct val="100000"/>
              <a:buChar char="•"/>
            </a:pPr>
            <a:r>
              <a:rPr lang="en-US" sz="1000" b="1" dirty="0">
                <a:solidFill>
                  <a:srgbClr val="E5E0DF"/>
                </a:solidFill>
                <a:latin typeface="Overpass Bold" pitchFamily="34" charset="0"/>
                <a:ea typeface="Overpass Bold" pitchFamily="34" charset="-122"/>
                <a:cs typeface="Overpass Bold" pitchFamily="34" charset="-120"/>
              </a:rPr>
              <a:t>Prototyping </a:t>
            </a:r>
            <a:pPr algn="l" marL="203200" indent="-203200">
              <a:lnSpc>
                <a:spcPct val="125000"/>
              </a:lnSpc>
              <a:buSzPct val="100000"/>
              <a:buChar char="•"/>
            </a:pPr>
            <a:r>
              <a:rPr lang="en-US" sz="1000" dirty="0">
                <a:solidFill>
                  <a:srgbClr val="E5E0DF"/>
                </a:solidFill>
                <a:latin typeface="Overpass" pitchFamily="34" charset="0"/>
                <a:ea typeface="Overpass" pitchFamily="34" charset="-122"/>
                <a:cs typeface="Overpass" pitchFamily="34" charset="-120"/>
              </a:rPr>
              <a:t>: Get something working fast, optimize later</a:t>
            </a:r>
            <a:endParaRPr lang="en-US" sz="1000" dirty="0"/>
          </a:p>
          <a:p>
            <a:pPr algn="l" marL="203200" indent="-203200">
              <a:lnSpc>
                <a:spcPct val="125000"/>
              </a:lnSpc>
              <a:buSzPct val="100000"/>
              <a:buChar char="•"/>
            </a:pPr>
            <a:r>
              <a:rPr lang="en-US" sz="1000" b="1" dirty="0">
                <a:solidFill>
                  <a:srgbClr val="E5E0DF"/>
                </a:solidFill>
                <a:latin typeface="Overpass Bold" pitchFamily="34" charset="0"/>
                <a:ea typeface="Overpass Bold" pitchFamily="34" charset="-122"/>
                <a:cs typeface="Overpass Bold" pitchFamily="34" charset="-120"/>
              </a:rPr>
              <a:t>Uniform content</a:t>
            </a:r>
            <a:pPr algn="l" marL="203200" indent="-203200">
              <a:lnSpc>
                <a:spcPct val="125000"/>
              </a:lnSpc>
              <a:buSzPct val="100000"/>
              <a:buChar char="•"/>
            </a:pPr>
            <a:r>
              <a:rPr lang="en-US" sz="1000" dirty="0">
                <a:solidFill>
                  <a:srgbClr val="E5E0DF"/>
                </a:solidFill>
                <a:latin typeface="Overpass" pitchFamily="34" charset="0"/>
                <a:ea typeface="Overpass" pitchFamily="34" charset="-122"/>
                <a:cs typeface="Overpass" pitchFamily="34" charset="-120"/>
              </a:rPr>
              <a:t>: News articles, product listings, short-form content with consistent structure</a:t>
            </a:r>
            <a:endParaRPr lang="en-US" sz="1000" dirty="0"/>
          </a:p>
          <a:p>
            <a:pPr algn="l" marL="203200" indent="-203200">
              <a:lnSpc>
                <a:spcPct val="125000"/>
              </a:lnSpc>
              <a:buSzPct val="100000"/>
              <a:buChar char="•"/>
            </a:pPr>
            <a:r>
              <a:rPr lang="en-US" sz="1000" b="1" dirty="0">
                <a:solidFill>
                  <a:srgbClr val="E5E0DF"/>
                </a:solidFill>
                <a:latin typeface="Overpass Bold" pitchFamily="34" charset="0"/>
                <a:ea typeface="Overpass Bold" pitchFamily="34" charset="-122"/>
                <a:cs typeface="Overpass Bold" pitchFamily="34" charset="-120"/>
              </a:rPr>
              <a:t>When simplicity matters</a:t>
            </a:r>
            <a:pPr algn="l" marL="203200" indent="-203200">
              <a:lnSpc>
                <a:spcPct val="125000"/>
              </a:lnSpc>
              <a:buSzPct val="100000"/>
              <a:buChar char="•"/>
            </a:pPr>
            <a:r>
              <a:rPr lang="en-US" sz="1000" dirty="0">
                <a:solidFill>
                  <a:srgbClr val="E5E0DF"/>
                </a:solidFill>
                <a:latin typeface="Overpass" pitchFamily="34" charset="0"/>
                <a:ea typeface="Overpass" pitchFamily="34" charset="-122"/>
                <a:cs typeface="Overpass" pitchFamily="34" charset="-120"/>
              </a:rPr>
              <a:t>: Small teams, limited resources, straieghtforward use cases</a:t>
            </a:r>
            <a:endParaRPr lang="en-US" sz="1000" dirty="0"/>
          </a:p>
        </p:txBody>
      </p:sp>
      <p:sp>
        <p:nvSpPr>
          <p:cNvPr id="8" name="Text 6"/>
          <p:cNvSpPr/>
          <p:nvPr/>
        </p:nvSpPr>
        <p:spPr>
          <a:xfrm>
            <a:off x="523577" y="4174778"/>
            <a:ext cx="8096845" cy="521419"/>
          </a:xfrm>
          <a:prstGeom prst="rect">
            <a:avLst/>
          </a:prstGeom>
          <a:noFill/>
          <a:ln/>
        </p:spPr>
        <p:txBody>
          <a:bodyPr wrap="square" lIns="0" tIns="0" rIns="0" bIns="0" rtlCol="0" anchor="t"/>
          <a:lstStyle/>
          <a:p>
            <a:pPr algn="l" indent="0" marL="0">
              <a:lnSpc>
                <a:spcPct val="125000"/>
              </a:lnSpc>
              <a:spcAft>
                <a:spcPts val="1000"/>
              </a:spcAft>
              <a:buNone/>
            </a:pPr>
            <a:r>
              <a:rPr lang="en-US" sz="1000" dirty="0">
                <a:solidFill>
                  <a:srgbClr val="E5E0DF"/>
                </a:solidFill>
                <a:latin typeface="Overpass" pitchFamily="34" charset="0"/>
                <a:ea typeface="Overpass" pitchFamily="34" charset="-122"/>
                <a:cs typeface="Overpass" pitchFamily="34" charset="-120"/>
              </a:rPr>
              <a:t>If you're testing whether RAG works for your use case at all, start here. The implementation takes 5 minutes.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23577" y="513159"/>
            <a:ext cx="8096845" cy="678061"/>
          </a:xfrm>
          <a:prstGeom prst="rect">
            <a:avLst/>
          </a:prstGeom>
          <a:noFill/>
          <a:ln/>
        </p:spPr>
        <p:txBody>
          <a:bodyPr wrap="square" lIns="0" tIns="0" rIns="0" bIns="0" rtlCol="0" anchor="t"/>
          <a:lstStyle/>
          <a:p>
            <a:pPr algn="l" indent="0" marL="0">
              <a:lnSpc>
                <a:spcPct val="122000"/>
              </a:lnSpc>
              <a:buNone/>
            </a:pPr>
            <a:r>
              <a:rPr lang="en-US" sz="950" b="1" dirty="0">
                <a:solidFill>
                  <a:srgbClr val="E5E0DF"/>
                </a:solidFill>
                <a:latin typeface="Overpass Bold" pitchFamily="34" charset="0"/>
                <a:ea typeface="Overpass Bold" pitchFamily="34" charset="-122"/>
                <a:cs typeface="Overpass Bold" pitchFamily="34" charset="-120"/>
              </a:rPr>
              <a:t>Chunk Overlap : </a:t>
            </a:r>
            <a:pPr algn="l" indent="0" marL="0">
              <a:lnSpc>
                <a:spcPct val="122000"/>
              </a:lnSpc>
              <a:spcAft>
                <a:spcPts val="900"/>
              </a:spcAft>
              <a:buNone/>
            </a:pPr>
            <a:r>
              <a:rPr lang="en-US" sz="950" dirty="0">
                <a:solidFill>
                  <a:srgbClr val="E5E0DF"/>
                </a:solidFill>
                <a:latin typeface="Overpass" pitchFamily="34" charset="0"/>
                <a:ea typeface="Overpass" pitchFamily="34" charset="-122"/>
                <a:cs typeface="Overpass" pitchFamily="34" charset="-120"/>
              </a:rPr>
              <a:t>Overlap means the end of one chunk repeats at the start of the next one.</a:t>
            </a:r>
            <a:endParaRPr lang="en-US" sz="950" dirty="0"/>
          </a:p>
          <a:p>
            <a:pPr algn="l" indent="0" marL="0">
              <a:lnSpc>
                <a:spcPct val="122000"/>
              </a:lnSpc>
              <a:buNone/>
            </a:pPr>
            <a:r>
              <a:rPr lang="en-US" sz="950" dirty="0">
                <a:solidFill>
                  <a:srgbClr val="E5E0DF"/>
                </a:solidFill>
                <a:latin typeface="Overpass" pitchFamily="34" charset="0"/>
                <a:ea typeface="Overpass" pitchFamily="34" charset="-122"/>
                <a:cs typeface="Overpass" pitchFamily="34" charset="-120"/>
              </a:rPr>
              <a:t>Example: </a:t>
            </a:r>
            <a:pPr algn="l" indent="0" marL="0">
              <a:lnSpc>
                <a:spcPct val="122000"/>
              </a:lnSpc>
              <a:buNone/>
            </a:pPr>
            <a:r>
              <a:rPr lang="en-US" sz="950" dirty="0">
                <a:solidFill>
                  <a:srgbClr val="E5E0DF"/>
                </a:solidFill>
                <a:highlight>
                  <a:srgbClr val="322F2F"/>
                </a:highlight>
                <a:latin typeface="Consolas" pitchFamily="34" charset="0"/>
                <a:ea typeface="Consolas" pitchFamily="34" charset="-122"/>
                <a:cs typeface="Consolas" pitchFamily="34" charset="-120"/>
              </a:rPr>
              <a:t>chunk_size=55</a:t>
            </a:r>
            <a:pPr algn="l" indent="0" marL="0">
              <a:lnSpc>
                <a:spcPct val="122000"/>
              </a:lnSpc>
              <a:buNone/>
            </a:pPr>
            <a:r>
              <a:rPr lang="en-US" sz="950" dirty="0">
                <a:solidFill>
                  <a:srgbClr val="E5E0DF"/>
                </a:solidFill>
                <a:latin typeface="Overpass" pitchFamily="34" charset="0"/>
                <a:ea typeface="Overpass" pitchFamily="34" charset="-122"/>
                <a:cs typeface="Overpass" pitchFamily="34" charset="-120"/>
              </a:rPr>
              <a:t>, </a:t>
            </a:r>
            <a:pPr algn="l" indent="0" marL="0">
              <a:lnSpc>
                <a:spcPct val="122000"/>
              </a:lnSpc>
              <a:buNone/>
            </a:pPr>
            <a:r>
              <a:rPr lang="en-US" sz="950" dirty="0">
                <a:solidFill>
                  <a:srgbClr val="E5E0DF"/>
                </a:solidFill>
                <a:highlight>
                  <a:srgbClr val="322F2F"/>
                </a:highlight>
                <a:latin typeface="Consolas" pitchFamily="34" charset="0"/>
                <a:ea typeface="Consolas" pitchFamily="34" charset="-122"/>
                <a:cs typeface="Consolas" pitchFamily="34" charset="-120"/>
              </a:rPr>
              <a:t>overlap=3</a:t>
            </a:r>
            <a:pPr algn="l" indent="0" marL="0">
              <a:lnSpc>
                <a:spcPct val="122000"/>
              </a:lnSpc>
              <a:buNone/>
            </a:pPr>
            <a:r>
              <a:rPr lang="en-US" sz="950" dirty="0">
                <a:solidFill>
                  <a:srgbClr val="E5E0DF"/>
                </a:solidFill>
                <a:latin typeface="Overpass" pitchFamily="34" charset="0"/>
                <a:ea typeface="Overpass" pitchFamily="34" charset="-122"/>
                <a:cs typeface="Overpass" pitchFamily="34" charset="-120"/>
              </a:rPr>
              <a:t> → the last 3 characters of a chunk also appear at the start of the next chunk.</a:t>
            </a:r>
            <a:pPr algn="l" indent="0" marL="0">
              <a:lnSpc>
                <a:spcPct val="122000"/>
              </a:lnSpc>
              <a:buNone/>
            </a:pPr>
            <a:r>
              <a:rPr lang="en-US" sz="950" b="1" dirty="0">
                <a:solidFill>
                  <a:srgbClr val="E5E0DF"/>
                </a:solidFill>
                <a:latin typeface="Overpass Bold" pitchFamily="34" charset="0"/>
                <a:ea typeface="Overpass Bold" pitchFamily="34" charset="-122"/>
                <a:cs typeface="Overpass Bold" pitchFamily="34" charset="-120"/>
              </a:rPr>
              <a:t>Why:</a:t>
            </a:r>
            <a:pPr algn="l" indent="0" marL="0">
              <a:lnSpc>
                <a:spcPct val="122000"/>
              </a:lnSpc>
              <a:buNone/>
            </a:pPr>
            <a:r>
              <a:rPr lang="en-US" sz="950" dirty="0">
                <a:solidFill>
                  <a:srgbClr val="E5E0DF"/>
                </a:solidFill>
                <a:latin typeface="Overpass" pitchFamily="34" charset="0"/>
                <a:ea typeface="Overpass" pitchFamily="34" charset="-122"/>
                <a:cs typeface="Overpass" pitchFamily="34" charset="-120"/>
              </a:rPr>
              <a:t> without overlap, each chunk starts completely fresh — no connection to what came before. Overlap keeps a small bridge, so meaning isn't lost right at the cut.</a:t>
            </a:r>
            <a:endParaRPr lang="en-US" sz="950" dirty="0"/>
          </a:p>
        </p:txBody>
      </p:sp>
      <p:pic>
        <p:nvPicPr>
          <p:cNvPr id="3" name="Image 0" descr="preencoded.png">    </p:cNvPr>
          <p:cNvPicPr>
            <a:picLocks noChangeAspect="1"/>
          </p:cNvPicPr>
          <p:nvPr/>
        </p:nvPicPr>
        <p:blipFill>
          <a:blip r:embed="rId1"/>
          <a:stretch>
            <a:fillRect/>
          </a:stretch>
        </p:blipFill>
        <p:spPr>
          <a:xfrm>
            <a:off x="523577" y="1422053"/>
            <a:ext cx="5157118" cy="3185071"/>
          </a:xfrm>
          <a:prstGeom prst="rect">
            <a:avLst/>
          </a:prstGeom>
        </p:spPr>
      </p:pic>
      <p:sp>
        <p:nvSpPr>
          <p:cNvPr id="4" name="Text 1"/>
          <p:cNvSpPr/>
          <p:nvPr/>
        </p:nvSpPr>
        <p:spPr>
          <a:xfrm>
            <a:off x="5987728" y="1398910"/>
            <a:ext cx="2637383" cy="362396"/>
          </a:xfrm>
          <a:prstGeom prst="rect">
            <a:avLst/>
          </a:prstGeom>
          <a:noFill/>
          <a:ln/>
        </p:spPr>
        <p:txBody>
          <a:bodyPr wrap="square" lIns="0" tIns="0" rIns="0" bIns="0" rtlCol="0" anchor="t">
            <a:normAutofit/>
          </a:bodyPr>
          <a:lstStyle/>
          <a:p>
            <a:pPr algn="l" indent="0" marL="0">
              <a:lnSpc>
                <a:spcPct val="122000"/>
              </a:lnSpc>
              <a:buNone/>
            </a:pPr>
            <a:r>
              <a:rPr lang="en-US" sz="950" b="1" dirty="0">
                <a:solidFill>
                  <a:srgbClr val="E5E0DF"/>
                </a:solidFill>
                <a:latin typeface="Overpass Bold" pitchFamily="34" charset="0"/>
                <a:ea typeface="Overpass Bold" pitchFamily="34" charset="-122"/>
                <a:cs typeface="Overpass Bold" pitchFamily="34" charset="-120"/>
              </a:rPr>
              <a:t>Trade-off:</a:t>
            </a:r>
            <a:pPr algn="l" indent="0" marL="0">
              <a:lnSpc>
                <a:spcPct val="122000"/>
              </a:lnSpc>
              <a:buNone/>
            </a:pPr>
            <a:r>
              <a:rPr lang="en-US" sz="950" dirty="0">
                <a:solidFill>
                  <a:srgbClr val="E5E0DF"/>
                </a:solidFill>
                <a:latin typeface="Overpass" pitchFamily="34" charset="0"/>
                <a:ea typeface="Overpass" pitchFamily="34" charset="-122"/>
                <a:cs typeface="Overpass" pitchFamily="34" charset="-120"/>
              </a:rPr>
              <a:t> more overlap = more context, but more repeated text and slightly slower retrieval.</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23577" y="453107"/>
            <a:ext cx="8096845" cy="384944"/>
          </a:xfrm>
          <a:prstGeom prst="rect">
            <a:avLst/>
          </a:prstGeom>
          <a:noFill/>
          <a:ln/>
        </p:spPr>
        <p:txBody>
          <a:bodyPr wrap="none" lIns="0" tIns="0" rIns="0" bIns="0" rtlCol="0" anchor="t"/>
          <a:lstStyle/>
          <a:p>
            <a:pPr algn="l" indent="0" marL="0">
              <a:lnSpc>
                <a:spcPct val="104000"/>
              </a:lnSpc>
              <a:buNone/>
            </a:pPr>
            <a:endParaRPr lang="en-US" sz="2400" dirty="0"/>
          </a:p>
        </p:txBody>
      </p:sp>
      <p:sp>
        <p:nvSpPr>
          <p:cNvPr id="3" name="Text 1"/>
          <p:cNvSpPr/>
          <p:nvPr/>
        </p:nvSpPr>
        <p:spPr>
          <a:xfrm>
            <a:off x="523577" y="883816"/>
            <a:ext cx="8096845" cy="307925"/>
          </a:xfrm>
          <a:prstGeom prst="rect">
            <a:avLst/>
          </a:prstGeom>
          <a:noFill/>
          <a:ln/>
        </p:spPr>
        <p:txBody>
          <a:bodyPr wrap="none" lIns="0" tIns="0" rIns="0" bIns="0" rtlCol="0" anchor="t"/>
          <a:lstStyle/>
          <a:p>
            <a:pPr algn="l" indent="0" marL="0">
              <a:lnSpc>
                <a:spcPct val="104000"/>
              </a:lnSpc>
              <a:buNone/>
            </a:pPr>
            <a:r>
              <a:rPr lang="en-US" sz="1900" b="1" dirty="0">
                <a:solidFill>
                  <a:srgbClr val="FFFFFF"/>
                </a:solidFill>
                <a:latin typeface="Overpass Bold" pitchFamily="34" charset="0"/>
                <a:ea typeface="Overpass Bold" pitchFamily="34" charset="-122"/>
                <a:cs typeface="Overpass Bold" pitchFamily="34" charset="-120"/>
              </a:rPr>
              <a:t>2. Recursive Chunking</a:t>
            </a:r>
            <a:endParaRPr lang="en-US" sz="1900" dirty="0"/>
          </a:p>
        </p:txBody>
      </p:sp>
      <p:sp>
        <p:nvSpPr>
          <p:cNvPr id="4" name="Text 2"/>
          <p:cNvSpPr/>
          <p:nvPr/>
        </p:nvSpPr>
        <p:spPr>
          <a:xfrm>
            <a:off x="523577" y="1363489"/>
            <a:ext cx="8096845" cy="717724"/>
          </a:xfrm>
          <a:prstGeom prst="rect">
            <a:avLst/>
          </a:prstGeom>
          <a:noFill/>
          <a:ln/>
        </p:spPr>
        <p:txBody>
          <a:bodyPr wrap="square" lIns="0" tIns="0" rIns="0" bIns="0" rtlCol="0" anchor="t">
            <a:normAutofit/>
          </a:bodyPr>
          <a:lstStyle/>
          <a:p>
            <a:pPr algn="l" indent="0" marL="0">
              <a:lnSpc>
                <a:spcPct val="125000"/>
              </a:lnSpc>
              <a:spcAft>
                <a:spcPts val="1000"/>
              </a:spcAft>
              <a:buNone/>
            </a:pPr>
            <a:r>
              <a:rPr lang="en-US" sz="1000" dirty="0">
                <a:solidFill>
                  <a:srgbClr val="E5E0DF"/>
                </a:solidFill>
                <a:latin typeface="Overpass" pitchFamily="34" charset="0"/>
                <a:ea typeface="Overpass" pitchFamily="34" charset="-122"/>
                <a:cs typeface="Overpass" pitchFamily="34" charset="-120"/>
              </a:rPr>
              <a:t>This method is smarter. Instead of cutting blindly,  respects natural language boundaries. It doesn't cut sentences mid-thought, and waits for paragraph breaks. If the paragraph is too long, it waits for a sentence. If the sentence is too long, it looks for a space between words.</a:t>
            </a:r>
            <a:endParaRPr lang="en-US" sz="1000" dirty="0"/>
          </a:p>
          <a:p>
            <a:pPr algn="l" indent="0" marL="0">
              <a:lnSpc>
                <a:spcPct val="125000"/>
              </a:lnSpc>
              <a:buNone/>
            </a:pPr>
            <a:r>
              <a:rPr lang="en-US" sz="1000" dirty="0">
                <a:solidFill>
                  <a:srgbClr val="E5E0DF"/>
                </a:solidFill>
                <a:latin typeface="Overpass" pitchFamily="34" charset="0"/>
                <a:ea typeface="Overpass" pitchFamily="34" charset="-122"/>
                <a:cs typeface="Overpass" pitchFamily="34" charset="-120"/>
              </a:rPr>
              <a:t>Example :</a:t>
            </a:r>
            <a:endParaRPr lang="en-US" sz="1000" dirty="0"/>
          </a:p>
        </p:txBody>
      </p:sp>
      <p:pic>
        <p:nvPicPr>
          <p:cNvPr id="5" name="Image 0" descr="preencoded.png">    </p:cNvPr>
          <p:cNvPicPr>
            <a:picLocks noChangeAspect="1"/>
          </p:cNvPicPr>
          <p:nvPr/>
        </p:nvPicPr>
        <p:blipFill>
          <a:blip r:embed="rId1"/>
          <a:stretch>
            <a:fillRect/>
          </a:stretch>
        </p:blipFill>
        <p:spPr>
          <a:xfrm>
            <a:off x="523577" y="2338834"/>
            <a:ext cx="3347219" cy="1915046"/>
          </a:xfrm>
          <a:prstGeom prst="rect">
            <a:avLst/>
          </a:prstGeom>
        </p:spPr>
      </p:pic>
      <p:pic>
        <p:nvPicPr>
          <p:cNvPr id="6" name="Image 1" descr="preencoded.png">    </p:cNvPr>
          <p:cNvPicPr>
            <a:picLocks noChangeAspect="1"/>
          </p:cNvPicPr>
          <p:nvPr/>
        </p:nvPicPr>
        <p:blipFill>
          <a:blip r:embed="rId2"/>
          <a:stretch>
            <a:fillRect/>
          </a:stretch>
        </p:blipFill>
        <p:spPr>
          <a:xfrm>
            <a:off x="4820617" y="2338834"/>
            <a:ext cx="3306142" cy="1923380"/>
          </a:xfrm>
          <a:prstGeom prst="rect">
            <a:avLst/>
          </a:prstGeom>
        </p:spPr>
      </p:pic>
      <p:sp>
        <p:nvSpPr>
          <p:cNvPr id="7" name="Text 3"/>
          <p:cNvSpPr/>
          <p:nvPr/>
        </p:nvSpPr>
        <p:spPr>
          <a:xfrm>
            <a:off x="4820617" y="4391025"/>
            <a:ext cx="4261768" cy="196304"/>
          </a:xfrm>
          <a:prstGeom prst="rect">
            <a:avLst/>
          </a:prstGeom>
          <a:noFill/>
          <a:ln/>
        </p:spPr>
        <p:txBody>
          <a:bodyPr wrap="none" lIns="0" tIns="0" rIns="0" bIns="0" rtlCol="0" anchor="t"/>
          <a:lstStyle/>
          <a:p>
            <a:pPr algn="l" indent="0" marL="0">
              <a:lnSpc>
                <a:spcPct val="125000"/>
              </a:lnSpc>
              <a:buNone/>
            </a:pP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23577" y="708645"/>
            <a:ext cx="8096845" cy="440010"/>
          </a:xfrm>
          <a:prstGeom prst="rect">
            <a:avLst/>
          </a:prstGeom>
          <a:noFill/>
          <a:ln/>
        </p:spPr>
        <p:txBody>
          <a:bodyPr wrap="none" lIns="0" tIns="0" rIns="0" bIns="0" rtlCol="0" anchor="t"/>
          <a:lstStyle/>
          <a:p>
            <a:pPr algn="l" indent="0" marL="0">
              <a:lnSpc>
                <a:spcPct val="104000"/>
              </a:lnSpc>
              <a:buNone/>
            </a:pPr>
            <a:endParaRPr lang="en-US" sz="2750" dirty="0"/>
          </a:p>
        </p:txBody>
      </p:sp>
      <p:sp>
        <p:nvSpPr>
          <p:cNvPr id="3" name="Text 1"/>
          <p:cNvSpPr/>
          <p:nvPr/>
        </p:nvSpPr>
        <p:spPr>
          <a:xfrm>
            <a:off x="523577" y="1208484"/>
            <a:ext cx="8096845" cy="352053"/>
          </a:xfrm>
          <a:prstGeom prst="rect">
            <a:avLst/>
          </a:prstGeom>
          <a:noFill/>
          <a:ln/>
        </p:spPr>
        <p:txBody>
          <a:bodyPr wrap="none" lIns="0" tIns="0" rIns="0" bIns="0" rtlCol="0" anchor="t"/>
          <a:lstStyle/>
          <a:p>
            <a:pPr algn="l" indent="0" marL="0">
              <a:lnSpc>
                <a:spcPct val="104000"/>
              </a:lnSpc>
              <a:buNone/>
            </a:pPr>
            <a:r>
              <a:rPr lang="en-US" sz="2200" b="1" dirty="0">
                <a:solidFill>
                  <a:srgbClr val="FFFFFF"/>
                </a:solidFill>
                <a:latin typeface="Overpass Bold" pitchFamily="34" charset="0"/>
                <a:ea typeface="Overpass Bold" pitchFamily="34" charset="-122"/>
                <a:cs typeface="Overpass Bold" pitchFamily="34" charset="-120"/>
              </a:rPr>
              <a:t>2. Recursive Chunking</a:t>
            </a:r>
            <a:endParaRPr lang="en-US" sz="2200" dirty="0"/>
          </a:p>
        </p:txBody>
      </p:sp>
      <p:sp>
        <p:nvSpPr>
          <p:cNvPr id="4" name="Text 2"/>
          <p:cNvSpPr/>
          <p:nvPr/>
        </p:nvSpPr>
        <p:spPr>
          <a:xfrm>
            <a:off x="523577" y="1784896"/>
            <a:ext cx="8554045" cy="239390"/>
          </a:xfrm>
          <a:prstGeom prst="rect">
            <a:avLst/>
          </a:prstGeom>
          <a:noFill/>
          <a:ln/>
        </p:spPr>
        <p:txBody>
          <a:bodyPr wrap="none" lIns="0" tIns="0" rIns="0" bIns="0" rtlCol="0" anchor="t"/>
          <a:lstStyle/>
          <a:p>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This method is smarter. Instead of cutting blindly, respects natural language boundaries. It doesn't cut sentences mid-</a:t>
            </a:r>
            <a:endParaRPr lang="en-US" sz="1150" dirty="0"/>
          </a:p>
        </p:txBody>
      </p:sp>
      <p:sp>
        <p:nvSpPr>
          <p:cNvPr id="5" name="Text 3"/>
          <p:cNvSpPr/>
          <p:nvPr/>
        </p:nvSpPr>
        <p:spPr>
          <a:xfrm>
            <a:off x="523577" y="2192536"/>
            <a:ext cx="8096845" cy="540618"/>
          </a:xfrm>
          <a:prstGeom prst="rect">
            <a:avLst/>
          </a:prstGeom>
          <a:noFill/>
          <a:ln/>
        </p:spPr>
        <p:txBody>
          <a:bodyPr wrap="square" lIns="0" tIns="0" rIns="0" bIns="0" rtlCol="0" anchor="t">
            <a:normAutofit/>
          </a:bodyPr>
          <a:lstStyle/>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Recursive splitting fixed: cutting words in half</a:t>
            </a:r>
            <a:endParaRPr lang="en-US" sz="1150" dirty="0"/>
          </a:p>
          <a:p>
            <a:pPr algn="l" marL="233680" indent="-233680">
              <a:lnSpc>
                <a:spcPct val="133000"/>
              </a:lnSpc>
              <a:buSzPct val="100000"/>
              <a:buChar char="•"/>
            </a:pPr>
            <a:r>
              <a:rPr lang="en-US" sz="1150" dirty="0">
                <a:solidFill>
                  <a:srgbClr val="000000"/>
                </a:solidFill>
                <a:latin typeface="Overpass" pitchFamily="34" charset="0"/>
                <a:ea typeface="Overpass" pitchFamily="34" charset="-122"/>
                <a:cs typeface="Overpass" pitchFamily="34" charset="-120"/>
              </a:rPr>
              <a:t>❌</a:t>
            </a:r>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 Recursive splitting did NOT fix: cutting one sentence/idea into two separate chunks(the problem)</a:t>
            </a:r>
            <a:endParaRPr lang="en-US" sz="1150" dirty="0"/>
          </a:p>
        </p:txBody>
      </p:sp>
      <p:sp>
        <p:nvSpPr>
          <p:cNvPr id="6" name="Text 4"/>
          <p:cNvSpPr/>
          <p:nvPr/>
        </p:nvSpPr>
        <p:spPr>
          <a:xfrm>
            <a:off x="523577" y="2901404"/>
            <a:ext cx="8096845" cy="1533451"/>
          </a:xfrm>
          <a:prstGeom prst="rect">
            <a:avLst/>
          </a:prstGeom>
          <a:noFill/>
          <a:ln/>
        </p:spPr>
        <p:txBody>
          <a:bodyPr wrap="square" lIns="0" tIns="0" rIns="0" bIns="0" rtlCol="0" anchor="t">
            <a:normAutofit/>
          </a:bodyPr>
          <a:lstStyle/>
          <a:p>
            <a:pPr algn="l" indent="0" marL="0">
              <a:lnSpc>
                <a:spcPct val="133000"/>
              </a:lnSpc>
              <a:spcAft>
                <a:spcPts val="1300"/>
              </a:spcAft>
              <a:buNone/>
            </a:pPr>
            <a:r>
              <a:rPr lang="en-US" sz="1150" dirty="0">
                <a:solidFill>
                  <a:srgbClr val="E5E0DF"/>
                </a:solidFill>
                <a:latin typeface="Overpass" pitchFamily="34" charset="0"/>
                <a:ea typeface="Overpass" pitchFamily="34" charset="-122"/>
                <a:cs typeface="Overpass" pitchFamily="34" charset="-120"/>
              </a:rPr>
              <a:t>The upside: chunks usually stay meaningful, because the split points make sense to a human reader too. This is why most RAG systems use this as their default method.</a:t>
            </a:r>
            <a:endParaRPr lang="en-US" sz="1150" dirty="0"/>
          </a:p>
          <a:p>
            <a:pPr algn="l" indent="0" marL="0">
              <a:lnSpc>
                <a:spcPct val="133000"/>
              </a:lnSpc>
              <a:spcAft>
                <a:spcPts val="1300"/>
              </a:spcAft>
              <a:buNone/>
            </a:pPr>
            <a:r>
              <a:rPr lang="en-US" sz="1150" dirty="0">
                <a:solidFill>
                  <a:srgbClr val="E5E0DF"/>
                </a:solidFill>
                <a:latin typeface="Overpass" pitchFamily="34" charset="0"/>
                <a:ea typeface="Overpass" pitchFamily="34" charset="-122"/>
                <a:cs typeface="Overpass" pitchFamily="34" charset="-120"/>
              </a:rPr>
              <a:t>The downside: it's still based on size and structure, not real meaning — so two unrelated sentences that happen to be in the same paragraph could still end up in the same chunk.</a:t>
            </a:r>
            <a:endParaRPr lang="en-US" sz="1150" dirty="0"/>
          </a:p>
          <a:p>
            <a:pPr algn="l" indent="0" marL="0">
              <a:lnSpc>
                <a:spcPct val="133000"/>
              </a:lnSpc>
              <a:buNone/>
            </a:pPr>
            <a:r>
              <a:rPr lang="en-US" sz="1150" b="1" dirty="0">
                <a:solidFill>
                  <a:srgbClr val="E5E0DF"/>
                </a:solidFill>
                <a:latin typeface="Overpass Bold" pitchFamily="34" charset="0"/>
                <a:ea typeface="Overpass Bold" pitchFamily="34" charset="-122"/>
                <a:cs typeface="Overpass Bold" pitchFamily="34" charset="-120"/>
              </a:rPr>
              <a:t>Recursive splitter</a:t>
            </a:r>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 → </a:t>
            </a:r>
            <a:pPr algn="l" indent="0" marL="0">
              <a:lnSpc>
                <a:spcPct val="133000"/>
              </a:lnSpc>
              <a:buNone/>
            </a:pPr>
            <a:r>
              <a:rPr lang="en-US" sz="1150" b="1" dirty="0">
                <a:solidFill>
                  <a:srgbClr val="E5E0DF"/>
                </a:solidFill>
                <a:latin typeface="Overpass Bold" pitchFamily="34" charset="0"/>
                <a:ea typeface="Overpass Bold" pitchFamily="34" charset="-122"/>
                <a:cs typeface="Overpass Bold" pitchFamily="34" charset="-120"/>
              </a:rPr>
              <a:t>overlap </a:t>
            </a:r>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still helps, but less critical, since it already tries to cut at natural breaks first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23577" y="450949"/>
            <a:ext cx="8096845" cy="307925"/>
          </a:xfrm>
          <a:prstGeom prst="rect">
            <a:avLst/>
          </a:prstGeom>
          <a:noFill/>
          <a:ln/>
        </p:spPr>
        <p:txBody>
          <a:bodyPr wrap="none" lIns="0" tIns="0" rIns="0" bIns="0" rtlCol="0" anchor="t"/>
          <a:lstStyle/>
          <a:p>
            <a:pPr algn="l" indent="0" marL="0">
              <a:lnSpc>
                <a:spcPct val="104000"/>
              </a:lnSpc>
              <a:buNone/>
            </a:pPr>
            <a:r>
              <a:rPr lang="en-US" sz="1900" b="1" dirty="0">
                <a:solidFill>
                  <a:srgbClr val="FFFFFF"/>
                </a:solidFill>
                <a:latin typeface="Overpass Bold" pitchFamily="34" charset="0"/>
                <a:ea typeface="Overpass Bold" pitchFamily="34" charset="-122"/>
                <a:cs typeface="Overpass Bold" pitchFamily="34" charset="-120"/>
              </a:rPr>
              <a:t>3. Sentence-based chunking</a:t>
            </a:r>
            <a:endParaRPr lang="en-US" sz="1900" dirty="0"/>
          </a:p>
        </p:txBody>
      </p:sp>
      <p:sp>
        <p:nvSpPr>
          <p:cNvPr id="3" name="Text 1"/>
          <p:cNvSpPr/>
          <p:nvPr/>
        </p:nvSpPr>
        <p:spPr>
          <a:xfrm>
            <a:off x="523577" y="987921"/>
            <a:ext cx="8096845" cy="392609"/>
          </a:xfrm>
          <a:prstGeom prst="rect">
            <a:avLst/>
          </a:prstGeom>
          <a:noFill/>
          <a:ln/>
        </p:spPr>
        <p:txBody>
          <a:bodyPr wrap="square" lIns="0" tIns="0" rIns="0" bIns="0" rtlCol="0" anchor="t">
            <a:normAutofit/>
          </a:bodyPr>
          <a:lstStyle/>
          <a:p>
            <a:pPr algn="l" indent="0" marL="0">
              <a:lnSpc>
                <a:spcPct val="125000"/>
              </a:lnSpc>
              <a:buNone/>
            </a:pPr>
            <a:r>
              <a:rPr lang="en-US" sz="1000" dirty="0">
                <a:solidFill>
                  <a:srgbClr val="E5E0DF"/>
                </a:solidFill>
                <a:latin typeface="Overpass" pitchFamily="34" charset="0"/>
                <a:ea typeface="Overpass" pitchFamily="34" charset="-122"/>
                <a:cs typeface="Overpass" pitchFamily="34" charset="-120"/>
              </a:rPr>
              <a:t>Sentence-based chunking respects natural language boundaries. Instead of counting characters or tokens blindly, it identifies complete sentences and groups them into chunks.</a:t>
            </a:r>
            <a:endParaRPr lang="en-US" sz="1000" dirty="0"/>
          </a:p>
        </p:txBody>
      </p:sp>
      <p:sp>
        <p:nvSpPr>
          <p:cNvPr id="4" name="Text 2"/>
          <p:cNvSpPr/>
          <p:nvPr/>
        </p:nvSpPr>
        <p:spPr>
          <a:xfrm>
            <a:off x="523577" y="1552277"/>
            <a:ext cx="8096845" cy="192509"/>
          </a:xfrm>
          <a:prstGeom prst="rect">
            <a:avLst/>
          </a:prstGeom>
          <a:noFill/>
          <a:ln/>
        </p:spPr>
        <p:txBody>
          <a:bodyPr wrap="none" lIns="0" tIns="0" rIns="0" bIns="0" rtlCol="0" anchor="t"/>
          <a:lstStyle/>
          <a:p>
            <a:pPr algn="l" indent="0" marL="0">
              <a:lnSpc>
                <a:spcPct val="104000"/>
              </a:lnSpc>
              <a:buNone/>
            </a:pPr>
            <a:r>
              <a:rPr lang="en-US" sz="1200" b="1" dirty="0">
                <a:solidFill>
                  <a:srgbClr val="FFFFFF"/>
                </a:solidFill>
                <a:latin typeface="Overpass Bold" pitchFamily="34" charset="0"/>
                <a:ea typeface="Overpass Bold" pitchFamily="34" charset="-122"/>
                <a:cs typeface="Overpass Bold" pitchFamily="34" charset="-120"/>
              </a:rPr>
              <a:t>How it works</a:t>
            </a:r>
            <a:endParaRPr lang="en-US" sz="1200" dirty="0"/>
          </a:p>
        </p:txBody>
      </p:sp>
      <p:sp>
        <p:nvSpPr>
          <p:cNvPr id="5" name="Text 3"/>
          <p:cNvSpPr/>
          <p:nvPr/>
        </p:nvSpPr>
        <p:spPr>
          <a:xfrm>
            <a:off x="523577" y="1916534"/>
            <a:ext cx="8096845" cy="1239143"/>
          </a:xfrm>
          <a:prstGeom prst="rect">
            <a:avLst/>
          </a:prstGeom>
          <a:noFill/>
          <a:ln/>
        </p:spPr>
        <p:txBody>
          <a:bodyPr wrap="square" lIns="0" tIns="0" rIns="0" bIns="0" rtlCol="0" anchor="t">
            <a:normAutofit/>
          </a:bodyPr>
          <a:lstStyle/>
          <a:p>
            <a:pPr algn="l" indent="0" marL="0">
              <a:lnSpc>
                <a:spcPct val="125000"/>
              </a:lnSpc>
              <a:buNone/>
            </a:pPr>
            <a:r>
              <a:rPr lang="en-US" sz="1000" dirty="0">
                <a:solidFill>
                  <a:srgbClr val="E5E0DF"/>
                </a:solidFill>
                <a:latin typeface="Overpass" pitchFamily="34" charset="0"/>
                <a:ea typeface="Overpass" pitchFamily="34" charset="-122"/>
                <a:cs typeface="Overpass" pitchFamily="34" charset="-120"/>
              </a:rPr>
              <a:t>The splitter first detects sentence boundaries using punctuation — </a:t>
            </a:r>
            <a:pPr algn="l" indent="0" marL="0">
              <a:lnSpc>
                <a:spcPct val="125000"/>
              </a:lnSpc>
              <a:buNone/>
            </a:pPr>
            <a:r>
              <a:rPr lang="en-US" sz="1000" b="1" dirty="0">
                <a:solidFill>
                  <a:srgbClr val="E5E0DF"/>
                </a:solidFill>
                <a:latin typeface="Overpass Bold" pitchFamily="34" charset="0"/>
                <a:ea typeface="Overpass Bold" pitchFamily="34" charset="-122"/>
                <a:cs typeface="Overpass Bold" pitchFamily="34" charset="-120"/>
              </a:rPr>
              <a:t>.</a:t>
            </a:r>
            <a:pPr algn="l" indent="0" marL="0">
              <a:lnSpc>
                <a:spcPct val="125000"/>
              </a:lnSpc>
              <a:buNone/>
            </a:pPr>
            <a:r>
              <a:rPr lang="en-US" sz="1000" dirty="0">
                <a:solidFill>
                  <a:srgbClr val="E5E0DF"/>
                </a:solidFill>
                <a:latin typeface="Overpass" pitchFamily="34" charset="0"/>
                <a:ea typeface="Overpass" pitchFamily="34" charset="-122"/>
                <a:cs typeface="Overpass" pitchFamily="34" charset="-120"/>
              </a:rPr>
              <a:t> (period), </a:t>
            </a:r>
            <a:pPr algn="l" indent="0" marL="0">
              <a:lnSpc>
                <a:spcPct val="125000"/>
              </a:lnSpc>
              <a:buNone/>
            </a:pPr>
            <a:r>
              <a:rPr lang="en-US" sz="1000" b="1" dirty="0">
                <a:solidFill>
                  <a:srgbClr val="E5E0DF"/>
                </a:solidFill>
                <a:latin typeface="Overpass Bold" pitchFamily="34" charset="0"/>
                <a:ea typeface="Overpass Bold" pitchFamily="34" charset="-122"/>
                <a:cs typeface="Overpass Bold" pitchFamily="34" charset="-120"/>
              </a:rPr>
              <a:t>?</a:t>
            </a:r>
            <a:pPr algn="l" indent="0" marL="0">
              <a:lnSpc>
                <a:spcPct val="125000"/>
              </a:lnSpc>
              <a:buNone/>
            </a:pPr>
            <a:r>
              <a:rPr lang="en-US" sz="1000" dirty="0">
                <a:solidFill>
                  <a:srgbClr val="E5E0DF"/>
                </a:solidFill>
                <a:latin typeface="Overpass" pitchFamily="34" charset="0"/>
                <a:ea typeface="Overpass" pitchFamily="34" charset="-122"/>
                <a:cs typeface="Overpass" pitchFamily="34" charset="-120"/>
              </a:rPr>
              <a:t> (question mark), </a:t>
            </a:r>
            <a:pPr algn="l" indent="0" marL="0">
              <a:lnSpc>
                <a:spcPct val="125000"/>
              </a:lnSpc>
              <a:buNone/>
            </a:pPr>
            <a:r>
              <a:rPr lang="en-US" sz="1000" b="1" dirty="0">
                <a:solidFill>
                  <a:srgbClr val="E5E0DF"/>
                </a:solidFill>
                <a:latin typeface="Overpass Bold" pitchFamily="34" charset="0"/>
                <a:ea typeface="Overpass Bold" pitchFamily="34" charset="-122"/>
                <a:cs typeface="Overpass Bold" pitchFamily="34" charset="-120"/>
              </a:rPr>
              <a:t>!</a:t>
            </a:r>
            <a:pPr algn="l" indent="0" marL="0">
              <a:lnSpc>
                <a:spcPct val="125000"/>
              </a:lnSpc>
              <a:spcAft>
                <a:spcPts val="1000"/>
              </a:spcAft>
              <a:buNone/>
            </a:pPr>
            <a:r>
              <a:rPr lang="en-US" sz="1000" dirty="0">
                <a:solidFill>
                  <a:srgbClr val="E5E0DF"/>
                </a:solidFill>
                <a:latin typeface="Overpass" pitchFamily="34" charset="0"/>
                <a:ea typeface="Overpass" pitchFamily="34" charset="-122"/>
                <a:cs typeface="Overpass" pitchFamily="34" charset="-120"/>
              </a:rPr>
              <a:t> (exclamation point). It's smart enough to handle edge cases like "Dr. Smith" or "3.14" without treating them as sentence endings.</a:t>
            </a:r>
            <a:endParaRPr lang="en-US" sz="1000" dirty="0"/>
          </a:p>
          <a:p>
            <a:pPr algn="l" indent="0" marL="0">
              <a:lnSpc>
                <a:spcPct val="125000"/>
              </a:lnSpc>
              <a:spcAft>
                <a:spcPts val="1000"/>
              </a:spcAft>
              <a:buNone/>
            </a:pPr>
            <a:r>
              <a:rPr lang="en-US" sz="1000" dirty="0">
                <a:solidFill>
                  <a:srgbClr val="E5E0DF"/>
                </a:solidFill>
                <a:latin typeface="Overpass" pitchFamily="34" charset="0"/>
                <a:ea typeface="Overpass" pitchFamily="34" charset="-122"/>
                <a:cs typeface="Overpass" pitchFamily="34" charset="-120"/>
              </a:rPr>
              <a:t>Once sentences are identified, the chunker groups them together to hit your target chunk size. It keeps adding sentences to the current chunk until the next sentence would push it over the limit — then it starts a new chunk.</a:t>
            </a:r>
            <a:endParaRPr lang="en-US" sz="1000" dirty="0"/>
          </a:p>
          <a:p>
            <a:pPr algn="l" indent="0" marL="0">
              <a:lnSpc>
                <a:spcPct val="125000"/>
              </a:lnSpc>
              <a:buNone/>
            </a:pPr>
            <a:r>
              <a:rPr lang="en-US" sz="1000" b="1" dirty="0">
                <a:solidFill>
                  <a:srgbClr val="E5E0DF"/>
                </a:solidFill>
                <a:latin typeface="Overpass Bold" pitchFamily="34" charset="0"/>
                <a:ea typeface="Overpass Bold" pitchFamily="34" charset="-122"/>
                <a:cs typeface="Overpass Bold" pitchFamily="34" charset="-120"/>
              </a:rPr>
              <a:t>Example</a:t>
            </a:r>
            <a:pPr algn="l" indent="0" marL="0">
              <a:lnSpc>
                <a:spcPct val="125000"/>
              </a:lnSpc>
              <a:buNone/>
            </a:pPr>
            <a:r>
              <a:rPr lang="en-US" sz="1000" dirty="0">
                <a:solidFill>
                  <a:srgbClr val="E5E0DF"/>
                </a:solidFill>
                <a:latin typeface="Overpass" pitchFamily="34" charset="0"/>
                <a:ea typeface="Overpass" pitchFamily="34" charset="-122"/>
                <a:cs typeface="Overpass" pitchFamily="34" charset="-120"/>
              </a:rPr>
              <a:t> (chunk_size = 100 tokens):</a:t>
            </a:r>
            <a:endParaRPr lang="en-US" sz="1000" dirty="0"/>
          </a:p>
        </p:txBody>
      </p:sp>
      <p:sp>
        <p:nvSpPr>
          <p:cNvPr id="6" name="Text 4"/>
          <p:cNvSpPr/>
          <p:nvPr/>
        </p:nvSpPr>
        <p:spPr>
          <a:xfrm>
            <a:off x="523577" y="3284488"/>
            <a:ext cx="8096845" cy="432643"/>
          </a:xfrm>
          <a:prstGeom prst="rect">
            <a:avLst/>
          </a:prstGeom>
          <a:noFill/>
          <a:ln/>
        </p:spPr>
        <p:txBody>
          <a:bodyPr wrap="square" lIns="0" tIns="0" rIns="0" bIns="0" rtlCol="0" anchor="t">
            <a:normAutofit/>
          </a:bodyPr>
          <a:lstStyle/>
          <a:p>
            <a:pPr algn="l" marL="203200" indent="-203200">
              <a:lnSpc>
                <a:spcPct val="125000"/>
              </a:lnSpc>
              <a:buSzPct val="100000"/>
              <a:buChar char="•"/>
            </a:pPr>
            <a:r>
              <a:rPr lang="en-US" sz="1000" dirty="0">
                <a:solidFill>
                  <a:srgbClr val="E5E0DF"/>
                </a:solidFill>
                <a:latin typeface="Overpass" pitchFamily="34" charset="0"/>
                <a:ea typeface="Overpass" pitchFamily="34" charset="-122"/>
                <a:cs typeface="Overpass" pitchFamily="34" charset="-120"/>
              </a:rPr>
              <a:t>Sentence 1 (40 tokens) + Sentence 2 (35 tokens) = 75 tokens → fits, add both to the same chunk</a:t>
            </a:r>
            <a:endParaRPr lang="en-US" sz="1000" dirty="0"/>
          </a:p>
          <a:p>
            <a:pPr algn="l" marL="203200" indent="-203200">
              <a:lnSpc>
                <a:spcPct val="125000"/>
              </a:lnSpc>
              <a:buSzPct val="100000"/>
              <a:buChar char="•"/>
            </a:pPr>
            <a:r>
              <a:rPr lang="en-US" sz="1000" dirty="0">
                <a:solidFill>
                  <a:srgbClr val="E5E0DF"/>
                </a:solidFill>
                <a:latin typeface="Overpass" pitchFamily="34" charset="0"/>
                <a:ea typeface="Overpass" pitchFamily="34" charset="-122"/>
                <a:cs typeface="Overpass" pitchFamily="34" charset="-120"/>
              </a:rPr>
              <a:t>Sentence 3 (45 tokens) → adding it would make 120 tokens, over the limit → start a new chunk instead</a:t>
            </a:r>
            <a:endParaRPr lang="en-US" sz="1000" dirty="0"/>
          </a:p>
        </p:txBody>
      </p:sp>
      <p:sp>
        <p:nvSpPr>
          <p:cNvPr id="7" name="Text 5"/>
          <p:cNvSpPr/>
          <p:nvPr/>
        </p:nvSpPr>
        <p:spPr>
          <a:xfrm>
            <a:off x="523577" y="3845942"/>
            <a:ext cx="8096845" cy="846534"/>
          </a:xfrm>
          <a:prstGeom prst="rect">
            <a:avLst/>
          </a:prstGeom>
          <a:noFill/>
          <a:ln/>
        </p:spPr>
        <p:txBody>
          <a:bodyPr wrap="square" lIns="0" tIns="0" rIns="0" bIns="0" rtlCol="0" anchor="t"/>
          <a:lstStyle/>
          <a:p>
            <a:pPr algn="l" indent="0" marL="0">
              <a:lnSpc>
                <a:spcPct val="125000"/>
              </a:lnSpc>
              <a:spcAft>
                <a:spcPts val="1000"/>
              </a:spcAft>
              <a:buNone/>
            </a:pPr>
            <a:r>
              <a:rPr lang="en-US" sz="1000" dirty="0">
                <a:solidFill>
                  <a:srgbClr val="E5E0DF"/>
                </a:solidFill>
                <a:latin typeface="Overpass" pitchFamily="34" charset="0"/>
                <a:ea typeface="Overpass" pitchFamily="34" charset="-122"/>
                <a:cs typeface="Overpass" pitchFamily="34" charset="-120"/>
              </a:rPr>
              <a:t>The result: chunks vary in size (one might be 90 tokens, another 77), but every sentence stays whole — never cut in the middle.</a:t>
            </a:r>
            <a:endParaRPr lang="en-US" sz="1000" dirty="0"/>
          </a:p>
          <a:p>
            <a:pPr algn="l" indent="0" marL="0">
              <a:lnSpc>
                <a:spcPct val="125000"/>
              </a:lnSpc>
              <a:spcAft>
                <a:spcPts val="2550"/>
              </a:spcAft>
              <a:buNone/>
            </a:pP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23577" y="1037034"/>
            <a:ext cx="8096845" cy="352053"/>
          </a:xfrm>
          <a:prstGeom prst="rect">
            <a:avLst/>
          </a:prstGeom>
          <a:noFill/>
          <a:ln/>
        </p:spPr>
        <p:txBody>
          <a:bodyPr wrap="none" lIns="0" tIns="0" rIns="0" bIns="0" rtlCol="0" anchor="t"/>
          <a:lstStyle/>
          <a:p>
            <a:pPr algn="l" indent="0" marL="0">
              <a:lnSpc>
                <a:spcPct val="104000"/>
              </a:lnSpc>
              <a:buNone/>
            </a:pPr>
            <a:endParaRPr lang="en-US" sz="2200" dirty="0"/>
          </a:p>
        </p:txBody>
      </p:sp>
      <p:sp>
        <p:nvSpPr>
          <p:cNvPr id="3" name="Text 1"/>
          <p:cNvSpPr/>
          <p:nvPr/>
        </p:nvSpPr>
        <p:spPr>
          <a:xfrm>
            <a:off x="523577" y="1448916"/>
            <a:ext cx="8096845" cy="263947"/>
          </a:xfrm>
          <a:prstGeom prst="rect">
            <a:avLst/>
          </a:prstGeom>
          <a:noFill/>
          <a:ln/>
        </p:spPr>
        <p:txBody>
          <a:bodyPr wrap="none" lIns="0" tIns="0" rIns="0" bIns="0" rtlCol="0" anchor="t"/>
          <a:lstStyle/>
          <a:p>
            <a:pPr algn="l" indent="0" marL="0">
              <a:lnSpc>
                <a:spcPct val="104000"/>
              </a:lnSpc>
              <a:buNone/>
            </a:pPr>
            <a:r>
              <a:rPr lang="en-US" sz="1650" b="1" dirty="0">
                <a:solidFill>
                  <a:srgbClr val="FFFFFF"/>
                </a:solidFill>
                <a:latin typeface="Overpass Bold" pitchFamily="34" charset="0"/>
                <a:ea typeface="Overpass Bold" pitchFamily="34" charset="-122"/>
                <a:cs typeface="Overpass Bold" pitchFamily="34" charset="-120"/>
              </a:rPr>
              <a:t>When to use this</a:t>
            </a:r>
            <a:endParaRPr lang="en-US" sz="1650" dirty="0"/>
          </a:p>
        </p:txBody>
      </p:sp>
      <p:sp>
        <p:nvSpPr>
          <p:cNvPr id="4" name="Text 2"/>
          <p:cNvSpPr/>
          <p:nvPr/>
        </p:nvSpPr>
        <p:spPr>
          <a:xfrm>
            <a:off x="523577" y="1937221"/>
            <a:ext cx="8554045" cy="239390"/>
          </a:xfrm>
          <a:prstGeom prst="rect">
            <a:avLst/>
          </a:prstGeom>
          <a:noFill/>
          <a:ln/>
        </p:spPr>
        <p:txBody>
          <a:bodyPr wrap="none" lIns="0" tIns="0" rIns="0" bIns="0" rtlCol="0" anchor="t"/>
          <a:lstStyle/>
          <a:p>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Sentence-based chunking works well for:</a:t>
            </a:r>
            <a:endParaRPr lang="en-US" sz="1150" dirty="0"/>
          </a:p>
        </p:txBody>
      </p:sp>
      <p:sp>
        <p:nvSpPr>
          <p:cNvPr id="5" name="Text 3"/>
          <p:cNvSpPr/>
          <p:nvPr/>
        </p:nvSpPr>
        <p:spPr>
          <a:xfrm>
            <a:off x="523577" y="2344862"/>
            <a:ext cx="8096845" cy="1114499"/>
          </a:xfrm>
          <a:prstGeom prst="rect">
            <a:avLst/>
          </a:prstGeom>
          <a:noFill/>
          <a:ln/>
        </p:spPr>
        <p:txBody>
          <a:bodyPr wrap="square" lIns="0" tIns="0" rIns="0" bIns="0" rtlCol="0" anchor="t">
            <a:normAutofit/>
          </a:bodyPr>
          <a:lstStyle/>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Conversational data (chat logs, customer support transcripts)</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Q&amp;A content where each question-answer pair should stay together</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Short-form content with clear sentence structure</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When preserving complete thoughts matters more than uniform chunk sizes</a:t>
            </a:r>
            <a:endParaRPr lang="en-US" sz="1150" dirty="0"/>
          </a:p>
        </p:txBody>
      </p:sp>
      <p:sp>
        <p:nvSpPr>
          <p:cNvPr id="6" name="Text 4"/>
          <p:cNvSpPr/>
          <p:nvPr/>
        </p:nvSpPr>
        <p:spPr>
          <a:xfrm>
            <a:off x="523577" y="3627611"/>
            <a:ext cx="8096845" cy="47878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If your RAG system answers questions where context comes from complete sentences, this approach helps retrieval quality.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23577" y="421556"/>
            <a:ext cx="8096845" cy="214461"/>
          </a:xfrm>
          <a:prstGeom prst="rect">
            <a:avLst/>
          </a:prstGeom>
          <a:noFill/>
          <a:ln/>
        </p:spPr>
        <p:txBody>
          <a:bodyPr wrap="none" lIns="0" tIns="0" rIns="0" bIns="0" rtlCol="0" anchor="t"/>
          <a:lstStyle/>
          <a:p>
            <a:pPr algn="l" indent="0" marL="0">
              <a:lnSpc>
                <a:spcPct val="104000"/>
              </a:lnSpc>
              <a:buNone/>
            </a:pPr>
            <a:r>
              <a:rPr lang="en-US" sz="1350" b="1" dirty="0">
                <a:solidFill>
                  <a:srgbClr val="FFFFFF"/>
                </a:solidFill>
                <a:latin typeface="Overpass Bold" pitchFamily="34" charset="0"/>
                <a:ea typeface="Overpass Bold" pitchFamily="34" charset="-122"/>
                <a:cs typeface="Overpass Bold" pitchFamily="34" charset="-120"/>
              </a:rPr>
              <a:t>4. Paragraph-based Chunking</a:t>
            </a:r>
            <a:endParaRPr lang="en-US" sz="1350" dirty="0"/>
          </a:p>
        </p:txBody>
      </p:sp>
      <p:sp>
        <p:nvSpPr>
          <p:cNvPr id="3" name="Text 1"/>
          <p:cNvSpPr/>
          <p:nvPr/>
        </p:nvSpPr>
        <p:spPr>
          <a:xfrm>
            <a:off x="523577" y="747117"/>
            <a:ext cx="8554045" cy="117351"/>
          </a:xfrm>
          <a:prstGeom prst="rect">
            <a:avLst/>
          </a:prstGeom>
          <a:noFill/>
          <a:ln/>
        </p:spPr>
        <p:txBody>
          <a:bodyPr wrap="none" lIns="0" tIns="0" rIns="0" bIns="0" rtlCol="0" anchor="t"/>
          <a:lstStyle/>
          <a:p>
            <a:pPr algn="l" indent="0" marL="0">
              <a:lnSpc>
                <a:spcPct val="107000"/>
              </a:lnSpc>
              <a:buNone/>
            </a:pPr>
            <a:r>
              <a:rPr lang="en-US" sz="700" b="1" dirty="0">
                <a:solidFill>
                  <a:srgbClr val="E5E0DF"/>
                </a:solidFill>
                <a:latin typeface="Overpass Bold" pitchFamily="34" charset="0"/>
                <a:ea typeface="Overpass Bold" pitchFamily="34" charset="-122"/>
                <a:cs typeface="Overpass Bold" pitchFamily="34" charset="-120"/>
              </a:rPr>
              <a:t>Definition:</a:t>
            </a:r>
            <a:pPr algn="l" indent="0" marL="0">
              <a:lnSpc>
                <a:spcPct val="107000"/>
              </a:lnSpc>
              <a:buNone/>
            </a:pPr>
            <a:r>
              <a:rPr lang="en-US" sz="700" dirty="0">
                <a:solidFill>
                  <a:srgbClr val="E5E0DF"/>
                </a:solidFill>
                <a:latin typeface="Overpass" pitchFamily="34" charset="0"/>
                <a:ea typeface="Overpass" pitchFamily="34" charset="-122"/>
                <a:cs typeface="Overpass" pitchFamily="34" charset="-120"/>
              </a:rPr>
              <a:t> Paragraph-based chunking treats each paragraph as a complete unit and groups paragraphs together to build chunks — instead of counting characters or looking for sentence breaks.</a:t>
            </a:r>
            <a:endParaRPr lang="en-US" sz="700" dirty="0"/>
          </a:p>
        </p:txBody>
      </p:sp>
      <p:pic>
        <p:nvPicPr>
          <p:cNvPr id="4" name="Image 0" descr="preencoded.png">    </p:cNvPr>
          <p:cNvPicPr>
            <a:picLocks noChangeAspect="1"/>
          </p:cNvPicPr>
          <p:nvPr/>
        </p:nvPicPr>
        <p:blipFill>
          <a:blip r:embed="rId1"/>
          <a:stretch>
            <a:fillRect/>
          </a:stretch>
        </p:blipFill>
        <p:spPr>
          <a:xfrm>
            <a:off x="523577" y="989335"/>
            <a:ext cx="5850657" cy="3490317"/>
          </a:xfrm>
          <a:prstGeom prst="rect">
            <a:avLst/>
          </a:prstGeom>
        </p:spPr>
      </p:pic>
      <p:sp>
        <p:nvSpPr>
          <p:cNvPr id="5" name="Text 2"/>
          <p:cNvSpPr/>
          <p:nvPr/>
        </p:nvSpPr>
        <p:spPr>
          <a:xfrm>
            <a:off x="6601346" y="976833"/>
            <a:ext cx="2023765" cy="821457"/>
          </a:xfrm>
          <a:prstGeom prst="rect">
            <a:avLst/>
          </a:prstGeom>
          <a:noFill/>
          <a:ln/>
        </p:spPr>
        <p:txBody>
          <a:bodyPr wrap="square" lIns="0" tIns="0" rIns="0" bIns="0" rtlCol="0" anchor="t">
            <a:normAutofit/>
          </a:bodyPr>
          <a:lstStyle/>
          <a:p>
            <a:pPr algn="l" indent="0" marL="0">
              <a:lnSpc>
                <a:spcPct val="107000"/>
              </a:lnSpc>
              <a:buNone/>
            </a:pPr>
            <a:r>
              <a:rPr lang="en-US" sz="700" b="1" dirty="0">
                <a:solidFill>
                  <a:srgbClr val="E5E0DF"/>
                </a:solidFill>
                <a:latin typeface="Overpass Bold" pitchFamily="34" charset="0"/>
                <a:ea typeface="Overpass Bold" pitchFamily="34" charset="-122"/>
                <a:cs typeface="Overpass Bold" pitchFamily="34" charset="-120"/>
              </a:rPr>
              <a:t>Were it's used:</a:t>
            </a:r>
            <a:pPr algn="l" indent="0" marL="0">
              <a:lnSpc>
                <a:spcPct val="107000"/>
              </a:lnSpc>
              <a:buNone/>
            </a:pPr>
            <a:r>
              <a:rPr lang="en-US" sz="700" dirty="0">
                <a:solidFill>
                  <a:srgbClr val="E5E0DF"/>
                </a:solidFill>
                <a:latin typeface="Overpass" pitchFamily="34" charset="0"/>
                <a:ea typeface="Overpass" pitchFamily="34" charset="-122"/>
                <a:cs typeface="Overpass" pitchFamily="34" charset="-120"/>
              </a:rPr>
              <a:t> Documents that are already organized into clear paragraphs — like articles, reports, or textbooks, where each paragraph usually represents one complete idea. This keeps related sentences together and preserves the author's natural structure, without needing an embedding model or LLM to decide boundaries.</a:t>
            </a:r>
            <a:endParaRPr lang="en-US" sz="700" dirty="0"/>
          </a:p>
        </p:txBody>
      </p:sp>
      <p:sp>
        <p:nvSpPr>
          <p:cNvPr id="6" name="Text 3"/>
          <p:cNvSpPr/>
          <p:nvPr/>
        </p:nvSpPr>
        <p:spPr>
          <a:xfrm>
            <a:off x="523577" y="4604519"/>
            <a:ext cx="8554045" cy="117351"/>
          </a:xfrm>
          <a:prstGeom prst="rect">
            <a:avLst/>
          </a:prstGeom>
          <a:noFill/>
          <a:ln/>
        </p:spPr>
        <p:txBody>
          <a:bodyPr wrap="none" lIns="0" tIns="0" rIns="0" bIns="0" rtlCol="0" anchor="t"/>
          <a:lstStyle/>
          <a:p>
            <a:pPr algn="l" indent="0" marL="0">
              <a:lnSpc>
                <a:spcPct val="107000"/>
              </a:lnSpc>
              <a:buNone/>
            </a:pP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23577" y="443508"/>
            <a:ext cx="8096845" cy="346472"/>
          </a:xfrm>
          <a:prstGeom prst="rect">
            <a:avLst/>
          </a:prstGeom>
          <a:noFill/>
          <a:ln/>
        </p:spPr>
        <p:txBody>
          <a:bodyPr wrap="none" lIns="0" tIns="0" rIns="0" bIns="0" rtlCol="0" anchor="t"/>
          <a:lstStyle/>
          <a:p>
            <a:pPr algn="l" indent="0" marL="0">
              <a:lnSpc>
                <a:spcPct val="104000"/>
              </a:lnSpc>
              <a:buNone/>
            </a:pPr>
            <a:r>
              <a:rPr lang="en-US" sz="2150" b="1" dirty="0">
                <a:solidFill>
                  <a:srgbClr val="FFFFFF"/>
                </a:solidFill>
                <a:latin typeface="Overpass Bold" pitchFamily="34" charset="0"/>
                <a:ea typeface="Overpass Bold" pitchFamily="34" charset="-122"/>
                <a:cs typeface="Overpass Bold" pitchFamily="34" charset="-120"/>
              </a:rPr>
              <a:t>5. Page-level Chunking</a:t>
            </a:r>
            <a:endParaRPr lang="en-US" sz="2150" dirty="0"/>
          </a:p>
        </p:txBody>
      </p:sp>
      <p:sp>
        <p:nvSpPr>
          <p:cNvPr id="3" name="Text 1"/>
          <p:cNvSpPr/>
          <p:nvPr/>
        </p:nvSpPr>
        <p:spPr>
          <a:xfrm>
            <a:off x="523577" y="1079897"/>
            <a:ext cx="8096845" cy="3620021"/>
          </a:xfrm>
          <a:prstGeom prst="rect">
            <a:avLst/>
          </a:prstGeom>
          <a:noFill/>
          <a:ln/>
        </p:spPr>
        <p:txBody>
          <a:bodyPr wrap="square" lIns="0" tIns="0" rIns="0" bIns="0" rtlCol="0" anchor="t">
            <a:normAutofit/>
          </a:bodyPr>
          <a:lstStyle/>
          <a:p>
            <a:pPr algn="l" indent="0" marL="0">
              <a:lnSpc>
                <a:spcPct val="132000"/>
              </a:lnSpc>
              <a:buNone/>
            </a:pPr>
            <a:r>
              <a:rPr lang="en-US" sz="1150" b="1" dirty="0">
                <a:solidFill>
                  <a:srgbClr val="E5E0DF"/>
                </a:solidFill>
                <a:latin typeface="Overpass Bold" pitchFamily="34" charset="0"/>
                <a:ea typeface="Overpass Bold" pitchFamily="34" charset="-122"/>
                <a:cs typeface="Overpass Bold" pitchFamily="34" charset="-120"/>
              </a:rPr>
              <a:t>Definition:</a:t>
            </a:r>
            <a:endParaRPr lang="en-US" sz="1150" dirty="0"/>
          </a:p>
          <a:p>
            <a:pPr algn="l" indent="0" marL="0">
              <a:lnSpc>
                <a:spcPct val="132000"/>
              </a:lnSpc>
              <a:spcAft>
                <a:spcPts val="1250"/>
              </a:spcAft>
              <a:buNone/>
            </a:pPr>
            <a:r>
              <a:rPr lang="en-US" sz="1150" dirty="0">
                <a:solidFill>
                  <a:srgbClr val="E5E0DF"/>
                </a:solidFill>
                <a:latin typeface="Overpass" pitchFamily="34" charset="0"/>
                <a:ea typeface="Overpass" pitchFamily="34" charset="-122"/>
                <a:cs typeface="Overpass" pitchFamily="34" charset="-120"/>
              </a:rPr>
              <a:t>Page-level chunking treats each page of a document as a separate chunk. Instead of counting tokens or looking for sentence breaks, it splits wherever the document's pagination naturally occurs.</a:t>
            </a:r>
            <a:endParaRPr lang="en-US" sz="1150" dirty="0"/>
          </a:p>
          <a:p>
            <a:pPr algn="l" indent="0" marL="0">
              <a:lnSpc>
                <a:spcPct val="132000"/>
              </a:lnSpc>
              <a:buNone/>
            </a:pPr>
            <a:r>
              <a:rPr lang="en-US" sz="1150" b="1" dirty="0">
                <a:solidFill>
                  <a:srgbClr val="E5E0DF"/>
                </a:solidFill>
                <a:latin typeface="Overpass Bold" pitchFamily="34" charset="0"/>
                <a:ea typeface="Overpass Bold" pitchFamily="34" charset="-122"/>
                <a:cs typeface="Overpass Bold" pitchFamily="34" charset="-120"/>
              </a:rPr>
              <a:t>How it works:</a:t>
            </a:r>
            <a:endParaRPr lang="en-US" sz="1150" dirty="0"/>
          </a:p>
          <a:p>
            <a:pPr algn="l" indent="0" marL="0">
              <a:lnSpc>
                <a:spcPct val="132000"/>
              </a:lnSpc>
              <a:spcAft>
                <a:spcPts val="1250"/>
              </a:spcAft>
              <a:buNone/>
            </a:pPr>
            <a:r>
              <a:rPr lang="en-US" sz="1150" dirty="0">
                <a:solidFill>
                  <a:srgbClr val="E5E0DF"/>
                </a:solidFill>
                <a:latin typeface="Overpass" pitchFamily="34" charset="0"/>
                <a:ea typeface="Overpass" pitchFamily="34" charset="-122"/>
                <a:cs typeface="Overpass" pitchFamily="34" charset="-120"/>
              </a:rPr>
              <a:t>PDF files already have built-in page boundaries. Page-level chunking extracts content page by page and creates one chunk per page — or groups a few pages together if they're short.</a:t>
            </a:r>
            <a:endParaRPr lang="en-US" sz="1150" dirty="0"/>
          </a:p>
          <a:p>
            <a:pPr algn="l" indent="0" marL="0">
              <a:lnSpc>
                <a:spcPct val="132000"/>
              </a:lnSpc>
              <a:buNone/>
            </a:pPr>
            <a:r>
              <a:rPr lang="en-US" sz="1150" b="1" dirty="0">
                <a:solidFill>
                  <a:srgbClr val="E5E0DF"/>
                </a:solidFill>
                <a:latin typeface="Overpass Bold" pitchFamily="34" charset="0"/>
                <a:ea typeface="Overpass Bold" pitchFamily="34" charset="-122"/>
                <a:cs typeface="Overpass Bold" pitchFamily="34" charset="-120"/>
              </a:rPr>
              <a:t>Where it's used:</a:t>
            </a:r>
            <a:pPr algn="l" indent="0" marL="0">
              <a:lnSpc>
                <a:spcPct val="132000"/>
              </a:lnSpc>
              <a:spcAft>
                <a:spcPts val="1250"/>
              </a:spcAft>
              <a:buNone/>
            </a:pPr>
            <a:r>
              <a:rPr lang="en-US" sz="1150" dirty="0">
                <a:solidFill>
                  <a:srgbClr val="E5E0DF"/>
                </a:solidFill>
                <a:latin typeface="Overpass" pitchFamily="34" charset="0"/>
                <a:ea typeface="Overpass" pitchFamily="34" charset="-122"/>
                <a:cs typeface="Overpass" pitchFamily="34" charset="-120"/>
              </a:rPr>
              <a:t> Documents where layout matters — financial reports, research papers with figures, or medical records where each page holds a different type of information. Splitting across pages would lose that structure, so page-level chunking keeps each page whole.</a:t>
            </a:r>
            <a:endParaRPr lang="en-US" sz="1150" dirty="0"/>
          </a:p>
          <a:p>
            <a:pPr algn="l" indent="0" marL="0">
              <a:lnSpc>
                <a:spcPct val="132000"/>
              </a:lnSpc>
              <a:spcAft>
                <a:spcPts val="3100"/>
              </a:spcAft>
              <a:buNone/>
            </a:pPr>
            <a:endParaRPr lang="en-US" sz="1150" dirty="0"/>
          </a:p>
          <a:p>
            <a:pPr algn="l" indent="0" marL="0">
              <a:lnSpc>
                <a:spcPct val="132000"/>
              </a:lnSpc>
              <a:spcAft>
                <a:spcPts val="3100"/>
              </a:spcAft>
              <a:buNone/>
            </a:pP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23577" y="460028"/>
            <a:ext cx="8096845" cy="352053"/>
          </a:xfrm>
          <a:prstGeom prst="rect">
            <a:avLst/>
          </a:prstGeom>
          <a:noFill/>
          <a:ln/>
        </p:spPr>
        <p:txBody>
          <a:bodyPr wrap="none" lIns="0" tIns="0" rIns="0" bIns="0" rtlCol="0" anchor="t"/>
          <a:lstStyle/>
          <a:p>
            <a:pPr algn="l" indent="0" marL="0">
              <a:lnSpc>
                <a:spcPct val="104000"/>
              </a:lnSpc>
              <a:buNone/>
            </a:pPr>
            <a:r>
              <a:rPr lang="en-US" sz="2200" b="1" dirty="0">
                <a:solidFill>
                  <a:srgbClr val="FFFFFF"/>
                </a:solidFill>
                <a:latin typeface="Overpass Bold" pitchFamily="34" charset="0"/>
                <a:ea typeface="Overpass Bold" pitchFamily="34" charset="-122"/>
                <a:cs typeface="Overpass Bold" pitchFamily="34" charset="-120"/>
              </a:rPr>
              <a:t>6. Semantic Chunking</a:t>
            </a:r>
            <a:endParaRPr lang="en-US" sz="2200" dirty="0"/>
          </a:p>
        </p:txBody>
      </p:sp>
      <p:sp>
        <p:nvSpPr>
          <p:cNvPr id="3" name="Text 1"/>
          <p:cNvSpPr/>
          <p:nvPr/>
        </p:nvSpPr>
        <p:spPr>
          <a:xfrm>
            <a:off x="523577" y="871910"/>
            <a:ext cx="8096845" cy="352053"/>
          </a:xfrm>
          <a:prstGeom prst="rect">
            <a:avLst/>
          </a:prstGeom>
          <a:noFill/>
          <a:ln/>
        </p:spPr>
        <p:txBody>
          <a:bodyPr wrap="none" lIns="0" tIns="0" rIns="0" bIns="0" rtlCol="0" anchor="t"/>
          <a:lstStyle/>
          <a:p>
            <a:pPr algn="l" indent="0" marL="0">
              <a:lnSpc>
                <a:spcPct val="104000"/>
              </a:lnSpc>
              <a:buNone/>
            </a:pPr>
            <a:r>
              <a:rPr lang="en-US" sz="2200" b="1" dirty="0">
                <a:solidFill>
                  <a:srgbClr val="FFFFFF"/>
                </a:solidFill>
                <a:latin typeface="Overpass Bold" pitchFamily="34" charset="0"/>
                <a:ea typeface="Overpass Bold" pitchFamily="34" charset="-122"/>
                <a:cs typeface="Overpass Bold" pitchFamily="34" charset="-120"/>
              </a:rPr>
              <a:t>splitting by meaning, not size </a:t>
            </a:r>
            <a:endParaRPr lang="en-US" sz="2200" dirty="0"/>
          </a:p>
        </p:txBody>
      </p:sp>
      <p:sp>
        <p:nvSpPr>
          <p:cNvPr id="4" name="Text 2"/>
          <p:cNvSpPr/>
          <p:nvPr/>
        </p:nvSpPr>
        <p:spPr>
          <a:xfrm>
            <a:off x="523577" y="1448321"/>
            <a:ext cx="8096845" cy="3235151"/>
          </a:xfrm>
          <a:prstGeom prst="rect">
            <a:avLst/>
          </a:prstGeom>
          <a:noFill/>
          <a:ln/>
        </p:spPr>
        <p:txBody>
          <a:bodyPr wrap="square" lIns="0" tIns="0" rIns="0" bIns="0" rtlCol="0" anchor="t"/>
          <a:lstStyle/>
          <a:p>
            <a:pPr algn="l" indent="0" marL="0">
              <a:lnSpc>
                <a:spcPct val="133000"/>
              </a:lnSpc>
              <a:spcAft>
                <a:spcPts val="1300"/>
              </a:spcAft>
              <a:buNone/>
            </a:pPr>
            <a:r>
              <a:rPr lang="en-US" sz="1150" dirty="0">
                <a:solidFill>
                  <a:srgbClr val="E5E0DF"/>
                </a:solidFill>
                <a:latin typeface="Overpass" pitchFamily="34" charset="0"/>
                <a:ea typeface="Overpass" pitchFamily="34" charset="-122"/>
                <a:cs typeface="Overpass" pitchFamily="34" charset="-120"/>
              </a:rPr>
              <a:t>How it is work:</a:t>
            </a:r>
            <a:endParaRPr lang="en-US" sz="1150" dirty="0"/>
          </a:p>
          <a:p>
            <a:pPr algn="l" indent="0" marL="0">
              <a:lnSpc>
                <a:spcPct val="133000"/>
              </a:lnSpc>
              <a:buNone/>
            </a:pPr>
            <a:r>
              <a:rPr lang="en-US" sz="1150" b="1" dirty="0">
                <a:solidFill>
                  <a:srgbClr val="E5E0DF"/>
                </a:solidFill>
                <a:latin typeface="Overpass Bold" pitchFamily="34" charset="0"/>
                <a:ea typeface="Overpass Bold" pitchFamily="34" charset="-122"/>
                <a:cs typeface="Overpass Bold" pitchFamily="34" charset="-120"/>
              </a:rPr>
              <a:t>Step 1—Sentence segmentation</a:t>
            </a:r>
            <a:pPr algn="l" indent="0" marL="0">
              <a:lnSpc>
                <a:spcPct val="133000"/>
              </a:lnSpc>
              <a:spcAft>
                <a:spcPts val="1300"/>
              </a:spcAft>
              <a:buNone/>
            </a:pPr>
            <a:r>
              <a:rPr lang="en-US" sz="1150" dirty="0">
                <a:solidFill>
                  <a:srgbClr val="E5E0DF"/>
                </a:solidFill>
                <a:latin typeface="Overpass" pitchFamily="34" charset="0"/>
                <a:ea typeface="Overpass" pitchFamily="34" charset="-122"/>
                <a:cs typeface="Overpass" pitchFamily="34" charset="-120"/>
              </a:rPr>
              <a:t>: Break the document into individual sentences</a:t>
            </a:r>
            <a:endParaRPr lang="en-US" sz="1150" dirty="0"/>
          </a:p>
          <a:p>
            <a:pPr algn="l" indent="0" marL="0">
              <a:lnSpc>
                <a:spcPct val="133000"/>
              </a:lnSpc>
              <a:buNone/>
            </a:pPr>
            <a:r>
              <a:rPr lang="en-US" sz="1150" b="1" dirty="0">
                <a:solidFill>
                  <a:srgbClr val="E5E0DF"/>
                </a:solidFill>
                <a:latin typeface="Overpass Bold" pitchFamily="34" charset="0"/>
                <a:ea typeface="Overpass Bold" pitchFamily="34" charset="-122"/>
                <a:cs typeface="Overpass Bold" pitchFamily="34" charset="-120"/>
              </a:rPr>
              <a:t>Step 2 — Embedding generation</a:t>
            </a:r>
            <a:pPr algn="l" indent="0" marL="0">
              <a:lnSpc>
                <a:spcPct val="133000"/>
              </a:lnSpc>
              <a:spcAft>
                <a:spcPts val="1300"/>
              </a:spcAft>
              <a:buNone/>
            </a:pPr>
            <a:r>
              <a:rPr lang="en-US" sz="1150" dirty="0">
                <a:solidFill>
                  <a:srgbClr val="E5E0DF"/>
                </a:solidFill>
                <a:latin typeface="Overpass" pitchFamily="34" charset="0"/>
                <a:ea typeface="Overpass" pitchFamily="34" charset="-122"/>
                <a:cs typeface="Overpass" pitchFamily="34" charset="-120"/>
              </a:rPr>
              <a:t>: Create vector embeddings for each sentence</a:t>
            </a:r>
            <a:endParaRPr lang="en-US" sz="1150" dirty="0"/>
          </a:p>
          <a:p>
            <a:pPr algn="l" indent="0" marL="0">
              <a:lnSpc>
                <a:spcPct val="133000"/>
              </a:lnSpc>
              <a:buNone/>
            </a:pPr>
            <a:r>
              <a:rPr lang="en-US" sz="1150" b="1" dirty="0">
                <a:solidFill>
                  <a:srgbClr val="E5E0DF"/>
                </a:solidFill>
                <a:latin typeface="Overpass Bold" pitchFamily="34" charset="0"/>
                <a:ea typeface="Overpass Bold" pitchFamily="34" charset="-122"/>
                <a:cs typeface="Overpass Bold" pitchFamily="34" charset="-120"/>
              </a:rPr>
              <a:t>Step 3 — Measure the distance between neighbors</a:t>
            </a:r>
            <a:endParaRPr lang="en-US" sz="1150" dirty="0"/>
          </a:p>
          <a:p>
            <a:pPr algn="l" indent="0" marL="0">
              <a:lnSpc>
                <a:spcPct val="133000"/>
              </a:lnSpc>
              <a:spcAft>
                <a:spcPts val="1300"/>
              </a:spcAft>
              <a:buNone/>
            </a:pPr>
            <a:r>
              <a:rPr lang="en-US" sz="1150" dirty="0">
                <a:solidFill>
                  <a:srgbClr val="E5E0DF"/>
                </a:solidFill>
                <a:latin typeface="Overpass" pitchFamily="34" charset="0"/>
                <a:ea typeface="Overpass" pitchFamily="34" charset="-122"/>
                <a:cs typeface="Overpass" pitchFamily="34" charset="-120"/>
              </a:rPr>
              <a:t>The system compares each sentence to the one right after it, using cosine distance — a way to measure how different two vectors are. Same topic → small distance. Topic change → distance jumps.</a:t>
            </a:r>
            <a:endParaRPr lang="en-US" sz="1150" dirty="0"/>
          </a:p>
          <a:p>
            <a:pPr algn="l" indent="0" marL="0">
              <a:lnSpc>
                <a:spcPct val="133000"/>
              </a:lnSpc>
              <a:buNone/>
            </a:pPr>
            <a:r>
              <a:rPr lang="en-US" sz="1150" b="1" dirty="0">
                <a:solidFill>
                  <a:srgbClr val="E5E0DF"/>
                </a:solidFill>
                <a:latin typeface="Overpass Bold" pitchFamily="34" charset="0"/>
                <a:ea typeface="Overpass Bold" pitchFamily="34" charset="-122"/>
                <a:cs typeface="Overpass Bold" pitchFamily="34" charset="-120"/>
              </a:rPr>
              <a:t>Step 4 — Cut wherever the distance spikes</a:t>
            </a:r>
            <a:endParaRPr lang="en-US" sz="1150" dirty="0"/>
          </a:p>
          <a:p>
            <a:pPr algn="l" indent="0" marL="0">
              <a:lnSpc>
                <a:spcPct val="133000"/>
              </a:lnSpc>
              <a:spcAft>
                <a:spcPts val="1300"/>
              </a:spcAft>
              <a:buNone/>
            </a:pPr>
            <a:r>
              <a:rPr lang="en-US" sz="1150" dirty="0">
                <a:solidFill>
                  <a:srgbClr val="E5E0DF"/>
                </a:solidFill>
                <a:latin typeface="Overpass" pitchFamily="34" charset="0"/>
                <a:ea typeface="Overpass" pitchFamily="34" charset="-122"/>
                <a:cs typeface="Overpass" pitchFamily="34" charset="-120"/>
              </a:rPr>
              <a:t>Wherever that distance crosses a threshold, a new chunk begins. Instead of counting characters, the system is watching for the moment the topic changes.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23577" y="535632"/>
            <a:ext cx="8096845" cy="864245"/>
          </a:xfrm>
          <a:prstGeom prst="rect">
            <a:avLst/>
          </a:prstGeom>
          <a:noFill/>
          <a:ln/>
        </p:spPr>
        <p:txBody>
          <a:bodyPr wrap="square" lIns="0" tIns="0" rIns="0" bIns="0" rtlCol="0" anchor="t"/>
          <a:lstStyle/>
          <a:p>
            <a:pPr algn="l" indent="0" marL="0">
              <a:lnSpc>
                <a:spcPct val="123000"/>
              </a:lnSpc>
              <a:spcAft>
                <a:spcPts val="2400"/>
              </a:spcAft>
              <a:buNone/>
            </a:pPr>
            <a:endParaRPr lang="en-US" sz="950" dirty="0"/>
          </a:p>
          <a:p>
            <a:pPr algn="l" indent="0" marL="0">
              <a:lnSpc>
                <a:spcPct val="123000"/>
              </a:lnSpc>
              <a:buNone/>
            </a:pPr>
            <a:r>
              <a:rPr lang="en-US" sz="950" dirty="0">
                <a:solidFill>
                  <a:srgbClr val="E5E0DF"/>
                </a:solidFill>
                <a:latin typeface="Overpass" pitchFamily="34" charset="0"/>
                <a:ea typeface="Overpass" pitchFamily="34" charset="-122"/>
                <a:cs typeface="Overpass" pitchFamily="34" charset="-120"/>
              </a:rPr>
              <a:t>There's a refinement of this called semantic double merging. Sometimes a chunk in the middle — like a code snippet or formula — looks 'different' by embedding distance even though it logically belongs with the sentences around it. Double merging does a second pass: if the chunks before and after that odd one turn out to be very similar to each other, it merges all three back together instead of leaving that middle piece isolated.</a:t>
            </a:r>
            <a:endParaRPr lang="en-US" sz="950" dirty="0"/>
          </a:p>
        </p:txBody>
      </p:sp>
      <p:pic>
        <p:nvPicPr>
          <p:cNvPr id="3" name="Image 0" descr="preencoded.png">    </p:cNvPr>
          <p:cNvPicPr>
            <a:picLocks noChangeAspect="1"/>
          </p:cNvPicPr>
          <p:nvPr/>
        </p:nvPicPr>
        <p:blipFill>
          <a:blip r:embed="rId1"/>
          <a:stretch>
            <a:fillRect/>
          </a:stretch>
        </p:blipFill>
        <p:spPr>
          <a:xfrm>
            <a:off x="523577" y="1639491"/>
            <a:ext cx="3834929" cy="2638425"/>
          </a:xfrm>
          <a:prstGeom prst="rect">
            <a:avLst/>
          </a:prstGeom>
        </p:spPr>
      </p:pic>
      <p:pic>
        <p:nvPicPr>
          <p:cNvPr id="4" name="Image 1" descr="preencoded.png">    </p:cNvPr>
          <p:cNvPicPr>
            <a:picLocks noChangeAspect="1"/>
          </p:cNvPicPr>
          <p:nvPr/>
        </p:nvPicPr>
        <p:blipFill>
          <a:blip r:embed="rId2"/>
          <a:stretch>
            <a:fillRect/>
          </a:stretch>
        </p:blipFill>
        <p:spPr>
          <a:xfrm>
            <a:off x="5403056" y="1639491"/>
            <a:ext cx="2692971" cy="1901205"/>
          </a:xfrm>
          <a:prstGeom prst="rect">
            <a:avLst/>
          </a:prstGeom>
        </p:spPr>
      </p:pic>
      <p:sp>
        <p:nvSpPr>
          <p:cNvPr id="5" name="Text 1"/>
          <p:cNvSpPr/>
          <p:nvPr/>
        </p:nvSpPr>
        <p:spPr>
          <a:xfrm>
            <a:off x="523577" y="4517529"/>
            <a:ext cx="8554045" cy="186110"/>
          </a:xfrm>
          <a:prstGeom prst="rect">
            <a:avLst/>
          </a:prstGeom>
          <a:noFill/>
          <a:ln/>
        </p:spPr>
        <p:txBody>
          <a:bodyPr wrap="none" lIns="0" tIns="0" rIns="0" bIns="0" rtlCol="0" anchor="t"/>
          <a:lstStyle/>
          <a:p>
            <a:pPr algn="l" indent="0" marL="0">
              <a:lnSpc>
                <a:spcPct val="123000"/>
              </a:lnSpc>
              <a:buNone/>
            </a:pP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23577" y="568375"/>
            <a:ext cx="8096845" cy="259854"/>
          </a:xfrm>
          <a:prstGeom prst="rect">
            <a:avLst/>
          </a:prstGeom>
          <a:noFill/>
          <a:ln/>
        </p:spPr>
        <p:txBody>
          <a:bodyPr wrap="none" lIns="0" tIns="0" rIns="0" bIns="0" rtlCol="0" anchor="t"/>
          <a:lstStyle/>
          <a:p>
            <a:pPr algn="l" indent="0" marL="0">
              <a:lnSpc>
                <a:spcPct val="104000"/>
              </a:lnSpc>
              <a:buNone/>
            </a:pPr>
            <a:r>
              <a:rPr lang="en-US" sz="1600" b="1" dirty="0">
                <a:solidFill>
                  <a:srgbClr val="FFFFFF"/>
                </a:solidFill>
                <a:latin typeface="Overpass Bold" pitchFamily="34" charset="0"/>
                <a:ea typeface="Overpass Bold" pitchFamily="34" charset="-122"/>
                <a:cs typeface="Overpass Bold" pitchFamily="34" charset="-120"/>
              </a:rPr>
              <a:t>7.Agentic Chunk</a:t>
            </a:r>
            <a:endParaRPr lang="en-US" sz="1600" dirty="0"/>
          </a:p>
        </p:txBody>
      </p:sp>
      <p:sp>
        <p:nvSpPr>
          <p:cNvPr id="3" name="Text 1"/>
          <p:cNvSpPr/>
          <p:nvPr/>
        </p:nvSpPr>
        <p:spPr>
          <a:xfrm>
            <a:off x="523577" y="1118146"/>
            <a:ext cx="8096845" cy="3456980"/>
          </a:xfrm>
          <a:prstGeom prst="rect">
            <a:avLst/>
          </a:prstGeom>
          <a:noFill/>
          <a:ln/>
        </p:spPr>
        <p:txBody>
          <a:bodyPr wrap="square" lIns="0" tIns="0" rIns="0" bIns="0" rtlCol="0" anchor="t">
            <a:normAutofit/>
          </a:bodyPr>
          <a:lstStyle/>
          <a:p>
            <a:pPr algn="l" indent="0" marL="0">
              <a:lnSpc>
                <a:spcPct val="132000"/>
              </a:lnSpc>
              <a:buNone/>
            </a:pPr>
            <a:r>
              <a:rPr lang="en-US" sz="1150" b="1" dirty="0">
                <a:solidFill>
                  <a:srgbClr val="E5E0DF"/>
                </a:solidFill>
                <a:latin typeface="Overpass Bold" pitchFamily="34" charset="0"/>
                <a:ea typeface="Overpass Bold" pitchFamily="34" charset="-122"/>
                <a:cs typeface="Overpass Bold" pitchFamily="34" charset="-120"/>
              </a:rPr>
              <a:t>Definition:</a:t>
            </a:r>
            <a:endParaRPr lang="en-US" sz="1150" dirty="0"/>
          </a:p>
          <a:p>
            <a:pPr algn="l" indent="0" marL="0">
              <a:lnSpc>
                <a:spcPct val="132000"/>
              </a:lnSpc>
              <a:spcAft>
                <a:spcPts val="1250"/>
              </a:spcAft>
              <a:buNone/>
            </a:pPr>
            <a:r>
              <a:rPr lang="en-US" sz="1150" dirty="0">
                <a:solidFill>
                  <a:srgbClr val="E5E0DF"/>
                </a:solidFill>
                <a:latin typeface="Overpass" pitchFamily="34" charset="0"/>
                <a:ea typeface="Overpass" pitchFamily="34" charset="-122"/>
                <a:cs typeface="Overpass" pitchFamily="34" charset="-120"/>
              </a:rPr>
              <a:t>Agentic chunking lets an AI agent decide on its own how to split a document into chunks — instead of following a fixed rule like character count or embedding distance.</a:t>
            </a:r>
            <a:endParaRPr lang="en-US" sz="1150" dirty="0"/>
          </a:p>
          <a:p>
            <a:pPr algn="l" indent="0" marL="0">
              <a:lnSpc>
                <a:spcPct val="132000"/>
              </a:lnSpc>
              <a:buNone/>
            </a:pPr>
            <a:r>
              <a:rPr lang="en-US" sz="1150" b="1" dirty="0">
                <a:solidFill>
                  <a:srgbClr val="E5E0DF"/>
                </a:solidFill>
                <a:latin typeface="Overpass Bold" pitchFamily="34" charset="0"/>
                <a:ea typeface="Overpass Bold" pitchFamily="34" charset="-122"/>
                <a:cs typeface="Overpass Bold" pitchFamily="34" charset="-120"/>
              </a:rPr>
              <a:t>How it works:</a:t>
            </a:r>
            <a:endParaRPr lang="en-US" sz="1150" dirty="0"/>
          </a:p>
          <a:p>
            <a:pPr algn="l" indent="0" marL="0">
              <a:lnSpc>
                <a:spcPct val="132000"/>
              </a:lnSpc>
              <a:spcAft>
                <a:spcPts val="1250"/>
              </a:spcAft>
              <a:buNone/>
            </a:pPr>
            <a:r>
              <a:rPr lang="en-US" sz="1150" dirty="0">
                <a:solidFill>
                  <a:srgbClr val="E5E0DF"/>
                </a:solidFill>
                <a:latin typeface="Overpass" pitchFamily="34" charset="0"/>
                <a:ea typeface="Overpass" pitchFamily="34" charset="-122"/>
                <a:cs typeface="Overpass" pitchFamily="34" charset="-120"/>
              </a:rPr>
              <a:t>The document is first broken into small starting pieces, usually using recursive splitting. The AI agent then reads these pieces and decides how to group them into final chunks, based on topic and meaning. It can also add metadata — like a title or short summary — to each chunk, making it easier to find later during retrieval.</a:t>
            </a:r>
            <a:endParaRPr lang="en-US" sz="1150" dirty="0"/>
          </a:p>
          <a:p>
            <a:pPr algn="l" indent="0" marL="0">
              <a:lnSpc>
                <a:spcPct val="132000"/>
              </a:lnSpc>
              <a:buNone/>
            </a:pPr>
            <a:r>
              <a:rPr lang="en-US" sz="1150" b="1" dirty="0">
                <a:solidFill>
                  <a:srgbClr val="E5E0DF"/>
                </a:solidFill>
                <a:latin typeface="Overpass Bold" pitchFamily="34" charset="0"/>
                <a:ea typeface="Overpass Bold" pitchFamily="34" charset="-122"/>
                <a:cs typeface="Overpass Bold" pitchFamily="34" charset="-120"/>
              </a:rPr>
              <a:t>Where it's used:</a:t>
            </a:r>
            <a:endParaRPr lang="en-US" sz="1150" dirty="0"/>
          </a:p>
          <a:p>
            <a:pPr algn="l" indent="0" marL="0">
              <a:lnSpc>
                <a:spcPct val="132000"/>
              </a:lnSpc>
              <a:spcAft>
                <a:spcPts val="1250"/>
              </a:spcAft>
              <a:buNone/>
            </a:pPr>
            <a:r>
              <a:rPr lang="en-US" sz="1150" dirty="0">
                <a:solidFill>
                  <a:srgbClr val="E5E0DF"/>
                </a:solidFill>
                <a:latin typeface="Overpass" pitchFamily="34" charset="0"/>
                <a:ea typeface="Overpass" pitchFamily="34" charset="-122"/>
                <a:cs typeface="Overpass" pitchFamily="34" charset="-120"/>
              </a:rPr>
              <a:t>Complex, high-value documents where getting the chunking exactly right matters more than the cost — for example, legal contracts, medical records, or highly technical documentation, where a wrong chunk boundary could cause a serious error.</a:t>
            </a:r>
            <a:endParaRPr lang="en-US" sz="1150" dirty="0"/>
          </a:p>
          <a:p>
            <a:pPr algn="l" indent="0" marL="0">
              <a:lnSpc>
                <a:spcPct val="132000"/>
              </a:lnSpc>
              <a:spcAft>
                <a:spcPts val="3100"/>
              </a:spcAft>
              <a:buNone/>
            </a:pP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23577" y="558552"/>
            <a:ext cx="8096845" cy="259854"/>
          </a:xfrm>
          <a:prstGeom prst="rect">
            <a:avLst/>
          </a:prstGeom>
          <a:noFill/>
          <a:ln/>
        </p:spPr>
        <p:txBody>
          <a:bodyPr wrap="none" lIns="0" tIns="0" rIns="0" bIns="0" rtlCol="0" anchor="t"/>
          <a:lstStyle/>
          <a:p>
            <a:pPr algn="l" indent="0" marL="0">
              <a:lnSpc>
                <a:spcPct val="104000"/>
              </a:lnSpc>
              <a:buNone/>
            </a:pPr>
            <a:endParaRPr lang="en-US" sz="1600" dirty="0"/>
          </a:p>
        </p:txBody>
      </p:sp>
      <p:sp>
        <p:nvSpPr>
          <p:cNvPr id="3" name="Text 1"/>
          <p:cNvSpPr/>
          <p:nvPr/>
        </p:nvSpPr>
        <p:spPr>
          <a:xfrm>
            <a:off x="523577" y="1108323"/>
            <a:ext cx="8554045" cy="233735"/>
          </a:xfrm>
          <a:prstGeom prst="rect">
            <a:avLst/>
          </a:prstGeom>
          <a:noFill/>
          <a:ln/>
        </p:spPr>
        <p:txBody>
          <a:bodyPr wrap="none" lIns="0" tIns="0" rIns="0" bIns="0" rtlCol="0" anchor="t"/>
          <a:lstStyle/>
          <a:p>
            <a:pPr algn="l" indent="0" marL="0">
              <a:lnSpc>
                <a:spcPct val="132000"/>
              </a:lnSpc>
              <a:buNone/>
            </a:pPr>
            <a:r>
              <a:rPr lang="en-US" sz="1150" b="1" dirty="0">
                <a:solidFill>
                  <a:srgbClr val="E5E0DF"/>
                </a:solidFill>
                <a:latin typeface="Overpass Bold" pitchFamily="34" charset="0"/>
                <a:ea typeface="Overpass Bold" pitchFamily="34" charset="-122"/>
                <a:cs typeface="Overpass Bold" pitchFamily="34" charset="-120"/>
              </a:rPr>
              <a:t>Factors for choosing chunk size :</a:t>
            </a:r>
            <a:endParaRPr lang="en-US" sz="1150" dirty="0"/>
          </a:p>
        </p:txBody>
      </p:sp>
      <p:sp>
        <p:nvSpPr>
          <p:cNvPr id="4" name="Text 2"/>
          <p:cNvSpPr/>
          <p:nvPr/>
        </p:nvSpPr>
        <p:spPr>
          <a:xfrm>
            <a:off x="523577" y="1505099"/>
            <a:ext cx="8096845" cy="1889522"/>
          </a:xfrm>
          <a:prstGeom prst="rect">
            <a:avLst/>
          </a:prstGeom>
          <a:noFill/>
          <a:ln/>
        </p:spPr>
        <p:txBody>
          <a:bodyPr wrap="square" lIns="0" tIns="0" rIns="0" bIns="0" rtlCol="0" anchor="t">
            <a:normAutofit/>
          </a:bodyPr>
          <a:lstStyle/>
          <a:p>
            <a:pPr algn="l" marL="233680" indent="-233680">
              <a:lnSpc>
                <a:spcPct val="132000"/>
              </a:lnSpc>
              <a:buSzPct val="100000"/>
              <a:buFont typeface="+mj-lt"/>
              <a:buAutoNum type="arabicPeriod" startAt="1"/>
            </a:pPr>
            <a:r>
              <a:rPr lang="en-US" sz="1150" b="1" dirty="0">
                <a:solidFill>
                  <a:srgbClr val="E5E0DF"/>
                </a:solidFill>
                <a:latin typeface="Overpass Bold" pitchFamily="34" charset="0"/>
                <a:ea typeface="Overpass Bold" pitchFamily="34" charset="-122"/>
                <a:cs typeface="Overpass Bold" pitchFamily="34" charset="-120"/>
              </a:rPr>
              <a:t>Type of document</a:t>
            </a:r>
            <a:pPr algn="l" marL="233680" indent="-233680">
              <a:lnSpc>
                <a:spcPct val="132000"/>
              </a:lnSpc>
              <a:buSzPct val="100000"/>
              <a:buFont typeface="+mj-lt"/>
              <a:buAutoNum type="arabicPeriod" startAt="1"/>
            </a:pPr>
            <a:r>
              <a:rPr lang="en-US" sz="1150" dirty="0">
                <a:solidFill>
                  <a:srgbClr val="E5E0DF"/>
                </a:solidFill>
                <a:latin typeface="Overpass" pitchFamily="34" charset="0"/>
                <a:ea typeface="Overpass" pitchFamily="34" charset="-122"/>
                <a:cs typeface="Overpass" pitchFamily="34" charset="-120"/>
              </a:rPr>
              <a:t> — technical text needs smaller chunks.  </a:t>
            </a:r>
            <a:endParaRPr lang="en-US" sz="1150" dirty="0"/>
          </a:p>
          <a:p>
            <a:pPr algn="l" marL="233680" indent="-233680">
              <a:lnSpc>
                <a:spcPct val="132000"/>
              </a:lnSpc>
              <a:buSzPct val="100000"/>
              <a:buFont typeface="+mj-lt"/>
              <a:buAutoNum type="arabicPeriod" startAt="2"/>
            </a:pPr>
            <a:r>
              <a:rPr lang="en-US" sz="1150" b="1" dirty="0">
                <a:solidFill>
                  <a:srgbClr val="E5E0DF"/>
                </a:solidFill>
                <a:latin typeface="Overpass Bold" pitchFamily="34" charset="0"/>
                <a:ea typeface="Overpass Bold" pitchFamily="34" charset="-122"/>
                <a:cs typeface="Overpass Bold" pitchFamily="34" charset="-120"/>
              </a:rPr>
              <a:t>Embedding model's limit</a:t>
            </a:r>
            <a:pPr algn="l" marL="233680" indent="-233680">
              <a:lnSpc>
                <a:spcPct val="132000"/>
              </a:lnSpc>
              <a:buSzPct val="100000"/>
              <a:buFont typeface="+mj-lt"/>
              <a:buAutoNum type="arabicPeriod" startAt="2"/>
            </a:pPr>
            <a:r>
              <a:rPr lang="en-US" sz="1150" dirty="0">
                <a:solidFill>
                  <a:srgbClr val="E5E0DF"/>
                </a:solidFill>
                <a:latin typeface="Overpass" pitchFamily="34" charset="0"/>
                <a:ea typeface="Overpass" pitchFamily="34" charset="-122"/>
                <a:cs typeface="Overpass" pitchFamily="34" charset="-120"/>
              </a:rPr>
              <a:t> — the chunk must fit inside what the embedding model can handle (for example, 512 tokens).</a:t>
            </a:r>
            <a:endParaRPr lang="en-US" sz="1150" dirty="0"/>
          </a:p>
          <a:p>
            <a:pPr algn="l" marL="233680" indent="-233680">
              <a:lnSpc>
                <a:spcPct val="132000"/>
              </a:lnSpc>
              <a:buSzPct val="100000"/>
              <a:buFont typeface="+mj-lt"/>
              <a:buAutoNum type="arabicPeriod" startAt="3"/>
            </a:pPr>
            <a:r>
              <a:rPr lang="en-US" sz="1150" b="1" dirty="0">
                <a:solidFill>
                  <a:srgbClr val="E5E0DF"/>
                </a:solidFill>
                <a:latin typeface="Overpass Bold" pitchFamily="34" charset="0"/>
                <a:ea typeface="Overpass Bold" pitchFamily="34" charset="-122"/>
                <a:cs typeface="Overpass Bold" pitchFamily="34" charset="-120"/>
              </a:rPr>
              <a:t>Type of question</a:t>
            </a:r>
            <a:pPr algn="l" marL="233680" indent="-233680">
              <a:lnSpc>
                <a:spcPct val="132000"/>
              </a:lnSpc>
              <a:buSzPct val="100000"/>
              <a:buFont typeface="+mj-lt"/>
              <a:buAutoNum type="arabicPeriod" startAt="3"/>
            </a:pPr>
            <a:r>
              <a:rPr lang="en-US" sz="1150" dirty="0">
                <a:solidFill>
                  <a:srgbClr val="E5E0DF"/>
                </a:solidFill>
                <a:latin typeface="Overpass" pitchFamily="34" charset="0"/>
                <a:ea typeface="Overpass" pitchFamily="34" charset="-122"/>
                <a:cs typeface="Overpass" pitchFamily="34" charset="-120"/>
              </a:rPr>
              <a:t> — simple fact questions need small chunks. Complex questions need bigger chunks.</a:t>
            </a:r>
            <a:endParaRPr lang="en-US" sz="1150" dirty="0"/>
          </a:p>
          <a:p>
            <a:pPr algn="l" marL="233680" indent="-233680">
              <a:lnSpc>
                <a:spcPct val="132000"/>
              </a:lnSpc>
              <a:buSzPct val="100000"/>
              <a:buFont typeface="+mj-lt"/>
              <a:buAutoNum type="arabicPeriod" startAt="4"/>
            </a:pPr>
            <a:r>
              <a:rPr lang="en-US" sz="1150" b="1" dirty="0">
                <a:solidFill>
                  <a:srgbClr val="E5E0DF"/>
                </a:solidFill>
                <a:latin typeface="Overpass Bold" pitchFamily="34" charset="0"/>
                <a:ea typeface="Overpass Bold" pitchFamily="34" charset="-122"/>
                <a:cs typeface="Overpass Bold" pitchFamily="34" charset="-120"/>
              </a:rPr>
              <a:t>LLM's limit</a:t>
            </a:r>
            <a:pPr algn="l" marL="233680" indent="-233680">
              <a:lnSpc>
                <a:spcPct val="132000"/>
              </a:lnSpc>
              <a:buSzPct val="100000"/>
              <a:buFont typeface="+mj-lt"/>
              <a:buAutoNum type="arabicPeriod" startAt="4"/>
            </a:pPr>
            <a:r>
              <a:rPr lang="en-US" sz="1150" dirty="0">
                <a:solidFill>
                  <a:srgbClr val="E5E0DF"/>
                </a:solidFill>
                <a:latin typeface="Overpass" pitchFamily="34" charset="0"/>
                <a:ea typeface="Overpass" pitchFamily="34" charset="-122"/>
                <a:cs typeface="Overpass" pitchFamily="34" charset="-120"/>
              </a:rPr>
              <a:t> — how many chunks you send at once must fit inside the LLM's max input size.</a:t>
            </a:r>
            <a:endParaRPr lang="en-US" sz="1150" dirty="0"/>
          </a:p>
          <a:p>
            <a:pPr algn="l" marL="233680" indent="-233680">
              <a:lnSpc>
                <a:spcPct val="132000"/>
              </a:lnSpc>
              <a:buSzPct val="100000"/>
              <a:buFont typeface="+mj-lt"/>
              <a:buAutoNum type="arabicPeriod" startAt="5"/>
            </a:pPr>
            <a:r>
              <a:rPr lang="en-US" sz="1150" b="1" dirty="0">
                <a:solidFill>
                  <a:srgbClr val="E5E0DF"/>
                </a:solidFill>
                <a:latin typeface="Overpass Bold" pitchFamily="34" charset="0"/>
                <a:ea typeface="Overpass Bold" pitchFamily="34" charset="-122"/>
                <a:cs typeface="Overpass Bold" pitchFamily="34" charset="-120"/>
              </a:rPr>
              <a:t>Document structure</a:t>
            </a:r>
            <a:pPr algn="l" marL="233680" indent="-233680">
              <a:lnSpc>
                <a:spcPct val="132000"/>
              </a:lnSpc>
              <a:buSzPct val="100000"/>
              <a:buFont typeface="+mj-lt"/>
              <a:buAutoNum type="arabicPeriod" startAt="5"/>
            </a:pPr>
            <a:r>
              <a:rPr lang="en-US" sz="1150" dirty="0">
                <a:solidFill>
                  <a:srgbClr val="E5E0DF"/>
                </a:solidFill>
                <a:latin typeface="Overpass" pitchFamily="34" charset="0"/>
                <a:ea typeface="Overpass" pitchFamily="34" charset="-122"/>
                <a:cs typeface="Overpass" pitchFamily="34" charset="-120"/>
              </a:rPr>
              <a:t> — if the document already has clear parts (paragraphs, sections, Q&amp;A), follow those instead of picking a random number.</a:t>
            </a:r>
            <a:endParaRPr lang="en-US" sz="1150" dirty="0"/>
          </a:p>
          <a:p>
            <a:pPr algn="l" marL="233680" indent="-233680">
              <a:lnSpc>
                <a:spcPct val="132000"/>
              </a:lnSpc>
              <a:buSzPct val="100000"/>
              <a:buFont typeface="+mj-lt"/>
              <a:buAutoNum type="arabicPeriod" startAt="6"/>
            </a:pPr>
            <a:r>
              <a:rPr lang="en-US" sz="1150" b="1" dirty="0">
                <a:solidFill>
                  <a:srgbClr val="E5E0DF"/>
                </a:solidFill>
                <a:latin typeface="Overpass Bold" pitchFamily="34" charset="0"/>
                <a:ea typeface="Overpass Bold" pitchFamily="34" charset="-122"/>
                <a:cs typeface="Overpass Bold" pitchFamily="34" charset="-120"/>
              </a:rPr>
              <a:t>Testing</a:t>
            </a:r>
            <a:pPr algn="l" marL="233680" indent="-233680">
              <a:lnSpc>
                <a:spcPct val="132000"/>
              </a:lnSpc>
              <a:buSzPct val="100000"/>
              <a:buFont typeface="+mj-lt"/>
              <a:buAutoNum type="arabicPeriod" startAt="6"/>
            </a:pPr>
            <a:r>
              <a:rPr lang="en-US" sz="1150" dirty="0">
                <a:solidFill>
                  <a:srgbClr val="E5E0DF"/>
                </a:solidFill>
                <a:latin typeface="Overpass" pitchFamily="34" charset="0"/>
                <a:ea typeface="Overpass" pitchFamily="34" charset="-122"/>
                <a:cs typeface="Overpass" pitchFamily="34" charset="-120"/>
              </a:rPr>
              <a:t> — in the end, you try different sizes and see which one gives the best answers. Testing beats guessing.</a:t>
            </a:r>
            <a:endParaRPr lang="en-US" sz="1150" dirty="0"/>
          </a:p>
        </p:txBody>
      </p:sp>
      <p:sp>
        <p:nvSpPr>
          <p:cNvPr id="5" name="Text 3"/>
          <p:cNvSpPr/>
          <p:nvPr/>
        </p:nvSpPr>
        <p:spPr>
          <a:xfrm>
            <a:off x="523577" y="3557662"/>
            <a:ext cx="8096845" cy="1027286"/>
          </a:xfrm>
          <a:prstGeom prst="rect">
            <a:avLst/>
          </a:prstGeom>
          <a:noFill/>
          <a:ln/>
        </p:spPr>
        <p:txBody>
          <a:bodyPr wrap="square" lIns="0" tIns="0" rIns="0" bIns="0" rtlCol="0" anchor="t"/>
          <a:lstStyle/>
          <a:p>
            <a:pPr algn="l" indent="0" marL="0">
              <a:lnSpc>
                <a:spcPct val="132000"/>
              </a:lnSpc>
              <a:spcAft>
                <a:spcPts val="1250"/>
              </a:spcAft>
              <a:buNone/>
            </a:pPr>
            <a:r>
              <a:rPr lang="en-US" sz="1150" b="1" dirty="0">
                <a:solidFill>
                  <a:srgbClr val="E5E0DF"/>
                </a:solidFill>
                <a:latin typeface="Overpass Bold" pitchFamily="34" charset="0"/>
                <a:ea typeface="Overpass Bold" pitchFamily="34" charset="-122"/>
                <a:cs typeface="Overpass Bold" pitchFamily="34" charset="-120"/>
              </a:rPr>
              <a:t>There's no fixed "best" size — it depends on the document, the model's limit, the question type, and testing.</a:t>
            </a:r>
            <a:endParaRPr lang="en-US" sz="1150" dirty="0"/>
          </a:p>
          <a:p>
            <a:pPr algn="l" indent="0" marL="0">
              <a:lnSpc>
                <a:spcPct val="132000"/>
              </a:lnSpc>
              <a:spcAft>
                <a:spcPts val="3100"/>
              </a:spcAft>
              <a:buNone/>
            </a:pP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23577" y="441945"/>
            <a:ext cx="8096845" cy="398711"/>
          </a:xfrm>
          <a:prstGeom prst="rect">
            <a:avLst/>
          </a:prstGeom>
          <a:noFill/>
          <a:ln/>
        </p:spPr>
        <p:txBody>
          <a:bodyPr wrap="none" lIns="0" tIns="0" rIns="0" bIns="0" rtlCol="0" anchor="t"/>
          <a:lstStyle/>
          <a:p>
            <a:pPr algn="l" indent="0" marL="0">
              <a:lnSpc>
                <a:spcPct val="104000"/>
              </a:lnSpc>
              <a:buNone/>
            </a:pPr>
            <a:r>
              <a:rPr lang="en-US" sz="2500" b="1" dirty="0">
                <a:solidFill>
                  <a:srgbClr val="FFFFFF"/>
                </a:solidFill>
                <a:latin typeface="Overpass Bold" pitchFamily="34" charset="0"/>
                <a:ea typeface="Overpass Bold" pitchFamily="34" charset="-122"/>
                <a:cs typeface="Overpass Bold" pitchFamily="34" charset="-120"/>
              </a:rPr>
              <a:t>The Effect of Chunk Size</a:t>
            </a:r>
            <a:endParaRPr lang="en-US" sz="2500" dirty="0"/>
          </a:p>
        </p:txBody>
      </p:sp>
      <p:pic>
        <p:nvPicPr>
          <p:cNvPr id="3" name="Image 0" descr="preencoded.png">    </p:cNvPr>
          <p:cNvPicPr>
            <a:picLocks noChangeAspect="1"/>
          </p:cNvPicPr>
          <p:nvPr/>
        </p:nvPicPr>
        <p:blipFill>
          <a:blip r:embed="rId1"/>
          <a:stretch>
            <a:fillRect/>
          </a:stretch>
        </p:blipFill>
        <p:spPr>
          <a:xfrm>
            <a:off x="523577" y="1163092"/>
            <a:ext cx="3807023" cy="1948904"/>
          </a:xfrm>
          <a:prstGeom prst="rect">
            <a:avLst/>
          </a:prstGeom>
        </p:spPr>
      </p:pic>
      <p:sp>
        <p:nvSpPr>
          <p:cNvPr id="4" name="Text 1"/>
          <p:cNvSpPr/>
          <p:nvPr/>
        </p:nvSpPr>
        <p:spPr>
          <a:xfrm>
            <a:off x="523577" y="3250183"/>
            <a:ext cx="4677370" cy="206722"/>
          </a:xfrm>
          <a:prstGeom prst="rect">
            <a:avLst/>
          </a:prstGeom>
          <a:noFill/>
          <a:ln/>
        </p:spPr>
        <p:txBody>
          <a:bodyPr wrap="none" lIns="0" tIns="0" rIns="0" bIns="0" rtlCol="0" anchor="t"/>
          <a:lstStyle/>
          <a:p>
            <a:pPr algn="l" indent="0" marL="0">
              <a:lnSpc>
                <a:spcPct val="127000"/>
              </a:lnSpc>
              <a:buNone/>
            </a:pPr>
            <a:endParaRPr lang="en-US" sz="1050" dirty="0"/>
          </a:p>
        </p:txBody>
      </p:sp>
      <p:sp>
        <p:nvSpPr>
          <p:cNvPr id="5" name="Text 2"/>
          <p:cNvSpPr/>
          <p:nvPr/>
        </p:nvSpPr>
        <p:spPr>
          <a:xfrm>
            <a:off x="5079206" y="1147762"/>
            <a:ext cx="3545904" cy="199430"/>
          </a:xfrm>
          <a:prstGeom prst="rect">
            <a:avLst/>
          </a:prstGeom>
          <a:noFill/>
          <a:ln/>
        </p:spPr>
        <p:txBody>
          <a:bodyPr wrap="none" lIns="0" tIns="0" rIns="0" bIns="0" rtlCol="0" anchor="t"/>
          <a:lstStyle/>
          <a:p>
            <a:pPr algn="l" indent="0" marL="0">
              <a:lnSpc>
                <a:spcPct val="104000"/>
              </a:lnSpc>
              <a:buNone/>
            </a:pPr>
            <a:r>
              <a:rPr lang="en-US" sz="1250" b="1" dirty="0">
                <a:solidFill>
                  <a:srgbClr val="FFFFFF"/>
                </a:solidFill>
                <a:latin typeface="Overpass Bold" pitchFamily="34" charset="0"/>
                <a:ea typeface="Overpass Bold" pitchFamily="34" charset="-122"/>
                <a:cs typeface="Overpass Bold" pitchFamily="34" charset="-120"/>
              </a:rPr>
              <a:t>The Core Trade-off</a:t>
            </a:r>
            <a:endParaRPr lang="en-US" sz="1250" dirty="0"/>
          </a:p>
        </p:txBody>
      </p:sp>
      <p:sp>
        <p:nvSpPr>
          <p:cNvPr id="6" name="Text 3"/>
          <p:cNvSpPr/>
          <p:nvPr/>
        </p:nvSpPr>
        <p:spPr>
          <a:xfrm>
            <a:off x="5079206" y="1470050"/>
            <a:ext cx="3545904" cy="826889"/>
          </a:xfrm>
          <a:prstGeom prst="rect">
            <a:avLst/>
          </a:prstGeom>
          <a:noFill/>
          <a:ln/>
        </p:spPr>
        <p:txBody>
          <a:bodyPr wrap="square" lIns="0" tIns="0" rIns="0" bIns="0" rtlCol="0" anchor="t">
            <a:normAutofit/>
          </a:bodyPr>
          <a:lstStyle/>
          <a:p>
            <a:pPr algn="l" indent="0" marL="0">
              <a:lnSpc>
                <a:spcPct val="127000"/>
              </a:lnSpc>
              <a:buNone/>
            </a:pPr>
            <a:r>
              <a:rPr lang="en-US" sz="1050" dirty="0">
                <a:solidFill>
                  <a:srgbClr val="E5E0DF"/>
                </a:solidFill>
                <a:latin typeface="Overpass" pitchFamily="34" charset="0"/>
                <a:ea typeface="Overpass" pitchFamily="34" charset="-122"/>
                <a:cs typeface="Overpass" pitchFamily="34" charset="-120"/>
              </a:rPr>
              <a:t>As chunk size increases, </a:t>
            </a:r>
            <a:pPr algn="l" indent="0" marL="0">
              <a:lnSpc>
                <a:spcPct val="127000"/>
              </a:lnSpc>
              <a:buNone/>
            </a:pPr>
            <a:r>
              <a:rPr lang="en-US" sz="1050" b="1" dirty="0">
                <a:solidFill>
                  <a:srgbClr val="E5E0DF"/>
                </a:solidFill>
                <a:latin typeface="Overpass Bold" pitchFamily="34" charset="0"/>
                <a:ea typeface="Overpass Bold" pitchFamily="34" charset="-122"/>
                <a:cs typeface="Overpass Bold" pitchFamily="34" charset="-120"/>
              </a:rPr>
              <a:t>retrieval precision decreases</a:t>
            </a:r>
            <a:pPr algn="l" indent="0" marL="0">
              <a:lnSpc>
                <a:spcPct val="127000"/>
              </a:lnSpc>
              <a:buNone/>
            </a:pPr>
            <a:r>
              <a:rPr lang="en-US" sz="1050" dirty="0">
                <a:solidFill>
                  <a:srgbClr val="E5E0DF"/>
                </a:solidFill>
                <a:latin typeface="Overpass" pitchFamily="34" charset="0"/>
                <a:ea typeface="Overpass" pitchFamily="34" charset="-122"/>
                <a:cs typeface="Overpass" pitchFamily="34" charset="-120"/>
              </a:rPr>
              <a:t> while </a:t>
            </a:r>
            <a:pPr algn="l" indent="0" marL="0">
              <a:lnSpc>
                <a:spcPct val="127000"/>
              </a:lnSpc>
              <a:buNone/>
            </a:pPr>
            <a:r>
              <a:rPr lang="en-US" sz="1050" b="1" dirty="0">
                <a:solidFill>
                  <a:srgbClr val="E5E0DF"/>
                </a:solidFill>
                <a:latin typeface="Overpass Bold" pitchFamily="34" charset="0"/>
                <a:ea typeface="Overpass Bold" pitchFamily="34" charset="-122"/>
                <a:cs typeface="Overpass Bold" pitchFamily="34" charset="-120"/>
              </a:rPr>
              <a:t>context preservation increases</a:t>
            </a:r>
            <a:pPr algn="l" indent="0" marL="0">
              <a:lnSpc>
                <a:spcPct val="127000"/>
              </a:lnSpc>
              <a:buNone/>
            </a:pPr>
            <a:r>
              <a:rPr lang="en-US" sz="1050" dirty="0">
                <a:solidFill>
                  <a:srgbClr val="E5E0DF"/>
                </a:solidFill>
                <a:latin typeface="Overpass" pitchFamily="34" charset="0"/>
                <a:ea typeface="Overpass" pitchFamily="34" charset="-122"/>
                <a:cs typeface="Overpass" pitchFamily="34" charset="-120"/>
              </a:rPr>
              <a:t>. The optimal chunk size balances these competing forces for your specific use case.</a:t>
            </a:r>
            <a:endParaRPr lang="en-US" sz="1050" dirty="0"/>
          </a:p>
        </p:txBody>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577" y="3705671"/>
            <a:ext cx="3986957" cy="995809"/>
          </a:xfrm>
          <a:prstGeom prst="rect">
            <a:avLst/>
          </a:prstGeom>
        </p:spPr>
      </p:pic>
      <p:sp>
        <p:nvSpPr>
          <p:cNvPr id="8" name="Text 4"/>
          <p:cNvSpPr/>
          <p:nvPr/>
        </p:nvSpPr>
        <p:spPr>
          <a:xfrm>
            <a:off x="754410" y="3860304"/>
            <a:ext cx="3601492" cy="199430"/>
          </a:xfrm>
          <a:prstGeom prst="rect">
            <a:avLst/>
          </a:prstGeom>
          <a:noFill/>
          <a:ln/>
        </p:spPr>
        <p:txBody>
          <a:bodyPr wrap="none" lIns="0" tIns="0" rIns="0" bIns="0" rtlCol="0" anchor="t"/>
          <a:lstStyle/>
          <a:p>
            <a:pPr algn="l" indent="0" marL="0">
              <a:lnSpc>
                <a:spcPct val="104000"/>
              </a:lnSpc>
              <a:buNone/>
            </a:pPr>
            <a:r>
              <a:rPr lang="en-US" sz="1250" b="1" dirty="0">
                <a:solidFill>
                  <a:srgbClr val="E5E0DF"/>
                </a:solidFill>
                <a:latin typeface="Overpass Bold" pitchFamily="34" charset="0"/>
                <a:ea typeface="Overpass Bold" pitchFamily="34" charset="-122"/>
                <a:cs typeface="Overpass Bold" pitchFamily="34" charset="-120"/>
              </a:rPr>
              <a:t>Small Chunks</a:t>
            </a:r>
            <a:endParaRPr lang="en-US" sz="1250" dirty="0"/>
          </a:p>
        </p:txBody>
      </p:sp>
      <p:sp>
        <p:nvSpPr>
          <p:cNvPr id="9" name="Text 5"/>
          <p:cNvSpPr/>
          <p:nvPr/>
        </p:nvSpPr>
        <p:spPr>
          <a:xfrm>
            <a:off x="754410" y="4133404"/>
            <a:ext cx="3601492" cy="413445"/>
          </a:xfrm>
          <a:prstGeom prst="rect">
            <a:avLst/>
          </a:prstGeom>
          <a:noFill/>
          <a:ln/>
        </p:spPr>
        <p:txBody>
          <a:bodyPr wrap="square" lIns="0" tIns="0" rIns="0" bIns="0" rtlCol="0" anchor="t">
            <a:normAutofit/>
          </a:bodyPr>
          <a:lstStyle/>
          <a:p>
            <a:pPr algn="l" indent="0" marL="0">
              <a:lnSpc>
                <a:spcPct val="127000"/>
              </a:lnSpc>
              <a:buNone/>
            </a:pPr>
            <a:r>
              <a:rPr lang="en-US" sz="1050" dirty="0">
                <a:solidFill>
                  <a:srgbClr val="E5E0DF"/>
                </a:solidFill>
                <a:latin typeface="Overpass" pitchFamily="34" charset="0"/>
                <a:ea typeface="Overpass" pitchFamily="34" charset="-122"/>
                <a:cs typeface="Overpass" pitchFamily="34" charset="-120"/>
              </a:rPr>
              <a:t>High precision, low context — best for factual, pinpoint queries.</a:t>
            </a:r>
            <a:endParaRPr lang="en-US" sz="1050" dirty="0"/>
          </a:p>
        </p:txBody>
      </p:sp>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33392" y="3705671"/>
            <a:ext cx="3987031" cy="995809"/>
          </a:xfrm>
          <a:prstGeom prst="rect">
            <a:avLst/>
          </a:prstGeom>
        </p:spPr>
      </p:pic>
      <p:sp>
        <p:nvSpPr>
          <p:cNvPr id="11" name="Text 6"/>
          <p:cNvSpPr/>
          <p:nvPr/>
        </p:nvSpPr>
        <p:spPr>
          <a:xfrm>
            <a:off x="4864224" y="3860304"/>
            <a:ext cx="3601566" cy="199430"/>
          </a:xfrm>
          <a:prstGeom prst="rect">
            <a:avLst/>
          </a:prstGeom>
          <a:noFill/>
          <a:ln/>
        </p:spPr>
        <p:txBody>
          <a:bodyPr wrap="none" lIns="0" tIns="0" rIns="0" bIns="0" rtlCol="0" anchor="t"/>
          <a:lstStyle/>
          <a:p>
            <a:pPr algn="l" indent="0" marL="0">
              <a:lnSpc>
                <a:spcPct val="104000"/>
              </a:lnSpc>
              <a:buNone/>
            </a:pPr>
            <a:r>
              <a:rPr lang="en-US" sz="1250" b="1" dirty="0">
                <a:solidFill>
                  <a:srgbClr val="E5E0DF"/>
                </a:solidFill>
                <a:latin typeface="Overpass Bold" pitchFamily="34" charset="0"/>
                <a:ea typeface="Overpass Bold" pitchFamily="34" charset="-122"/>
                <a:cs typeface="Overpass Bold" pitchFamily="34" charset="-120"/>
              </a:rPr>
              <a:t>Large Chunks</a:t>
            </a:r>
            <a:endParaRPr lang="en-US" sz="1250" dirty="0"/>
          </a:p>
        </p:txBody>
      </p:sp>
      <p:sp>
        <p:nvSpPr>
          <p:cNvPr id="12" name="Text 7"/>
          <p:cNvSpPr/>
          <p:nvPr/>
        </p:nvSpPr>
        <p:spPr>
          <a:xfrm>
            <a:off x="4864224" y="4133404"/>
            <a:ext cx="3601566" cy="413445"/>
          </a:xfrm>
          <a:prstGeom prst="rect">
            <a:avLst/>
          </a:prstGeom>
          <a:noFill/>
          <a:ln/>
        </p:spPr>
        <p:txBody>
          <a:bodyPr wrap="square" lIns="0" tIns="0" rIns="0" bIns="0" rtlCol="0" anchor="t">
            <a:normAutofit/>
          </a:bodyPr>
          <a:lstStyle/>
          <a:p>
            <a:pPr algn="l" indent="0" marL="0">
              <a:lnSpc>
                <a:spcPct val="127000"/>
              </a:lnSpc>
              <a:buNone/>
            </a:pPr>
            <a:r>
              <a:rPr lang="en-US" sz="1050" dirty="0">
                <a:solidFill>
                  <a:srgbClr val="E5E0DF"/>
                </a:solidFill>
                <a:latin typeface="Overpass" pitchFamily="34" charset="0"/>
                <a:ea typeface="Overpass" pitchFamily="34" charset="-122"/>
                <a:cs typeface="Overpass" pitchFamily="34" charset="-120"/>
              </a:rPr>
              <a:t>High context, low precision — best for complex, multi-hop reasoning.</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52577" y="451247"/>
            <a:ext cx="4667845" cy="288801"/>
          </a:xfrm>
          <a:prstGeom prst="rect">
            <a:avLst/>
          </a:prstGeom>
          <a:noFill/>
          <a:ln/>
        </p:spPr>
        <p:txBody>
          <a:bodyPr wrap="none" lIns="0" tIns="0" rIns="0" bIns="0" rtlCol="0" anchor="t"/>
          <a:lstStyle/>
          <a:p>
            <a:pPr algn="l" indent="0" marL="0">
              <a:lnSpc>
                <a:spcPct val="104000"/>
              </a:lnSpc>
              <a:buNone/>
            </a:pPr>
            <a:r>
              <a:rPr lang="en-US" sz="1800" b="1" dirty="0">
                <a:solidFill>
                  <a:srgbClr val="FFFFFF"/>
                </a:solidFill>
                <a:latin typeface="Overpass Bold" pitchFamily="34" charset="0"/>
                <a:ea typeface="Overpass Bold" pitchFamily="34" charset="-122"/>
                <a:cs typeface="Overpass Bold" pitchFamily="34" charset="-120"/>
              </a:rPr>
              <a:t>Key Research Insights</a:t>
            </a:r>
            <a:endParaRPr lang="en-US" sz="18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52577" y="836637"/>
            <a:ext cx="4667845" cy="948110"/>
          </a:xfrm>
          <a:prstGeom prst="rect">
            <a:avLst/>
          </a:prstGeom>
        </p:spPr>
      </p:pic>
      <p:sp>
        <p:nvSpPr>
          <p:cNvPr id="5" name="Text 1"/>
          <p:cNvSpPr/>
          <p:nvPr/>
        </p:nvSpPr>
        <p:spPr>
          <a:xfrm>
            <a:off x="6227564" y="910233"/>
            <a:ext cx="117797" cy="147265"/>
          </a:xfrm>
          <a:prstGeom prst="rect">
            <a:avLst/>
          </a:prstGeom>
          <a:noFill/>
          <a:ln/>
        </p:spPr>
        <p:txBody>
          <a:bodyPr wrap="none" lIns="0" tIns="0" rIns="0" bIns="0" rtlCol="0" anchor="ctr"/>
          <a:lstStyle/>
          <a:p>
            <a:pPr algn="ctr" indent="0" marL="0">
              <a:lnSpc>
                <a:spcPct val="100000"/>
              </a:lnSpc>
              <a:buNone/>
            </a:pPr>
            <a:r>
              <a:rPr lang="en-US" sz="900" b="1" dirty="0">
                <a:solidFill>
                  <a:srgbClr val="FFFFFF"/>
                </a:solidFill>
                <a:latin typeface="Overpass Bold" pitchFamily="34" charset="0"/>
                <a:ea typeface="Overpass Bold" pitchFamily="34" charset="-122"/>
                <a:cs typeface="Overpass Bold" pitchFamily="34" charset="-120"/>
              </a:rPr>
              <a:t>1</a:t>
            </a:r>
            <a:endParaRPr lang="en-US" sz="900" dirty="0"/>
          </a:p>
        </p:txBody>
      </p:sp>
      <p:sp>
        <p:nvSpPr>
          <p:cNvPr id="6" name="Text 2"/>
          <p:cNvSpPr/>
          <p:nvPr/>
        </p:nvSpPr>
        <p:spPr>
          <a:xfrm>
            <a:off x="4065017" y="1229320"/>
            <a:ext cx="4442966" cy="144363"/>
          </a:xfrm>
          <a:prstGeom prst="rect">
            <a:avLst/>
          </a:prstGeom>
          <a:noFill/>
          <a:ln/>
        </p:spPr>
        <p:txBody>
          <a:bodyPr wrap="none" lIns="0" tIns="0" rIns="0" bIns="0" rtlCol="0" anchor="t"/>
          <a:lstStyle/>
          <a:p>
            <a:pPr algn="l" indent="0" marL="0">
              <a:lnSpc>
                <a:spcPct val="104000"/>
              </a:lnSpc>
              <a:buNone/>
            </a:pPr>
            <a:r>
              <a:rPr lang="en-US" sz="900" b="1" dirty="0">
                <a:solidFill>
                  <a:srgbClr val="E5E0DF"/>
                </a:solidFill>
                <a:latin typeface="Overpass Bold" pitchFamily="34" charset="0"/>
                <a:ea typeface="Overpass Bold" pitchFamily="34" charset="-122"/>
                <a:cs typeface="Overpass Bold" pitchFamily="34" charset="-120"/>
              </a:rPr>
              <a:t>Chunk Size Isn't Everything</a:t>
            </a:r>
            <a:endParaRPr lang="en-US" sz="900" dirty="0"/>
          </a:p>
        </p:txBody>
      </p:sp>
      <p:sp>
        <p:nvSpPr>
          <p:cNvPr id="7" name="Text 3"/>
          <p:cNvSpPr/>
          <p:nvPr/>
        </p:nvSpPr>
        <p:spPr>
          <a:xfrm>
            <a:off x="4065017" y="1412304"/>
            <a:ext cx="4442966" cy="260003"/>
          </a:xfrm>
          <a:prstGeom prst="rect">
            <a:avLst/>
          </a:prstGeom>
          <a:noFill/>
          <a:ln/>
        </p:spPr>
        <p:txBody>
          <a:bodyPr wrap="square" lIns="0" tIns="0" rIns="0" bIns="0" rtlCol="0" anchor="t">
            <a:normAutofit/>
          </a:bodyPr>
          <a:lstStyle/>
          <a:p>
            <a:pPr algn="l" indent="0" marL="0">
              <a:lnSpc>
                <a:spcPct val="110000"/>
              </a:lnSpc>
              <a:buNone/>
            </a:pPr>
            <a:r>
              <a:rPr lang="en-US" sz="750" dirty="0">
                <a:solidFill>
                  <a:srgbClr val="E5E0DF"/>
                </a:solidFill>
                <a:latin typeface="Overpass" pitchFamily="34" charset="0"/>
                <a:ea typeface="Overpass" pitchFamily="34" charset="-122"/>
                <a:cs typeface="Overpass" pitchFamily="34" charset="-120"/>
              </a:rPr>
              <a:t>Embedding model choice and sensitivity significantly impact retrieval quality — sometimes more than chunk size alone.</a:t>
            </a:r>
            <a:endParaRPr lang="en-US" sz="75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52577" y="1849115"/>
            <a:ext cx="4667845" cy="948110"/>
          </a:xfrm>
          <a:prstGeom prst="rect">
            <a:avLst/>
          </a:prstGeom>
        </p:spPr>
      </p:pic>
      <p:sp>
        <p:nvSpPr>
          <p:cNvPr id="9" name="Text 4"/>
          <p:cNvSpPr/>
          <p:nvPr/>
        </p:nvSpPr>
        <p:spPr>
          <a:xfrm>
            <a:off x="6227564" y="1922711"/>
            <a:ext cx="117797" cy="147265"/>
          </a:xfrm>
          <a:prstGeom prst="rect">
            <a:avLst/>
          </a:prstGeom>
          <a:noFill/>
          <a:ln/>
        </p:spPr>
        <p:txBody>
          <a:bodyPr wrap="none" lIns="0" tIns="0" rIns="0" bIns="0" rtlCol="0" anchor="ctr"/>
          <a:lstStyle/>
          <a:p>
            <a:pPr algn="ctr" indent="0" marL="0">
              <a:lnSpc>
                <a:spcPct val="100000"/>
              </a:lnSpc>
              <a:buNone/>
            </a:pPr>
            <a:r>
              <a:rPr lang="en-US" sz="900" b="1" dirty="0">
                <a:solidFill>
                  <a:srgbClr val="FFFFFF"/>
                </a:solidFill>
                <a:latin typeface="Overpass Bold" pitchFamily="34" charset="0"/>
                <a:ea typeface="Overpass Bold" pitchFamily="34" charset="-122"/>
                <a:cs typeface="Overpass Bold" pitchFamily="34" charset="-120"/>
              </a:rPr>
              <a:t>2</a:t>
            </a:r>
            <a:endParaRPr lang="en-US" sz="900" dirty="0"/>
          </a:p>
        </p:txBody>
      </p:sp>
      <p:sp>
        <p:nvSpPr>
          <p:cNvPr id="10" name="Text 5"/>
          <p:cNvSpPr/>
          <p:nvPr/>
        </p:nvSpPr>
        <p:spPr>
          <a:xfrm>
            <a:off x="4065017" y="2241798"/>
            <a:ext cx="4442966" cy="144363"/>
          </a:xfrm>
          <a:prstGeom prst="rect">
            <a:avLst/>
          </a:prstGeom>
          <a:noFill/>
          <a:ln/>
        </p:spPr>
        <p:txBody>
          <a:bodyPr wrap="none" lIns="0" tIns="0" rIns="0" bIns="0" rtlCol="0" anchor="t"/>
          <a:lstStyle/>
          <a:p>
            <a:pPr algn="l" indent="0" marL="0">
              <a:lnSpc>
                <a:spcPct val="104000"/>
              </a:lnSpc>
              <a:buNone/>
            </a:pPr>
            <a:r>
              <a:rPr lang="en-US" sz="900" b="1" dirty="0">
                <a:solidFill>
                  <a:srgbClr val="E5E0DF"/>
                </a:solidFill>
                <a:latin typeface="Overpass Bold" pitchFamily="34" charset="0"/>
                <a:ea typeface="Overpass Bold" pitchFamily="34" charset="-122"/>
                <a:cs typeface="Overpass Bold" pitchFamily="34" charset="-120"/>
              </a:rPr>
              <a:t>Cross-File Context Matters</a:t>
            </a:r>
            <a:endParaRPr lang="en-US" sz="900" dirty="0"/>
          </a:p>
        </p:txBody>
      </p:sp>
      <p:sp>
        <p:nvSpPr>
          <p:cNvPr id="11" name="Text 6"/>
          <p:cNvSpPr/>
          <p:nvPr/>
        </p:nvSpPr>
        <p:spPr>
          <a:xfrm>
            <a:off x="4065017" y="2424782"/>
            <a:ext cx="4442966" cy="260003"/>
          </a:xfrm>
          <a:prstGeom prst="rect">
            <a:avLst/>
          </a:prstGeom>
          <a:noFill/>
          <a:ln/>
        </p:spPr>
        <p:txBody>
          <a:bodyPr wrap="square" lIns="0" tIns="0" rIns="0" bIns="0" rtlCol="0" anchor="t">
            <a:normAutofit/>
          </a:bodyPr>
          <a:lstStyle/>
          <a:p>
            <a:pPr algn="l" indent="0" marL="0">
              <a:lnSpc>
                <a:spcPct val="110000"/>
              </a:lnSpc>
              <a:buNone/>
            </a:pPr>
            <a:r>
              <a:rPr lang="en-US" sz="750" dirty="0">
                <a:solidFill>
                  <a:srgbClr val="E5E0DF"/>
                </a:solidFill>
                <a:latin typeface="Overpass" pitchFamily="34" charset="0"/>
                <a:ea typeface="Overpass" pitchFamily="34" charset="-122"/>
                <a:cs typeface="Overpass" pitchFamily="34" charset="-120"/>
              </a:rPr>
              <a:t>When answers span multiple documents, chunk boundaries and overlap strategy become critical for complete retrieval.</a:t>
            </a:r>
            <a:endParaRPr lang="en-US" sz="750" dirty="0"/>
          </a:p>
        </p:txBody>
      </p:sp>
      <p:pic>
        <p:nvPicPr>
          <p:cNvPr id="12"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52577" y="2861593"/>
            <a:ext cx="4667845" cy="818108"/>
          </a:xfrm>
          <a:prstGeom prst="rect">
            <a:avLst/>
          </a:prstGeom>
        </p:spPr>
      </p:pic>
      <p:sp>
        <p:nvSpPr>
          <p:cNvPr id="13" name="Text 7"/>
          <p:cNvSpPr/>
          <p:nvPr/>
        </p:nvSpPr>
        <p:spPr>
          <a:xfrm>
            <a:off x="6227564" y="2935188"/>
            <a:ext cx="117797" cy="147265"/>
          </a:xfrm>
          <a:prstGeom prst="rect">
            <a:avLst/>
          </a:prstGeom>
          <a:noFill/>
          <a:ln/>
        </p:spPr>
        <p:txBody>
          <a:bodyPr wrap="none" lIns="0" tIns="0" rIns="0" bIns="0" rtlCol="0" anchor="ctr"/>
          <a:lstStyle/>
          <a:p>
            <a:pPr algn="ctr" indent="0" marL="0">
              <a:lnSpc>
                <a:spcPct val="100000"/>
              </a:lnSpc>
              <a:buNone/>
            </a:pPr>
            <a:r>
              <a:rPr lang="en-US" sz="900" b="1" dirty="0">
                <a:solidFill>
                  <a:srgbClr val="FFFFFF"/>
                </a:solidFill>
                <a:latin typeface="Overpass Bold" pitchFamily="34" charset="0"/>
                <a:ea typeface="Overpass Bold" pitchFamily="34" charset="-122"/>
                <a:cs typeface="Overpass Bold" pitchFamily="34" charset="-120"/>
              </a:rPr>
              <a:t>3</a:t>
            </a:r>
            <a:endParaRPr lang="en-US" sz="900" dirty="0"/>
          </a:p>
        </p:txBody>
      </p:sp>
      <p:sp>
        <p:nvSpPr>
          <p:cNvPr id="14" name="Text 8"/>
          <p:cNvSpPr/>
          <p:nvPr/>
        </p:nvSpPr>
        <p:spPr>
          <a:xfrm>
            <a:off x="4065017" y="3254276"/>
            <a:ext cx="4442966" cy="144363"/>
          </a:xfrm>
          <a:prstGeom prst="rect">
            <a:avLst/>
          </a:prstGeom>
          <a:noFill/>
          <a:ln/>
        </p:spPr>
        <p:txBody>
          <a:bodyPr wrap="none" lIns="0" tIns="0" rIns="0" bIns="0" rtlCol="0" anchor="t"/>
          <a:lstStyle/>
          <a:p>
            <a:pPr algn="l" indent="0" marL="0">
              <a:lnSpc>
                <a:spcPct val="104000"/>
              </a:lnSpc>
              <a:buNone/>
            </a:pPr>
            <a:r>
              <a:rPr lang="en-US" sz="900" b="1" dirty="0">
                <a:solidFill>
                  <a:srgbClr val="E5E0DF"/>
                </a:solidFill>
                <a:latin typeface="Overpass Bold" pitchFamily="34" charset="0"/>
                <a:ea typeface="Overpass Bold" pitchFamily="34" charset="-122"/>
                <a:cs typeface="Overpass Bold" pitchFamily="34" charset="-120"/>
              </a:rPr>
              <a:t>No Universal Best Size</a:t>
            </a:r>
            <a:endParaRPr lang="en-US" sz="900" dirty="0"/>
          </a:p>
        </p:txBody>
      </p:sp>
      <p:sp>
        <p:nvSpPr>
          <p:cNvPr id="15" name="Text 9"/>
          <p:cNvSpPr/>
          <p:nvPr/>
        </p:nvSpPr>
        <p:spPr>
          <a:xfrm>
            <a:off x="4065017" y="3437260"/>
            <a:ext cx="4442966" cy="130001"/>
          </a:xfrm>
          <a:prstGeom prst="rect">
            <a:avLst/>
          </a:prstGeom>
          <a:noFill/>
          <a:ln/>
        </p:spPr>
        <p:txBody>
          <a:bodyPr wrap="none" lIns="0" tIns="0" rIns="0" bIns="0" rtlCol="0" anchor="t"/>
          <a:lstStyle/>
          <a:p>
            <a:pPr algn="l" indent="0" marL="0">
              <a:lnSpc>
                <a:spcPct val="110000"/>
              </a:lnSpc>
              <a:buNone/>
            </a:pPr>
            <a:r>
              <a:rPr lang="en-US" sz="750" dirty="0">
                <a:solidFill>
                  <a:srgbClr val="E5E0DF"/>
                </a:solidFill>
                <a:latin typeface="Overpass" pitchFamily="34" charset="0"/>
                <a:ea typeface="Overpass" pitchFamily="34" charset="-122"/>
                <a:cs typeface="Overpass" pitchFamily="34" charset="-120"/>
              </a:rPr>
              <a:t>Optimal chunk size depends on dataset domain, query complexity, and the embedding model in use.</a:t>
            </a:r>
            <a:endParaRPr lang="en-US" sz="750" dirty="0"/>
          </a:p>
        </p:txBody>
      </p:sp>
      <p:pic>
        <p:nvPicPr>
          <p:cNvPr id="16"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52577" y="3744069"/>
            <a:ext cx="4667845" cy="948110"/>
          </a:xfrm>
          <a:prstGeom prst="rect">
            <a:avLst/>
          </a:prstGeom>
        </p:spPr>
      </p:pic>
      <p:sp>
        <p:nvSpPr>
          <p:cNvPr id="17" name="Text 10"/>
          <p:cNvSpPr/>
          <p:nvPr/>
        </p:nvSpPr>
        <p:spPr>
          <a:xfrm>
            <a:off x="6227564" y="3817665"/>
            <a:ext cx="117797" cy="147265"/>
          </a:xfrm>
          <a:prstGeom prst="rect">
            <a:avLst/>
          </a:prstGeom>
          <a:noFill/>
          <a:ln/>
        </p:spPr>
        <p:txBody>
          <a:bodyPr wrap="none" lIns="0" tIns="0" rIns="0" bIns="0" rtlCol="0" anchor="ctr"/>
          <a:lstStyle/>
          <a:p>
            <a:pPr algn="ctr" indent="0" marL="0">
              <a:lnSpc>
                <a:spcPct val="100000"/>
              </a:lnSpc>
              <a:buNone/>
            </a:pPr>
            <a:r>
              <a:rPr lang="en-US" sz="900" b="1" dirty="0">
                <a:solidFill>
                  <a:srgbClr val="FFFFFF"/>
                </a:solidFill>
                <a:latin typeface="Overpass Bold" pitchFamily="34" charset="0"/>
                <a:ea typeface="Overpass Bold" pitchFamily="34" charset="-122"/>
                <a:cs typeface="Overpass Bold" pitchFamily="34" charset="-120"/>
              </a:rPr>
              <a:t>4</a:t>
            </a:r>
            <a:endParaRPr lang="en-US" sz="900" dirty="0"/>
          </a:p>
        </p:txBody>
      </p:sp>
      <p:sp>
        <p:nvSpPr>
          <p:cNvPr id="18" name="Text 11"/>
          <p:cNvSpPr/>
          <p:nvPr/>
        </p:nvSpPr>
        <p:spPr>
          <a:xfrm>
            <a:off x="4065017" y="4136752"/>
            <a:ext cx="4442966" cy="144363"/>
          </a:xfrm>
          <a:prstGeom prst="rect">
            <a:avLst/>
          </a:prstGeom>
          <a:noFill/>
          <a:ln/>
        </p:spPr>
        <p:txBody>
          <a:bodyPr wrap="none" lIns="0" tIns="0" rIns="0" bIns="0" rtlCol="0" anchor="t"/>
          <a:lstStyle/>
          <a:p>
            <a:pPr algn="l" indent="0" marL="0">
              <a:lnSpc>
                <a:spcPct val="104000"/>
              </a:lnSpc>
              <a:buNone/>
            </a:pPr>
            <a:r>
              <a:rPr lang="en-US" sz="900" b="1" dirty="0">
                <a:solidFill>
                  <a:srgbClr val="E5E0DF"/>
                </a:solidFill>
                <a:latin typeface="Overpass Bold" pitchFamily="34" charset="0"/>
                <a:ea typeface="Overpass Bold" pitchFamily="34" charset="-122"/>
                <a:cs typeface="Overpass Bold" pitchFamily="34" charset="-120"/>
              </a:rPr>
              <a:t>Strategy Drives Quality</a:t>
            </a:r>
            <a:endParaRPr lang="en-US" sz="900" dirty="0"/>
          </a:p>
        </p:txBody>
      </p:sp>
      <p:sp>
        <p:nvSpPr>
          <p:cNvPr id="19" name="Text 12"/>
          <p:cNvSpPr/>
          <p:nvPr/>
        </p:nvSpPr>
        <p:spPr>
          <a:xfrm>
            <a:off x="4065017" y="4319736"/>
            <a:ext cx="4442966" cy="260003"/>
          </a:xfrm>
          <a:prstGeom prst="rect">
            <a:avLst/>
          </a:prstGeom>
          <a:noFill/>
          <a:ln/>
        </p:spPr>
        <p:txBody>
          <a:bodyPr wrap="square" lIns="0" tIns="0" rIns="0" bIns="0" rtlCol="0" anchor="t">
            <a:normAutofit/>
          </a:bodyPr>
          <a:lstStyle/>
          <a:p>
            <a:pPr algn="l" indent="0" marL="0">
              <a:lnSpc>
                <a:spcPct val="110000"/>
              </a:lnSpc>
              <a:buNone/>
            </a:pPr>
            <a:r>
              <a:rPr lang="en-US" sz="750" dirty="0">
                <a:solidFill>
                  <a:srgbClr val="E5E0DF"/>
                </a:solidFill>
                <a:latin typeface="Overpass" pitchFamily="34" charset="0"/>
                <a:ea typeface="Overpass" pitchFamily="34" charset="-122"/>
                <a:cs typeface="Overpass" pitchFamily="34" charset="-120"/>
              </a:rPr>
              <a:t>The chunking strategy directly determines RAG system quality — invest in thoughtful preprocessing design.</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23577" y="2082403"/>
            <a:ext cx="8096845" cy="440010"/>
          </a:xfrm>
          <a:prstGeom prst="rect">
            <a:avLst/>
          </a:prstGeom>
          <a:noFill/>
          <a:ln/>
        </p:spPr>
        <p:txBody>
          <a:bodyPr wrap="none" lIns="0" tIns="0" rIns="0" bIns="0" rtlCol="0" anchor="t"/>
          <a:lstStyle/>
          <a:p>
            <a:pPr algn="ctr" indent="0" marL="0">
              <a:lnSpc>
                <a:spcPct val="104000"/>
              </a:lnSpc>
              <a:buNone/>
            </a:pPr>
            <a:r>
              <a:rPr lang="en-US" sz="2750" b="1" dirty="0">
                <a:solidFill>
                  <a:srgbClr val="FFFFFF"/>
                </a:solidFill>
                <a:latin typeface="Overpass Bold" pitchFamily="34" charset="0"/>
                <a:ea typeface="Overpass Bold" pitchFamily="34" charset="-122"/>
                <a:cs typeface="Overpass Bold" pitchFamily="34" charset="-120"/>
              </a:rPr>
              <a:t>  THANK YOU </a:t>
            </a:r>
            <a:endParaRPr lang="en-US" sz="2750" dirty="0"/>
          </a:p>
        </p:txBody>
      </p:sp>
      <p:sp>
        <p:nvSpPr>
          <p:cNvPr id="3" name="Text 1"/>
          <p:cNvSpPr/>
          <p:nvPr/>
        </p:nvSpPr>
        <p:spPr>
          <a:xfrm>
            <a:off x="523577" y="2821632"/>
            <a:ext cx="8554045" cy="239390"/>
          </a:xfrm>
          <a:prstGeom prst="rect">
            <a:avLst/>
          </a:prstGeom>
          <a:noFill/>
          <a:ln/>
        </p:spPr>
        <p:txBody>
          <a:bodyPr wrap="none" lIns="0" tIns="0" rIns="0" bIns="0" rtlCol="0" anchor="t"/>
          <a:lstStyle/>
          <a:p>
            <a:pPr algn="l" indent="0" marL="0">
              <a:lnSpc>
                <a:spcPct val="133000"/>
              </a:lnSpc>
              <a:buNone/>
            </a:pP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2026-07-15T22:41:45Z</dcterms:created>
  <dcterms:modified xsi:type="dcterms:W3CDTF">2026-07-15T22:41:45Z</dcterms:modified>
</cp:coreProperties>
</file>