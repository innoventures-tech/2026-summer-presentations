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9" r:id="rId10"/>
    <p:sldId id="262" r:id="rId11"/>
    <p:sldId id="263" r:id="rId12"/>
    <p:sldId id="264" r:id="rId13"/>
    <p:sldId id="265" r:id="rId14"/>
    <p:sldId id="266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63B"/>
          </a:solidFill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415A77">
              <a:alpha val="4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0789920" y="4114800"/>
            <a:ext cx="2926080" cy="2926080"/>
          </a:xfrm>
          <a:prstGeom prst="ellipse">
            <a:avLst/>
          </a:prstGeom>
          <a:solidFill>
            <a:srgbClr val="FFB703">
              <a:alpha val="2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BARET TESPİTİ PROJESİ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9601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ViT ve YOLO Karşılaştırması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7772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Accuracy, işleme zamanı ve kullanım alanı açısından iki nesne tespit yaklaşımının incelenmesi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1188720" cy="0"/>
          </a:xfrm>
          <a:prstGeom prst="line">
            <a:avLst/>
          </a:prstGeom>
          <a:noFill/>
          <a:ln w="38100">
            <a:solidFill>
              <a:srgbClr val="FFB70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6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 •  RT-DETR (ViT)  •  Şantiye Baret Tespiti Vaka Analizi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Önce Büyük Resmi Görelim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Bilgisayarlı görü (Computer Vision), birden çok alt görevden oluşur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37490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 Classification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21992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221992"/>
            <a:ext cx="37490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0" y="2221992"/>
            <a:ext cx="137160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 BURADASIN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843784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843784"/>
            <a:ext cx="37490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Segmentation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465576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465576"/>
            <a:ext cx="37490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Instance Segmentation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87368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087368"/>
            <a:ext cx="37490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Pose Estimation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709160"/>
            <a:ext cx="37490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OCR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5330952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330952"/>
            <a:ext cx="37490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49240" y="1600200"/>
            <a:ext cx="6217920" cy="4480560"/>
          </a:xfrm>
          <a:prstGeom prst="roundRect">
            <a:avLst>
              <a:gd name="adj" fmla="val 2041"/>
            </a:avLst>
          </a:prstGeom>
          <a:solidFill>
            <a:srgbClr val="1B263B"/>
          </a:solidFill>
        </p:spPr>
      </p:sp>
      <p:sp>
        <p:nvSpPr>
          <p:cNvPr id="20" name="Text 18"/>
          <p:cNvSpPr/>
          <p:nvPr/>
        </p:nvSpPr>
        <p:spPr>
          <a:xfrm>
            <a:off x="5715000" y="1874520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70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Object Detection Nedir?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715000" y="23774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Bilgisayarın bir görüntüde: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15000" y="2788920"/>
            <a:ext cx="457200" cy="457200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23" name="Text 21"/>
          <p:cNvSpPr/>
          <p:nvPr/>
        </p:nvSpPr>
        <p:spPr>
          <a:xfrm>
            <a:off x="5715000" y="2788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278892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Nesnenin NE olduğunu (sınıf)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715000" y="3383280"/>
            <a:ext cx="457200" cy="457200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26" name="Text 24"/>
          <p:cNvSpPr/>
          <p:nvPr/>
        </p:nvSpPr>
        <p:spPr>
          <a:xfrm>
            <a:off x="5715000" y="33832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55080" y="3383280"/>
            <a:ext cx="49377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NEREDE olduğunu (konum / kutu)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15000" y="39776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7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aynı anda söylemesidir.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15000" y="4526280"/>
            <a:ext cx="5486400" cy="0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466344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 modelleri gerçekleştiren iki büyük aile var: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15000" y="5029200"/>
            <a:ext cx="2651760" cy="502920"/>
          </a:xfrm>
          <a:prstGeom prst="rect">
            <a:avLst/>
          </a:prstGeom>
          <a:solidFill>
            <a:srgbClr val="FFB70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Tabanlı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49640" y="5029200"/>
            <a:ext cx="2834640" cy="502920"/>
          </a:xfrm>
          <a:prstGeom prst="rect">
            <a:avLst/>
          </a:prstGeom>
          <a:solidFill>
            <a:srgbClr val="415A77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 Tabanlı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İki Büyük Model Ailesi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Nesne tespiti yapan modeller, görüntüyü işleme biçimlerine göre ikiye ayrılır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83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FFB703"/>
          </a:solidFill>
        </p:spPr>
      </p:sp>
      <p:sp>
        <p:nvSpPr>
          <p:cNvPr id="6" name="Text 4"/>
          <p:cNvSpPr/>
          <p:nvPr/>
        </p:nvSpPr>
        <p:spPr>
          <a:xfrm>
            <a:off x="868680" y="178308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TABANLI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846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Görüntüyü evrişim (convolution) filtreleriyle katman katman işler.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09067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9" name="Text 7"/>
          <p:cNvSpPr/>
          <p:nvPr/>
        </p:nvSpPr>
        <p:spPr>
          <a:xfrm>
            <a:off x="1143000" y="297180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R-CNN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45643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11" name="Text 9"/>
          <p:cNvSpPr/>
          <p:nvPr/>
        </p:nvSpPr>
        <p:spPr>
          <a:xfrm>
            <a:off x="1143000" y="333756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R-CNN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82219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13" name="Text 11"/>
          <p:cNvSpPr/>
          <p:nvPr/>
        </p:nvSpPr>
        <p:spPr>
          <a:xfrm>
            <a:off x="1143000" y="370332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R-CNN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18795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15" name="Text 13"/>
          <p:cNvSpPr/>
          <p:nvPr/>
        </p:nvSpPr>
        <p:spPr>
          <a:xfrm>
            <a:off x="1143000" y="406908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55371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17" name="Text 15"/>
          <p:cNvSpPr/>
          <p:nvPr/>
        </p:nvSpPr>
        <p:spPr>
          <a:xfrm>
            <a:off x="1143000" y="443484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91947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19" name="Text 17"/>
          <p:cNvSpPr/>
          <p:nvPr/>
        </p:nvSpPr>
        <p:spPr>
          <a:xfrm>
            <a:off x="1143000" y="480060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RetinaNet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528523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21" name="Text 19"/>
          <p:cNvSpPr/>
          <p:nvPr/>
        </p:nvSpPr>
        <p:spPr>
          <a:xfrm>
            <a:off x="1143000" y="516636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EfficientDet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150876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B263B"/>
          </a:solidFill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1783080"/>
            <a:ext cx="3200400" cy="457200"/>
          </a:xfrm>
          <a:prstGeom prst="roundRect">
            <a:avLst>
              <a:gd name="adj" fmla="val 50000"/>
            </a:avLst>
          </a:prstGeom>
          <a:solidFill>
            <a:srgbClr val="415A77"/>
          </a:solidFill>
        </p:spPr>
      </p:sp>
      <p:sp>
        <p:nvSpPr>
          <p:cNvPr id="24" name="Text 22"/>
          <p:cNvSpPr/>
          <p:nvPr/>
        </p:nvSpPr>
        <p:spPr>
          <a:xfrm>
            <a:off x="6537960" y="178308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 TABANLI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2377440"/>
            <a:ext cx="4846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Görüntüyü küçük parçalara (patch/token) bölüp aralarındaki ilişkiyi öğrenir. Burada ViT ortaya çıkar.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309067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27" name="Text 25"/>
          <p:cNvSpPr/>
          <p:nvPr/>
        </p:nvSpPr>
        <p:spPr>
          <a:xfrm>
            <a:off x="6812280" y="297180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DETR</a:t>
            </a:r>
            <a:r>
              <a:rPr lang="tr-TR" alt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(detection transformer)</a:t>
            </a:r>
            <a:endParaRPr lang="tr-TR" altLang="en-US" sz="14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83680" y="345643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29" name="Text 27"/>
          <p:cNvSpPr/>
          <p:nvPr/>
        </p:nvSpPr>
        <p:spPr>
          <a:xfrm>
            <a:off x="6812280" y="333756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Deformable DETR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583680" y="382219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31" name="Text 29"/>
          <p:cNvSpPr/>
          <p:nvPr/>
        </p:nvSpPr>
        <p:spPr>
          <a:xfrm>
            <a:off x="6812280" y="370332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DINO (Detection)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418795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33" name="Text 31"/>
          <p:cNvSpPr/>
          <p:nvPr/>
        </p:nvSpPr>
        <p:spPr>
          <a:xfrm>
            <a:off x="6812280" y="406908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RT-DETR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83680" y="455371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35" name="Text 33"/>
          <p:cNvSpPr/>
          <p:nvPr/>
        </p:nvSpPr>
        <p:spPr>
          <a:xfrm>
            <a:off x="6812280" y="443484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Grounding DINO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583680" y="4919472"/>
            <a:ext cx="109728" cy="109728"/>
          </a:xfrm>
          <a:prstGeom prst="ellipse">
            <a:avLst/>
          </a:prstGeom>
          <a:solidFill>
            <a:srgbClr val="FFB703"/>
          </a:solidFill>
        </p:spPr>
      </p:sp>
      <p:sp>
        <p:nvSpPr>
          <p:cNvPr id="37" name="Text 35"/>
          <p:cNvSpPr/>
          <p:nvPr/>
        </p:nvSpPr>
        <p:spPr>
          <a:xfrm>
            <a:off x="6812280" y="4800600"/>
            <a:ext cx="44805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DINOv2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ViT (Vision Transformer) Nedir?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CNN yerine Transformer mimarisiyle görüntüyü işleyen yaklaşım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15A7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CNN Yaklaşımı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005840" y="233172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224×224 görüntü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2898648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98648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Filtre uygula </a:t>
            </a:r>
            <a:endParaRPr lang="en-US" sz="1300" dirty="0">
              <a:solidFill>
                <a:srgbClr val="1B26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3465576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65576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Filtre uygula </a:t>
            </a:r>
            <a:endParaRPr lang="en-US" sz="1300" dirty="0">
              <a:solidFill>
                <a:srgbClr val="1B26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4032504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32504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Filtre uygula </a:t>
            </a:r>
            <a:endParaRPr lang="en-US" sz="1300" dirty="0">
              <a:solidFill>
                <a:srgbClr val="1B263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599432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FB703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599432"/>
            <a:ext cx="4114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Özellik haritası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1B263B"/>
          </a:solidFill>
        </p:spPr>
      </p:sp>
      <p:sp>
        <p:nvSpPr>
          <p:cNvPr id="17" name="Text 15"/>
          <p:cNvSpPr/>
          <p:nvPr/>
        </p:nvSpPr>
        <p:spPr>
          <a:xfrm>
            <a:off x="6537960" y="18288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B70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ViT Yaklaşımı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675120" y="2331720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415A77"/>
          </a:solidFill>
        </p:spPr>
      </p:sp>
      <p:sp>
        <p:nvSpPr>
          <p:cNvPr id="19" name="Text 17"/>
          <p:cNvSpPr/>
          <p:nvPr/>
        </p:nvSpPr>
        <p:spPr>
          <a:xfrm>
            <a:off x="6858000" y="2331720"/>
            <a:ext cx="37947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 küçük karelere bölünür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3063240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415A77"/>
          </a:solidFill>
        </p:spPr>
      </p:sp>
      <p:sp>
        <p:nvSpPr>
          <p:cNvPr id="21" name="Text 19"/>
          <p:cNvSpPr/>
          <p:nvPr/>
        </p:nvSpPr>
        <p:spPr>
          <a:xfrm>
            <a:off x="6858000" y="3063240"/>
            <a:ext cx="37947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 kare bir token (kelime) sayılır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5120" y="3794760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415A77"/>
          </a:solidFill>
        </p:spPr>
      </p:sp>
      <p:sp>
        <p:nvSpPr>
          <p:cNvPr id="23" name="Text 21"/>
          <p:cNvSpPr/>
          <p:nvPr/>
        </p:nvSpPr>
        <p:spPr>
          <a:xfrm>
            <a:off x="6858000" y="3794760"/>
            <a:ext cx="37947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Transformer, tokenlar arası ilişkiyi öğrenir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4526280"/>
            <a:ext cx="4114800" cy="621792"/>
          </a:xfrm>
          <a:prstGeom prst="roundRect">
            <a:avLst>
              <a:gd name="adj" fmla="val 8824"/>
            </a:avLst>
          </a:prstGeom>
          <a:solidFill>
            <a:srgbClr val="FFB703"/>
          </a:solidFill>
        </p:spPr>
      </p:sp>
      <p:sp>
        <p:nvSpPr>
          <p:cNvPr id="25" name="Text 23"/>
          <p:cNvSpPr/>
          <p:nvPr/>
        </p:nvSpPr>
        <p:spPr>
          <a:xfrm>
            <a:off x="6858000" y="4526280"/>
            <a:ext cx="379476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Özellikler çıkarılır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Kritik Soru: ViT Tek Başına Nesne Tespiti Yapar mı?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1B263B"/>
          </a:solidFill>
        </p:spPr>
      </p:sp>
      <p:sp>
        <p:nvSpPr>
          <p:cNvPr id="4" name="Text 2"/>
          <p:cNvSpPr/>
          <p:nvPr/>
        </p:nvSpPr>
        <p:spPr>
          <a:xfrm>
            <a:off x="548640" y="1143000"/>
            <a:ext cx="28346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B70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HAYIR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11880" y="1188720"/>
            <a:ext cx="7955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 tek başına sadece bir Backbone'dur (özellik çıkarıcı). Kutu çizen bir birim içermez.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2377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331720"/>
            <a:ext cx="457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0" y="2331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415A77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331720"/>
            <a:ext cx="2377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(Backbone)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2331720"/>
            <a:ext cx="457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92240" y="23317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23774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Özellikler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Çıkarıldı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0" y="233172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48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Kutuları çizen kimse yok — bir şey eksik.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FF3D6"/>
          </a:solidFill>
        </p:spPr>
      </p:sp>
      <p:sp>
        <p:nvSpPr>
          <p:cNvPr id="16" name="Text 14"/>
          <p:cNvSpPr/>
          <p:nvPr/>
        </p:nvSpPr>
        <p:spPr>
          <a:xfrm>
            <a:off x="822960" y="35204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 yüzden üzerine bir Detection mimarisi (ör. DETR) eklenir: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25196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51960"/>
            <a:ext cx="1965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Görüntü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88920" y="4251960"/>
            <a:ext cx="365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154680" y="425196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4251960"/>
            <a:ext cx="1965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(Backbone)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4251960"/>
            <a:ext cx="365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0" y="425196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B703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4251960"/>
            <a:ext cx="1965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52360" y="4251960"/>
            <a:ext cx="3657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818120" y="425196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1B263B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18120" y="4251960"/>
            <a:ext cx="19659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Bounding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44068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440680"/>
            <a:ext cx="102412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Önemli ayrım:  </a:t>
            </a: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"ViT nesne tespiti yapıyor" derken kastedilen genellikle </a:t>
            </a:r>
            <a:r>
              <a:rPr lang="en-US" sz="1400" b="1" i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ViT tabanlı bir detector</a:t>
            </a:r>
            <a:r>
              <a:rPr lang="en-US" sz="14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'dür — saf ViT tek başına değildir.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Bir Nesne Tespit Modelinin Anatomisi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tek parça değildir — üç bileşenden oluşabilir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415A77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70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BACKBONE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Özellik Çıkarıcı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0632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Kenar, şekil ve renkleri öğrenir.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Sınıf söylemez, kutu çizmez.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Örn: ResNet, ViT, Swin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9080" y="3291840"/>
            <a:ext cx="411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7830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70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242316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NECK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09160" y="283464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tr-TR" altLang="en-US" sz="1200" i="1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Boyun-Köprü </a:t>
            </a:r>
            <a:r>
              <a:rPr lang="en-US" sz="1200" i="1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(Her modelde yok)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3291840"/>
            <a:ext cx="30632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Backbone ile Detector arasında köprü.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Farklı boyuttaki nesneleri yakalar.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Örn: FPN, PAN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3291840"/>
            <a:ext cx="411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412480" y="1554480"/>
            <a:ext cx="3520440" cy="4023360"/>
          </a:xfrm>
          <a:prstGeom prst="roundRect">
            <a:avLst>
              <a:gd name="adj" fmla="val 2597"/>
            </a:avLst>
          </a:prstGeom>
          <a:solidFill>
            <a:srgbClr val="FFB703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41080" y="178308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641080" y="2423160"/>
            <a:ext cx="30632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DETECTOR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41080" y="2834640"/>
            <a:ext cx="3063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4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Karar Verici (Head)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41080" y="3291840"/>
            <a:ext cx="306324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Özellikleri kullanıp sınıf ve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koordinatı hesaplar.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tr-TR" alt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Örneğin </a:t>
            </a: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"Burada baret var" der.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Transformer</a:t>
            </a:r>
            <a:r>
              <a:rPr lang="tr-TR" altLang="en-US" sz="27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Terimini Kavrayalım</a:t>
            </a:r>
            <a:endParaRPr lang="tr-TR" altLang="en-US" sz="2700" b="1" dirty="0">
              <a:solidFill>
                <a:srgbClr val="1B263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Encoder-Only / Decoder-Only / Encoder-Decoder — bunlar Transformer mimarisinin iç blok tipleridir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415A77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45920"/>
            <a:ext cx="3008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Encoder-Only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" y="2039112"/>
            <a:ext cx="300837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Örn: ViT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4672" y="2468880"/>
            <a:ext cx="3008376" cy="566928"/>
          </a:xfrm>
          <a:prstGeom prst="roundRect">
            <a:avLst>
              <a:gd name="adj" fmla="val 9677"/>
            </a:avLst>
          </a:prstGeom>
          <a:solidFill>
            <a:srgbClr val="FFB703"/>
          </a:solidFill>
        </p:spPr>
      </p:sp>
      <p:sp>
        <p:nvSpPr>
          <p:cNvPr id="8" name="Text 6"/>
          <p:cNvSpPr/>
          <p:nvPr/>
        </p:nvSpPr>
        <p:spPr>
          <a:xfrm>
            <a:off x="914400" y="2468880"/>
            <a:ext cx="2788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BACKBONE görevini üstlenir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3200400"/>
            <a:ext cx="30083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Resmin tüm parçalarını okur, öz-dikkat (self-attention) ile özellik çıkarır.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645920"/>
            <a:ext cx="3008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Decoder-Only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736592" y="2039112"/>
            <a:ext cx="300837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Örn: GPT, Llama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36592" y="2468880"/>
            <a:ext cx="3008376" cy="566928"/>
          </a:xfrm>
          <a:prstGeom prst="roundRect">
            <a:avLst>
              <a:gd name="adj" fmla="val 9677"/>
            </a:avLst>
          </a:prstGeom>
          <a:solidFill>
            <a:srgbClr val="C7CEDA"/>
          </a:solidFill>
        </p:spPr>
      </p:sp>
      <p:sp>
        <p:nvSpPr>
          <p:cNvPr id="14" name="Text 12"/>
          <p:cNvSpPr/>
          <p:nvPr/>
        </p:nvSpPr>
        <p:spPr>
          <a:xfrm>
            <a:off x="4846320" y="2468880"/>
            <a:ext cx="2788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Tespitte kullanılmaz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36592" y="3200400"/>
            <a:ext cx="30083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Metin / kelime üretimi yapar. Nesne tespiti mimarisinin bir parçası değildir.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412480" y="141732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1B263B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68512" y="1645920"/>
            <a:ext cx="3008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Encoder-Decoder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668512" y="2039112"/>
            <a:ext cx="3008376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D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Örn: DETR, RT-DETR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68512" y="2468880"/>
            <a:ext cx="3008376" cy="566928"/>
          </a:xfrm>
          <a:prstGeom prst="roundRect">
            <a:avLst>
              <a:gd name="adj" fmla="val 9677"/>
            </a:avLst>
          </a:prstGeom>
          <a:solidFill>
            <a:srgbClr val="FFB703"/>
          </a:solidFill>
        </p:spPr>
      </p:sp>
      <p:sp>
        <p:nvSpPr>
          <p:cNvPr id="20" name="Text 18"/>
          <p:cNvSpPr/>
          <p:nvPr/>
        </p:nvSpPr>
        <p:spPr>
          <a:xfrm>
            <a:off x="8778240" y="2468880"/>
            <a:ext cx="27889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BACKBONE + DETECTOR birlikte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68512" y="3200400"/>
            <a:ext cx="30083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Encoder özellikleri anlar; Decoder o özelliklerden nesne kutularını üretir.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11064240" cy="1484630"/>
          </a:xfrm>
          <a:prstGeom prst="roundRect">
            <a:avLst>
              <a:gd name="adj" fmla="val 6957"/>
            </a:avLst>
          </a:prstGeom>
          <a:solidFill>
            <a:srgbClr val="FFF3D6"/>
          </a:solidFill>
        </p:spPr>
      </p:sp>
      <p:sp>
        <p:nvSpPr>
          <p:cNvPr id="23" name="Text 21"/>
          <p:cNvSpPr/>
          <p:nvPr/>
        </p:nvSpPr>
        <p:spPr>
          <a:xfrm>
            <a:off x="868680" y="4892040"/>
            <a:ext cx="10424160" cy="14211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Encoder/Decoder ayrımı bir </a:t>
            </a:r>
            <a:r>
              <a:rPr lang="en-US" sz="135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iç mimari tercihidir</a:t>
            </a:r>
            <a:r>
              <a:rPr 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ViT (Encoder-Only) sadece Backbone rolü oynarken, DETR/RT-DETR (Encoder-Decoder) Backbone'dan aldığı özellikleri Decoder ile birleştirip doğrudan kutu üretir. Yani </a:t>
            </a:r>
            <a:r>
              <a:rPr lang="en-US" sz="1350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"kaç parçalı Transformer"</a:t>
            </a:r>
            <a:r>
              <a:rPr 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sorusu aslında modelin </a:t>
            </a:r>
            <a:r>
              <a:rPr lang="en-US" sz="135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hangi görevi (özellik çıkarma mı, üretim mi, ikisi de mi) yaptığının</a:t>
            </a:r>
            <a:r>
              <a:rPr 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cevabıdır.</a:t>
            </a:r>
            <a:endParaRPr lang="en-US" sz="1350" dirty="0">
              <a:solidFill>
                <a:srgbClr val="5A43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Özetle: </a:t>
            </a:r>
            <a:r>
              <a:rPr lang="tr-TR" altLang="en-US" sz="135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 gibi klasik modellerde Backbone olarak CNN kullan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rken; ViT gibi modeller Encoder-Only yap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yla Backbone görevini üstlenir. RT-DETR ise bu Backbone'un 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çı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kard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ığı 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özellikleri Transformer Encoder-Decoder blo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ğ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 ve Detection Head ile birle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ş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tirerek kutular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ı ç</a:t>
            </a:r>
            <a:r>
              <a:rPr lang="en-US" altLang="en-US" sz="1350" dirty="0">
                <a:solidFill>
                  <a:srgbClr val="5A4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izer.</a:t>
            </a:r>
            <a:endParaRPr lang="en-US" altLang="en-US" sz="1350" dirty="0">
              <a:solidFill>
                <a:srgbClr val="5A43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Mimari Karşılaştırma: YOLO ve RT-DETR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Projede kullanılan iki modelin temel mimari farkları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1508760"/>
          <a:ext cx="11064240" cy="4480560"/>
        </p:xfrm>
        <a:graphic>
          <a:graphicData uri="http://schemas.openxmlformats.org/drawingml/2006/table">
            <a:tbl>
              <a:tblPr/>
              <a:tblGrid>
                <a:gridCol w="1920240"/>
                <a:gridCol w="4480560"/>
                <a:gridCol w="4663440"/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YOLOv8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A7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RT-DETR (ViT)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Aile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CNN tabanlı, tek aşamalı (one-stage)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Transformer tabanlı, uçtan uca (end-to-end)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Kutu Üretimi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Görüntüyü grid'e böler, hücre başına tahmin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Hibrit Encoder + Transformer Decoder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Post-processing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NMS (Non-Maximum Suppression) kullanır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NMS kullanmaz — uçtan uca tahmin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Bağlam Yakalama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Yerel (lokal) özellik odaklı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Global context — sahnenin bütününü görür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Hedef Kitle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Hız ve gerçek zamanlılık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263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YOLO'ya hız konusunda rakip olmak üzere tasarlandı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 Sonuçları: Eğitim Grafikleri Analizi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Baret veri seti üzerinde 150 epoch eğitim — YOLOv8 ve RT-DETR karşılaştırması</a:t>
            </a:r>
            <a:endParaRPr lang="en-US" sz="1300" dirty="0"/>
          </a:p>
        </p:txBody>
      </p:sp>
      <p:pic>
        <p:nvPicPr>
          <p:cNvPr id="4" name="Image 0" descr="imgs/p15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349240" cy="31912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572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468172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15A7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YOLOv8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5010912"/>
            <a:ext cx="49377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Precision 50. epoch'ta ~%95 iken sonrasında ~%62'ye geriliyor
</a:t>
            </a: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val/box_loss ve val/dfl_loss 50-60. epoch'tan sonra tekrar yükseliyor → </a:t>
            </a:r>
            <a:r>
              <a:rPr lang="en-US" sz="1150" b="1" dirty="0">
                <a:solidFill>
                  <a:srgbClr val="B33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overfitting (ezberleme)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mAP50 ~%65 zirve, mAP50-95 sonunda ~%43</a:t>
            </a:r>
            <a:endParaRPr lang="en-US" sz="1150" dirty="0"/>
          </a:p>
        </p:txBody>
      </p:sp>
      <p:pic>
        <p:nvPicPr>
          <p:cNvPr id="8" name="Image 1" descr="imgs/p1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80160"/>
            <a:ext cx="5349240" cy="3108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55080" y="4572000"/>
            <a:ext cx="5349240" cy="1691640"/>
          </a:xfrm>
          <a:prstGeom prst="roundRect">
            <a:avLst>
              <a:gd name="adj" fmla="val 4324"/>
            </a:avLst>
          </a:prstGeom>
          <a:solidFill>
            <a:srgbClr val="1B263B"/>
          </a:solidFill>
        </p:spPr>
      </p:sp>
      <p:sp>
        <p:nvSpPr>
          <p:cNvPr id="10" name="Text 6"/>
          <p:cNvSpPr/>
          <p:nvPr/>
        </p:nvSpPr>
        <p:spPr>
          <a:xfrm>
            <a:off x="6583680" y="4681728"/>
            <a:ext cx="2743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70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RT-DETR (ViT)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583680" y="5010912"/>
            <a:ext cx="49377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Kayıp grafikleri dalgalı ama istikrarlı biçimde düşüyor
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Ani bir overfitting patlaması </a:t>
            </a:r>
            <a:r>
              <a:rPr lang="en-US" sz="115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görülmüyor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Precision ~%62, Recall ~%63 seviyesinde kararlı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mAP50 ~%64 bandında 150 epoch boyunca stabil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Şantiye Sahasında Baret Tespiti — Görsel Sonuç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Aynı sahne, iki model tarafından işlendi — sahnede 4 baret bulunuyor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173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15A7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YOLOv8</a:t>
            </a:r>
            <a:endParaRPr lang="en-US" sz="1600" dirty="0"/>
          </a:p>
        </p:txBody>
      </p:sp>
      <p:pic>
        <p:nvPicPr>
          <p:cNvPr id="6" name="Image 0" descr="imgs/p16_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28800"/>
            <a:ext cx="5029200" cy="3465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280160"/>
            <a:ext cx="54864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141732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RT-DETR (ViT)</a:t>
            </a:r>
            <a:endParaRPr lang="en-US" sz="1600" dirty="0"/>
          </a:p>
        </p:txBody>
      </p:sp>
      <p:pic>
        <p:nvPicPr>
          <p:cNvPr id="9" name="Image 1" descr="imgs/p1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5029200" cy="35204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Accuracy ve İşleme Zamanı Karşılaştırması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425950" cy="1417320"/>
          </a:xfrm>
          <a:prstGeom prst="roundRect">
            <a:avLst>
              <a:gd name="adj" fmla="val 6452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08760"/>
            <a:ext cx="3154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15A7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~%64-65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3154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mAP50 — her iki model 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benzer genel başarım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94805" y="1417320"/>
            <a:ext cx="4455160" cy="1417320"/>
          </a:xfrm>
          <a:prstGeom prst="roundRect">
            <a:avLst>
              <a:gd name="adj" fmla="val 6452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3180" y="1554480"/>
            <a:ext cx="3154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B33A2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50.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663180" y="2194560"/>
            <a:ext cx="3154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epoch'tan sonra YOLOv8'de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overfitting başlıyor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366760" y="1508760"/>
            <a:ext cx="31546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366760" y="2194560"/>
            <a:ext cx="31546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İşleme Hızı / Kaynak Tüketimi (görece)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hız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34640" y="3685032"/>
            <a:ext cx="8595360" cy="310896"/>
          </a:xfrm>
          <a:prstGeom prst="roundRect">
            <a:avLst>
              <a:gd name="adj" fmla="val 50000"/>
            </a:avLst>
          </a:prstGeom>
          <a:solidFill>
            <a:srgbClr val="E3E7EF"/>
          </a:solidFill>
        </p:spPr>
      </p:sp>
      <p:sp>
        <p:nvSpPr>
          <p:cNvPr id="15" name="Shape 13"/>
          <p:cNvSpPr/>
          <p:nvPr/>
        </p:nvSpPr>
        <p:spPr>
          <a:xfrm>
            <a:off x="2834640" y="3685032"/>
            <a:ext cx="7907731" cy="310896"/>
          </a:xfrm>
          <a:prstGeom prst="roundRect">
            <a:avLst>
              <a:gd name="adj" fmla="val 50000"/>
            </a:avLst>
          </a:prstGeom>
          <a:solidFill>
            <a:srgbClr val="FFB703"/>
          </a:solidFill>
        </p:spPr>
      </p:sp>
      <p:sp>
        <p:nvSpPr>
          <p:cNvPr id="16" name="Text 14"/>
          <p:cNvSpPr/>
          <p:nvPr/>
        </p:nvSpPr>
        <p:spPr>
          <a:xfrm>
            <a:off x="2971800" y="36118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Çok hızlı — düşük gecikme, düşük kaynak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RT-DETR hız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4233672"/>
            <a:ext cx="8595360" cy="310896"/>
          </a:xfrm>
          <a:prstGeom prst="roundRect">
            <a:avLst>
              <a:gd name="adj" fmla="val 50000"/>
            </a:avLst>
          </a:prstGeom>
          <a:solidFill>
            <a:srgbClr val="E3E7EF"/>
          </a:solidFill>
        </p:spPr>
      </p:sp>
      <p:sp>
        <p:nvSpPr>
          <p:cNvPr id="19" name="Shape 17"/>
          <p:cNvSpPr/>
          <p:nvPr/>
        </p:nvSpPr>
        <p:spPr>
          <a:xfrm>
            <a:off x="2834640" y="4233672"/>
            <a:ext cx="3867912" cy="310896"/>
          </a:xfrm>
          <a:prstGeom prst="roundRect">
            <a:avLst>
              <a:gd name="adj" fmla="val 50000"/>
            </a:avLst>
          </a:prstGeom>
          <a:solidFill>
            <a:srgbClr val="415A77"/>
          </a:solidFill>
        </p:spPr>
      </p:sp>
      <p:sp>
        <p:nvSpPr>
          <p:cNvPr id="20" name="Text 18"/>
          <p:cNvSpPr/>
          <p:nvPr/>
        </p:nvSpPr>
        <p:spPr>
          <a:xfrm>
            <a:off x="2971800" y="4160520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Daha yavaş — self-attention nedeniyle yüksek işlem gücü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8920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YOLOv8 accuracy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kararlılığı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34640" y="4965192"/>
            <a:ext cx="8595360" cy="310896"/>
          </a:xfrm>
          <a:prstGeom prst="roundRect">
            <a:avLst>
              <a:gd name="adj" fmla="val 50000"/>
            </a:avLst>
          </a:prstGeom>
          <a:solidFill>
            <a:srgbClr val="E3E7EF"/>
          </a:solidFill>
        </p:spPr>
      </p:sp>
      <p:sp>
        <p:nvSpPr>
          <p:cNvPr id="23" name="Shape 21"/>
          <p:cNvSpPr/>
          <p:nvPr/>
        </p:nvSpPr>
        <p:spPr>
          <a:xfrm>
            <a:off x="2834640" y="4965192"/>
            <a:ext cx="5157216" cy="310896"/>
          </a:xfrm>
          <a:prstGeom prst="roundRect">
            <a:avLst>
              <a:gd name="adj" fmla="val 50000"/>
            </a:avLst>
          </a:prstGeom>
          <a:solidFill>
            <a:srgbClr val="FFB703"/>
          </a:solidFill>
        </p:spPr>
      </p:sp>
      <p:sp>
        <p:nvSpPr>
          <p:cNvPr id="24" name="Text 22"/>
          <p:cNvSpPr/>
          <p:nvPr/>
        </p:nvSpPr>
        <p:spPr>
          <a:xfrm>
            <a:off x="2971800" y="48920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 epoch sonrası düşüyor (overfitting)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54406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RT-DETR accuracy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kararlılığı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834640" y="5513832"/>
            <a:ext cx="8595360" cy="310896"/>
          </a:xfrm>
          <a:prstGeom prst="roundRect">
            <a:avLst>
              <a:gd name="adj" fmla="val 50000"/>
            </a:avLst>
          </a:prstGeom>
          <a:solidFill>
            <a:srgbClr val="E3E7EF"/>
          </a:solidFill>
        </p:spPr>
      </p:sp>
      <p:sp>
        <p:nvSpPr>
          <p:cNvPr id="27" name="Shape 25"/>
          <p:cNvSpPr/>
          <p:nvPr/>
        </p:nvSpPr>
        <p:spPr>
          <a:xfrm>
            <a:off x="2834640" y="5513832"/>
            <a:ext cx="7306056" cy="310896"/>
          </a:xfrm>
          <a:prstGeom prst="roundRect">
            <a:avLst>
              <a:gd name="adj" fmla="val 50000"/>
            </a:avLst>
          </a:prstGeom>
          <a:solidFill>
            <a:srgbClr val="415A77"/>
          </a:solidFill>
        </p:spPr>
      </p:sp>
      <p:sp>
        <p:nvSpPr>
          <p:cNvPr id="28" name="Text 26"/>
          <p:cNvSpPr/>
          <p:nvPr/>
        </p:nvSpPr>
        <p:spPr>
          <a:xfrm>
            <a:off x="2971800" y="54406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 epoch boyunca stabil kalıyor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08076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 Çubuklar projedeki gözlemlere dayalı görece kıyaslamadır, laboratuvar ölçümü değildir.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Sonuç: Hangisi, Nerede Kullanılmalı?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B703"/>
          </a:solidFill>
        </p:spPr>
      </p:sp>
      <p:sp>
        <p:nvSpPr>
          <p:cNvPr id="4" name="Text 2"/>
          <p:cNvSpPr/>
          <p:nvPr/>
        </p:nvSpPr>
        <p:spPr>
          <a:xfrm>
            <a:off x="868680" y="16002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YOLOv8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B54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Kenar Cihazlar ve Canlı Sistemler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5488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Şantiye kapısındaki IP kameralar
</a:t>
            </a: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Mobil cihazlar
</a:t>
            </a:r>
            <a:r>
              <a:rPr lang="en-US" sz="1500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Canlı yayın yapan drone'lar
</a:t>
            </a:r>
            <a:r>
              <a:rPr lang="en-US" sz="1500" b="1" dirty="0">
                <a:solidFill>
                  <a:srgbClr val="1B26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Düşük gecikme (low latency) ve yüksek FPS gerektiğinde YOLO tercih edilmelidir.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415A77"/>
          </a:solidFill>
        </p:spPr>
      </p:sp>
      <p:sp>
        <p:nvSpPr>
          <p:cNvPr id="8" name="Text 6"/>
          <p:cNvSpPr/>
          <p:nvPr/>
        </p:nvSpPr>
        <p:spPr>
          <a:xfrm>
            <a:off x="6537960" y="160020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RT-DETR (ViT)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0574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DCE4F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Karmaşık Sahneler ve Sunucu Tarafı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560320"/>
            <a:ext cx="475488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Donanım kısıtı olmayan güçlü sunucular
</a:t>
            </a: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İnsanların birbirini kapattığı (occlusion) sahneler
</a:t>
            </a: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Kalabalık şantiye sahaları
</a:t>
            </a: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context sayesinde karmaşık/kalabalık sahnelerde RT-DETR tercih edilmelidir.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6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515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tr-TR" altLang="en-US" sz="2700" b="1" dirty="0">
                <a:solidFill>
                  <a:srgbClr val="1B26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KAYNAKÇA</a:t>
            </a:r>
            <a:endParaRPr lang="tr-TR" altLang="en-US" sz="2700" b="1" dirty="0">
              <a:solidFill>
                <a:srgbClr val="1B263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" y="1645920"/>
            <a:ext cx="3008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Encoder-Only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04672" y="3200400"/>
            <a:ext cx="3008376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Resmin tüm parçalarını okur, öz-dikkat (self-attention) ile özellik çıkarır.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670" y="1214755"/>
            <a:ext cx="11065510" cy="5081905"/>
          </a:xfrm>
          <a:prstGeom prst="roundRect">
            <a:avLst>
              <a:gd name="adj" fmla="val 2817"/>
            </a:avLst>
          </a:prstGeom>
          <a:solidFill>
            <a:srgbClr val="F5F6F8"/>
          </a:solidFill>
          <a:ln w="12700">
            <a:solidFill>
              <a:srgbClr val="E3E7E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p>
            <a:r>
              <a:rPr lang="en-US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Veri Seti</a:t>
            </a:r>
            <a:endParaRPr lang="en-US" altLang="en-US" sz="1600" b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Roboflow Universe – Hard Hat / Safety Helmet Detection Dataset (Baret Veri Seti)</a:t>
            </a:r>
            <a:endParaRPr lang="en-US" altLang="en-US" sz="1600" b="1" i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endParaRPr lang="en-US" altLang="en-US" sz="1600" b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</a:t>
            </a:r>
            <a:r>
              <a:rPr lang="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çı</a:t>
            </a:r>
            <a:r>
              <a:rPr lang="en-US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k Kaynak Kütüphaneler: </a:t>
            </a:r>
            <a:endParaRPr lang="en-US" altLang="en-US" sz="1600" b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PyTorch, Ultralytics Framework, Albumentations, Matplotlib, Pandas.</a:t>
            </a:r>
            <a:endParaRPr lang="en-US" altLang="en-US" sz="1600" b="1" i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endParaRPr lang="en-US" altLang="en-US" sz="1600" b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</a:t>
            </a:r>
            <a:r>
              <a:rPr lang="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çı</a:t>
            </a:r>
            <a:r>
              <a:rPr lang="en-US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klanabilir AI ve Kod Asistan</a:t>
            </a:r>
            <a:r>
              <a:rPr lang="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ı: </a:t>
            </a:r>
            <a:endParaRPr lang="" altLang="en-US" sz="1600" b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Model kodlama, veri formatlama (YOLO to DETR conversion) ve hata analizi (debugging) süre</a:t>
            </a:r>
            <a:r>
              <a:rPr lang="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ç</a:t>
            </a:r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lerinde LLM tabanl</a:t>
            </a:r>
            <a:r>
              <a:rPr lang="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 </a:t>
            </a:r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geli</a:t>
            </a:r>
            <a:r>
              <a:rPr lang="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ş</a:t>
            </a:r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tirme asistanlar</a:t>
            </a:r>
            <a:r>
              <a:rPr lang="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ndan (OpenAI ChatGPT, Anthropic Claude, Google Gemini) teknik destek al</a:t>
            </a:r>
            <a:r>
              <a:rPr lang="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nm</a:t>
            </a:r>
            <a:r>
              <a:rPr lang="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ış</a:t>
            </a:r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</a:t>
            </a:r>
            <a:r>
              <a:rPr lang="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</a:t>
            </a:r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r.</a:t>
            </a:r>
            <a:endParaRPr lang="en-US" altLang="en-US" sz="1600" b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endParaRPr lang="en-US" altLang="en-US" sz="1600" b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Temel Mimariler ve Makaleler (Teorik Altyap</a:t>
            </a:r>
            <a:r>
              <a:rPr lang="" altLang="en-US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ı)</a:t>
            </a:r>
            <a:r>
              <a:rPr lang="tr-TR" sz="1600" b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:</a:t>
            </a:r>
            <a:endParaRPr lang="" altLang="en-US" sz="1600" b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Dosovitskiy, A., et al. (2020). An Image is Worth 16x16 Words: Transformers for Image Recognition at Scale (ViT). ICLR.</a:t>
            </a:r>
            <a:endParaRPr lang="en-US" altLang="en-US" sz="1600" b="1" i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Zhao, Y., et al. (2023). DETR Beats YOLOs on Real-Time Object Detection (RT-DETR). Baidu Research.</a:t>
            </a:r>
            <a:endParaRPr lang="en-US" altLang="en-US" sz="1600" b="1" i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r>
              <a:rPr lang="en-US" altLang="en-US" sz="1600" b="1" i="1" dirty="0">
                <a:solidFill>
                  <a:srgbClr val="8A5A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Jocher, G., et al. (2023). Ultralytics YOLOv8 / YOLO11 Documentation. Ultralytics.</a:t>
            </a:r>
            <a:endParaRPr lang="en-US" altLang="en-US" sz="1600" b="1" i="1" dirty="0">
              <a:solidFill>
                <a:srgbClr val="8A5A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C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6484</Words>
  <Application>WPS Presentation</Application>
  <PresentationFormat>On-screen Show (16:9)</PresentationFormat>
  <Paragraphs>378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İrem Geçit</cp:lastModifiedBy>
  <cp:revision>2</cp:revision>
  <dcterms:created xsi:type="dcterms:W3CDTF">2026-07-28T21:46:00Z</dcterms:created>
  <dcterms:modified xsi:type="dcterms:W3CDTF">2026-07-28T22:39:12Z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F52517AAE13848A691BA70EE425C1223_12</vt:lpwstr>
  </property>
</Properties>
</file>