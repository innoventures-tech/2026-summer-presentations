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9" r:id="rId14"/>
    <p:sldId id="268" r:id="rId15"/>
    <p:sldId id="265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7"/>
          </a:solidFill>
        </p:spPr>
      </p:sp>
      <p:sp>
        <p:nvSpPr>
          <p:cNvPr id="3" name="Shape 1"/>
          <p:cNvSpPr/>
          <p:nvPr/>
        </p:nvSpPr>
        <p:spPr>
          <a:xfrm>
            <a:off x="7863840" y="640080"/>
            <a:ext cx="384048" cy="38404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4" name="Shape 2"/>
          <p:cNvSpPr/>
          <p:nvPr/>
        </p:nvSpPr>
        <p:spPr>
          <a:xfrm>
            <a:off x="8302752" y="640080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" name="Shape 3"/>
          <p:cNvSpPr/>
          <p:nvPr/>
        </p:nvSpPr>
        <p:spPr>
          <a:xfrm>
            <a:off x="8741664" y="640080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" name="Shape 4"/>
          <p:cNvSpPr/>
          <p:nvPr/>
        </p:nvSpPr>
        <p:spPr>
          <a:xfrm>
            <a:off x="9180576" y="640080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" name="Shape 5"/>
          <p:cNvSpPr/>
          <p:nvPr/>
        </p:nvSpPr>
        <p:spPr>
          <a:xfrm>
            <a:off x="9619488" y="640080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" name="Shape 6"/>
          <p:cNvSpPr/>
          <p:nvPr/>
        </p:nvSpPr>
        <p:spPr>
          <a:xfrm>
            <a:off x="10058400" y="640080"/>
            <a:ext cx="384048" cy="38404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9" name="Shape 7"/>
          <p:cNvSpPr/>
          <p:nvPr/>
        </p:nvSpPr>
        <p:spPr>
          <a:xfrm>
            <a:off x="10497312" y="640080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" name="Shape 8"/>
          <p:cNvSpPr/>
          <p:nvPr/>
        </p:nvSpPr>
        <p:spPr>
          <a:xfrm>
            <a:off x="10936224" y="640080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1" name="Shape 9"/>
          <p:cNvSpPr/>
          <p:nvPr/>
        </p:nvSpPr>
        <p:spPr>
          <a:xfrm>
            <a:off x="7863840" y="1078992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" name="Shape 10"/>
          <p:cNvSpPr/>
          <p:nvPr/>
        </p:nvSpPr>
        <p:spPr>
          <a:xfrm>
            <a:off x="8302752" y="1078992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" name="Shape 11"/>
          <p:cNvSpPr/>
          <p:nvPr/>
        </p:nvSpPr>
        <p:spPr>
          <a:xfrm>
            <a:off x="8741664" y="1078992"/>
            <a:ext cx="384048" cy="38404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4" name="Shape 12"/>
          <p:cNvSpPr/>
          <p:nvPr/>
        </p:nvSpPr>
        <p:spPr>
          <a:xfrm>
            <a:off x="9180576" y="1078992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" name="Shape 13"/>
          <p:cNvSpPr/>
          <p:nvPr/>
        </p:nvSpPr>
        <p:spPr>
          <a:xfrm>
            <a:off x="9619488" y="1078992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6" name="Shape 14"/>
          <p:cNvSpPr/>
          <p:nvPr/>
        </p:nvSpPr>
        <p:spPr>
          <a:xfrm>
            <a:off x="10058400" y="1078992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7" name="Shape 15"/>
          <p:cNvSpPr/>
          <p:nvPr/>
        </p:nvSpPr>
        <p:spPr>
          <a:xfrm>
            <a:off x="10497312" y="1078992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8" name="Shape 16"/>
          <p:cNvSpPr/>
          <p:nvPr/>
        </p:nvSpPr>
        <p:spPr>
          <a:xfrm>
            <a:off x="10936224" y="1078992"/>
            <a:ext cx="384048" cy="38404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9" name="Shape 17"/>
          <p:cNvSpPr/>
          <p:nvPr/>
        </p:nvSpPr>
        <p:spPr>
          <a:xfrm>
            <a:off x="7863840" y="1517904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0" name="Shape 18"/>
          <p:cNvSpPr/>
          <p:nvPr/>
        </p:nvSpPr>
        <p:spPr>
          <a:xfrm>
            <a:off x="8302752" y="1517904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1" name="Shape 19"/>
          <p:cNvSpPr/>
          <p:nvPr/>
        </p:nvSpPr>
        <p:spPr>
          <a:xfrm>
            <a:off x="8741664" y="1517904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2" name="Shape 20"/>
          <p:cNvSpPr/>
          <p:nvPr/>
        </p:nvSpPr>
        <p:spPr>
          <a:xfrm>
            <a:off x="9180576" y="1517904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3" name="Shape 21"/>
          <p:cNvSpPr/>
          <p:nvPr/>
        </p:nvSpPr>
        <p:spPr>
          <a:xfrm>
            <a:off x="9619488" y="1517904"/>
            <a:ext cx="384048" cy="38404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24" name="Shape 22"/>
          <p:cNvSpPr/>
          <p:nvPr/>
        </p:nvSpPr>
        <p:spPr>
          <a:xfrm>
            <a:off x="10058400" y="1517904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5" name="Shape 23"/>
          <p:cNvSpPr/>
          <p:nvPr/>
        </p:nvSpPr>
        <p:spPr>
          <a:xfrm>
            <a:off x="10497312" y="1517904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6" name="Shape 24"/>
          <p:cNvSpPr/>
          <p:nvPr/>
        </p:nvSpPr>
        <p:spPr>
          <a:xfrm>
            <a:off x="10936224" y="1517904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7" name="Shape 25"/>
          <p:cNvSpPr/>
          <p:nvPr/>
        </p:nvSpPr>
        <p:spPr>
          <a:xfrm>
            <a:off x="7863840" y="1956816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8" name="Shape 26"/>
          <p:cNvSpPr/>
          <p:nvPr/>
        </p:nvSpPr>
        <p:spPr>
          <a:xfrm>
            <a:off x="8302752" y="1956816"/>
            <a:ext cx="384048" cy="38404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29" name="Shape 27"/>
          <p:cNvSpPr/>
          <p:nvPr/>
        </p:nvSpPr>
        <p:spPr>
          <a:xfrm>
            <a:off x="8741664" y="1956816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0" name="Shape 28"/>
          <p:cNvSpPr/>
          <p:nvPr/>
        </p:nvSpPr>
        <p:spPr>
          <a:xfrm>
            <a:off x="9180576" y="1956816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1" name="Shape 29"/>
          <p:cNvSpPr/>
          <p:nvPr/>
        </p:nvSpPr>
        <p:spPr>
          <a:xfrm>
            <a:off x="9619488" y="1956816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2" name="Shape 30"/>
          <p:cNvSpPr/>
          <p:nvPr/>
        </p:nvSpPr>
        <p:spPr>
          <a:xfrm>
            <a:off x="10058400" y="1956816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3" name="Shape 31"/>
          <p:cNvSpPr/>
          <p:nvPr/>
        </p:nvSpPr>
        <p:spPr>
          <a:xfrm>
            <a:off x="10497312" y="1956816"/>
            <a:ext cx="384048" cy="38404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34" name="Shape 32"/>
          <p:cNvSpPr/>
          <p:nvPr/>
        </p:nvSpPr>
        <p:spPr>
          <a:xfrm>
            <a:off x="10936224" y="1956816"/>
            <a:ext cx="384048" cy="38404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5" name="Text 33"/>
          <p:cNvSpPr/>
          <p:nvPr/>
        </p:nvSpPr>
        <p:spPr>
          <a:xfrm>
            <a:off x="640080" y="278892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İŞLEME</a:t>
            </a:r>
            <a:endParaRPr lang="en-US" sz="4600" dirty="0"/>
          </a:p>
        </p:txBody>
      </p:sp>
      <p:sp>
        <p:nvSpPr>
          <p:cNvPr id="36" name="Text 34"/>
          <p:cNvSpPr/>
          <p:nvPr/>
        </p:nvSpPr>
        <p:spPr>
          <a:xfrm>
            <a:off x="658368" y="361188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Processing — Piksellerden Anlamlı Bilgiye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58368" y="4251960"/>
            <a:ext cx="502920" cy="54864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38" name="Text 36"/>
          <p:cNvSpPr/>
          <p:nvPr/>
        </p:nvSpPr>
        <p:spPr>
          <a:xfrm>
            <a:off x="658368" y="4434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Piksel · Renk Uzayları · Computer Vision · OpenCV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BÜYÜK RESIM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Görüntüden Karara: Üç Seviye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1F4F8"/>
          </a:solidFill>
        </p:spPr>
      </p:sp>
      <p:sp>
        <p:nvSpPr>
          <p:cNvPr id="5" name="Text 3"/>
          <p:cNvSpPr/>
          <p:nvPr/>
        </p:nvSpPr>
        <p:spPr>
          <a:xfrm>
            <a:off x="777240" y="21488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altLang="en-US" sz="18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İmage Processing</a:t>
            </a:r>
            <a:endParaRPr lang="tr-TR" altLang="en-US" sz="1800" b="1" dirty="0">
              <a:solidFill>
                <a:srgbClr val="1B1F2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Görüntüyü iyileştirir veya analize hazırlar. Parlaklık, renk, piksel üzerinde çalışır.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Karar VERMEZ, sadece görüntüyü değiştirir.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50208" y="3383280"/>
            <a:ext cx="28346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4480560" y="21488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80560" y="27889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Vision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361188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Artık görüntüyü anlamaya başlar.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"Araba var mı? İnsan var mı?" gibi sorulara cevap arar.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53528" y="3383280"/>
            <a:ext cx="28346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1F4F8"/>
          </a:solidFill>
        </p:spPr>
      </p:sp>
      <p:sp>
        <p:nvSpPr>
          <p:cNvPr id="15" name="Text 13"/>
          <p:cNvSpPr/>
          <p:nvPr/>
        </p:nvSpPr>
        <p:spPr>
          <a:xfrm>
            <a:off x="8183880" y="21488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83880" y="27889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altLang="en-US" sz="18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tr-TR" altLang="en-US" sz="1800" b="1" dirty="0">
              <a:solidFill>
                <a:srgbClr val="1B1F2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83880" y="361188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CNN, YOLO, ViT gibi modellerle tahmin üretir.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Sonuç: nesne tanıma, sınıflandırma.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işleme, derin öğrenmenin rakibi değildir — çoğu zaman onun ön hazırlık aşamasıdır.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TEMEL MANTIK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Bilgisayar İçin Görüntü, Sayılardan İbarettir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F1F4F8"/>
          </a:solidFill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 NE GÖRÜYORSUN?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"Bu bir k</a:t>
            </a:r>
            <a:r>
              <a:rPr lang="tr-TR" altLang="en-US" sz="2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</a:t>
            </a:r>
            <a:r>
              <a:rPr lang="en-US" sz="2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 nesne, bir anlam, bir hikâye görürsün.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46634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BİLGİSAYAR NE GÖRÜYOR?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125  132  145  166  178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135  142  155  169  180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120  130  150  170  182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Sadece sayılar. Bunlara "piksel değeri" denir.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4279392" cy="4279392"/>
          </a:xfrm>
          <a:prstGeom prst="roundRect">
            <a:avLst>
              <a:gd name="adj" fmla="val 1282"/>
            </a:avLst>
          </a:prstGeom>
          <a:solidFill>
            <a:srgbClr val="1B1F27"/>
          </a:solidFill>
        </p:spPr>
      </p:sp>
      <p:sp>
        <p:nvSpPr>
          <p:cNvPr id="13" name="Shape 11"/>
          <p:cNvSpPr/>
          <p:nvPr/>
        </p:nvSpPr>
        <p:spPr>
          <a:xfrm>
            <a:off x="6400800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" name="Shape 12"/>
          <p:cNvSpPr/>
          <p:nvPr/>
        </p:nvSpPr>
        <p:spPr>
          <a:xfrm>
            <a:off x="6711696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" name="Shape 13"/>
          <p:cNvSpPr/>
          <p:nvPr/>
        </p:nvSpPr>
        <p:spPr>
          <a:xfrm>
            <a:off x="7022592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6" name="Shape 14"/>
          <p:cNvSpPr/>
          <p:nvPr/>
        </p:nvSpPr>
        <p:spPr>
          <a:xfrm>
            <a:off x="7333488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7" name="Shape 15"/>
          <p:cNvSpPr/>
          <p:nvPr/>
        </p:nvSpPr>
        <p:spPr>
          <a:xfrm>
            <a:off x="7644384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8" name="Shape 16"/>
          <p:cNvSpPr/>
          <p:nvPr/>
        </p:nvSpPr>
        <p:spPr>
          <a:xfrm>
            <a:off x="7955280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9" name="Shape 17"/>
          <p:cNvSpPr/>
          <p:nvPr/>
        </p:nvSpPr>
        <p:spPr>
          <a:xfrm>
            <a:off x="8266176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0" name="Shape 18"/>
          <p:cNvSpPr/>
          <p:nvPr/>
        </p:nvSpPr>
        <p:spPr>
          <a:xfrm>
            <a:off x="8577072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1" name="Shape 19"/>
          <p:cNvSpPr/>
          <p:nvPr/>
        </p:nvSpPr>
        <p:spPr>
          <a:xfrm>
            <a:off x="8887968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2" name="Shape 20"/>
          <p:cNvSpPr/>
          <p:nvPr/>
        </p:nvSpPr>
        <p:spPr>
          <a:xfrm>
            <a:off x="9198864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3" name="Shape 21"/>
          <p:cNvSpPr/>
          <p:nvPr/>
        </p:nvSpPr>
        <p:spPr>
          <a:xfrm>
            <a:off x="9509760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4" name="Shape 22"/>
          <p:cNvSpPr/>
          <p:nvPr/>
        </p:nvSpPr>
        <p:spPr>
          <a:xfrm>
            <a:off x="9820656" y="187452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5" name="Shape 23"/>
          <p:cNvSpPr/>
          <p:nvPr/>
        </p:nvSpPr>
        <p:spPr>
          <a:xfrm>
            <a:off x="6400800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6" name="Shape 24"/>
          <p:cNvSpPr/>
          <p:nvPr/>
        </p:nvSpPr>
        <p:spPr>
          <a:xfrm>
            <a:off x="6711696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7" name="Shape 25"/>
          <p:cNvSpPr/>
          <p:nvPr/>
        </p:nvSpPr>
        <p:spPr>
          <a:xfrm>
            <a:off x="7022592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8" name="Shape 26"/>
          <p:cNvSpPr/>
          <p:nvPr/>
        </p:nvSpPr>
        <p:spPr>
          <a:xfrm>
            <a:off x="7333488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29" name="Shape 27"/>
          <p:cNvSpPr/>
          <p:nvPr/>
        </p:nvSpPr>
        <p:spPr>
          <a:xfrm>
            <a:off x="7644384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0" name="Shape 28"/>
          <p:cNvSpPr/>
          <p:nvPr/>
        </p:nvSpPr>
        <p:spPr>
          <a:xfrm>
            <a:off x="7955280" y="2185416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31" name="Shape 29"/>
          <p:cNvSpPr/>
          <p:nvPr/>
        </p:nvSpPr>
        <p:spPr>
          <a:xfrm>
            <a:off x="8266176" y="2185416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32" name="Shape 30"/>
          <p:cNvSpPr/>
          <p:nvPr/>
        </p:nvSpPr>
        <p:spPr>
          <a:xfrm>
            <a:off x="8577072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3" name="Shape 31"/>
          <p:cNvSpPr/>
          <p:nvPr/>
        </p:nvSpPr>
        <p:spPr>
          <a:xfrm>
            <a:off x="8887968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4" name="Shape 32"/>
          <p:cNvSpPr/>
          <p:nvPr/>
        </p:nvSpPr>
        <p:spPr>
          <a:xfrm>
            <a:off x="9198864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5" name="Shape 33"/>
          <p:cNvSpPr/>
          <p:nvPr/>
        </p:nvSpPr>
        <p:spPr>
          <a:xfrm>
            <a:off x="9509760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6" name="Shape 34"/>
          <p:cNvSpPr/>
          <p:nvPr/>
        </p:nvSpPr>
        <p:spPr>
          <a:xfrm>
            <a:off x="9820656" y="218541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7" name="Shape 35"/>
          <p:cNvSpPr/>
          <p:nvPr/>
        </p:nvSpPr>
        <p:spPr>
          <a:xfrm>
            <a:off x="6400800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8" name="Shape 36"/>
          <p:cNvSpPr/>
          <p:nvPr/>
        </p:nvSpPr>
        <p:spPr>
          <a:xfrm>
            <a:off x="6711696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39" name="Shape 37"/>
          <p:cNvSpPr/>
          <p:nvPr/>
        </p:nvSpPr>
        <p:spPr>
          <a:xfrm>
            <a:off x="7022592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40" name="Shape 38"/>
          <p:cNvSpPr/>
          <p:nvPr/>
        </p:nvSpPr>
        <p:spPr>
          <a:xfrm>
            <a:off x="7333488" y="2496312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41" name="Shape 39"/>
          <p:cNvSpPr/>
          <p:nvPr/>
        </p:nvSpPr>
        <p:spPr>
          <a:xfrm>
            <a:off x="7644384" y="2496312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42" name="Shape 40"/>
          <p:cNvSpPr/>
          <p:nvPr/>
        </p:nvSpPr>
        <p:spPr>
          <a:xfrm>
            <a:off x="7955280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43" name="Shape 41"/>
          <p:cNvSpPr/>
          <p:nvPr/>
        </p:nvSpPr>
        <p:spPr>
          <a:xfrm>
            <a:off x="8266176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44" name="Shape 42"/>
          <p:cNvSpPr/>
          <p:nvPr/>
        </p:nvSpPr>
        <p:spPr>
          <a:xfrm>
            <a:off x="8577072" y="2496312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45" name="Shape 43"/>
          <p:cNvSpPr/>
          <p:nvPr/>
        </p:nvSpPr>
        <p:spPr>
          <a:xfrm>
            <a:off x="8887968" y="2496312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46" name="Shape 44"/>
          <p:cNvSpPr/>
          <p:nvPr/>
        </p:nvSpPr>
        <p:spPr>
          <a:xfrm>
            <a:off x="9198864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47" name="Shape 45"/>
          <p:cNvSpPr/>
          <p:nvPr/>
        </p:nvSpPr>
        <p:spPr>
          <a:xfrm>
            <a:off x="9509760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48" name="Shape 46"/>
          <p:cNvSpPr/>
          <p:nvPr/>
        </p:nvSpPr>
        <p:spPr>
          <a:xfrm>
            <a:off x="9820656" y="249631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49" name="Shape 47"/>
          <p:cNvSpPr/>
          <p:nvPr/>
        </p:nvSpPr>
        <p:spPr>
          <a:xfrm>
            <a:off x="6400800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0" name="Shape 48"/>
          <p:cNvSpPr/>
          <p:nvPr/>
        </p:nvSpPr>
        <p:spPr>
          <a:xfrm>
            <a:off x="6711696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1" name="Shape 49"/>
          <p:cNvSpPr/>
          <p:nvPr/>
        </p:nvSpPr>
        <p:spPr>
          <a:xfrm>
            <a:off x="7022592" y="280720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52" name="Shape 50"/>
          <p:cNvSpPr/>
          <p:nvPr/>
        </p:nvSpPr>
        <p:spPr>
          <a:xfrm>
            <a:off x="7333488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3" name="Shape 51"/>
          <p:cNvSpPr/>
          <p:nvPr/>
        </p:nvSpPr>
        <p:spPr>
          <a:xfrm>
            <a:off x="7644384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4" name="Shape 52"/>
          <p:cNvSpPr/>
          <p:nvPr/>
        </p:nvSpPr>
        <p:spPr>
          <a:xfrm>
            <a:off x="7955280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5" name="Shape 53"/>
          <p:cNvSpPr/>
          <p:nvPr/>
        </p:nvSpPr>
        <p:spPr>
          <a:xfrm>
            <a:off x="8266176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6" name="Shape 54"/>
          <p:cNvSpPr/>
          <p:nvPr/>
        </p:nvSpPr>
        <p:spPr>
          <a:xfrm>
            <a:off x="8577072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7" name="Shape 55"/>
          <p:cNvSpPr/>
          <p:nvPr/>
        </p:nvSpPr>
        <p:spPr>
          <a:xfrm>
            <a:off x="8887968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58" name="Shape 56"/>
          <p:cNvSpPr/>
          <p:nvPr/>
        </p:nvSpPr>
        <p:spPr>
          <a:xfrm>
            <a:off x="9198864" y="280720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59" name="Shape 57"/>
          <p:cNvSpPr/>
          <p:nvPr/>
        </p:nvSpPr>
        <p:spPr>
          <a:xfrm>
            <a:off x="9509760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0" name="Shape 58"/>
          <p:cNvSpPr/>
          <p:nvPr/>
        </p:nvSpPr>
        <p:spPr>
          <a:xfrm>
            <a:off x="9820656" y="280720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1" name="Shape 59"/>
          <p:cNvSpPr/>
          <p:nvPr/>
        </p:nvSpPr>
        <p:spPr>
          <a:xfrm>
            <a:off x="6400800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2" name="Shape 60"/>
          <p:cNvSpPr/>
          <p:nvPr/>
        </p:nvSpPr>
        <p:spPr>
          <a:xfrm>
            <a:off x="6711696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3" name="Shape 61"/>
          <p:cNvSpPr/>
          <p:nvPr/>
        </p:nvSpPr>
        <p:spPr>
          <a:xfrm>
            <a:off x="7022592" y="3118104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64" name="Shape 62"/>
          <p:cNvSpPr/>
          <p:nvPr/>
        </p:nvSpPr>
        <p:spPr>
          <a:xfrm>
            <a:off x="7333488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5" name="Shape 63"/>
          <p:cNvSpPr/>
          <p:nvPr/>
        </p:nvSpPr>
        <p:spPr>
          <a:xfrm>
            <a:off x="7644384" y="3118104"/>
            <a:ext cx="292608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6" name="Shape 64"/>
          <p:cNvSpPr/>
          <p:nvPr/>
        </p:nvSpPr>
        <p:spPr>
          <a:xfrm>
            <a:off x="7955280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7" name="Shape 65"/>
          <p:cNvSpPr/>
          <p:nvPr/>
        </p:nvSpPr>
        <p:spPr>
          <a:xfrm>
            <a:off x="8266176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8" name="Shape 66"/>
          <p:cNvSpPr/>
          <p:nvPr/>
        </p:nvSpPr>
        <p:spPr>
          <a:xfrm>
            <a:off x="8577072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69" name="Shape 67"/>
          <p:cNvSpPr/>
          <p:nvPr/>
        </p:nvSpPr>
        <p:spPr>
          <a:xfrm>
            <a:off x="8887968" y="3118104"/>
            <a:ext cx="292608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Shape 68"/>
          <p:cNvSpPr/>
          <p:nvPr/>
        </p:nvSpPr>
        <p:spPr>
          <a:xfrm>
            <a:off x="9198864" y="3118104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71" name="Shape 69"/>
          <p:cNvSpPr/>
          <p:nvPr/>
        </p:nvSpPr>
        <p:spPr>
          <a:xfrm>
            <a:off x="9509760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2" name="Shape 70"/>
          <p:cNvSpPr/>
          <p:nvPr/>
        </p:nvSpPr>
        <p:spPr>
          <a:xfrm>
            <a:off x="9820656" y="311810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3" name="Shape 71"/>
          <p:cNvSpPr/>
          <p:nvPr/>
        </p:nvSpPr>
        <p:spPr>
          <a:xfrm>
            <a:off x="6400800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4" name="Shape 72"/>
          <p:cNvSpPr/>
          <p:nvPr/>
        </p:nvSpPr>
        <p:spPr>
          <a:xfrm>
            <a:off x="6711696" y="3429000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75" name="Shape 73"/>
          <p:cNvSpPr/>
          <p:nvPr/>
        </p:nvSpPr>
        <p:spPr>
          <a:xfrm>
            <a:off x="7022592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6" name="Shape 74"/>
          <p:cNvSpPr/>
          <p:nvPr/>
        </p:nvSpPr>
        <p:spPr>
          <a:xfrm>
            <a:off x="7333488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7" name="Shape 75"/>
          <p:cNvSpPr/>
          <p:nvPr/>
        </p:nvSpPr>
        <p:spPr>
          <a:xfrm>
            <a:off x="7644384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8" name="Shape 76"/>
          <p:cNvSpPr/>
          <p:nvPr/>
        </p:nvSpPr>
        <p:spPr>
          <a:xfrm>
            <a:off x="7955280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79" name="Shape 77"/>
          <p:cNvSpPr/>
          <p:nvPr/>
        </p:nvSpPr>
        <p:spPr>
          <a:xfrm>
            <a:off x="8266176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0" name="Shape 78"/>
          <p:cNvSpPr/>
          <p:nvPr/>
        </p:nvSpPr>
        <p:spPr>
          <a:xfrm>
            <a:off x="8577072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1" name="Shape 79"/>
          <p:cNvSpPr/>
          <p:nvPr/>
        </p:nvSpPr>
        <p:spPr>
          <a:xfrm>
            <a:off x="8887968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2" name="Shape 80"/>
          <p:cNvSpPr/>
          <p:nvPr/>
        </p:nvSpPr>
        <p:spPr>
          <a:xfrm>
            <a:off x="9198864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3" name="Shape 81"/>
          <p:cNvSpPr/>
          <p:nvPr/>
        </p:nvSpPr>
        <p:spPr>
          <a:xfrm>
            <a:off x="9509760" y="3429000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84" name="Shape 82"/>
          <p:cNvSpPr/>
          <p:nvPr/>
        </p:nvSpPr>
        <p:spPr>
          <a:xfrm>
            <a:off x="9820656" y="342900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5" name="Shape 83"/>
          <p:cNvSpPr/>
          <p:nvPr/>
        </p:nvSpPr>
        <p:spPr>
          <a:xfrm>
            <a:off x="6400800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6" name="Shape 84"/>
          <p:cNvSpPr/>
          <p:nvPr/>
        </p:nvSpPr>
        <p:spPr>
          <a:xfrm>
            <a:off x="6711696" y="3739896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87" name="Shape 85"/>
          <p:cNvSpPr/>
          <p:nvPr/>
        </p:nvSpPr>
        <p:spPr>
          <a:xfrm>
            <a:off x="7022592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8" name="Shape 86"/>
          <p:cNvSpPr/>
          <p:nvPr/>
        </p:nvSpPr>
        <p:spPr>
          <a:xfrm>
            <a:off x="7333488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89" name="Shape 87"/>
          <p:cNvSpPr/>
          <p:nvPr/>
        </p:nvSpPr>
        <p:spPr>
          <a:xfrm>
            <a:off x="7644384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0" name="Shape 88"/>
          <p:cNvSpPr/>
          <p:nvPr/>
        </p:nvSpPr>
        <p:spPr>
          <a:xfrm>
            <a:off x="7955280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1" name="Shape 89"/>
          <p:cNvSpPr/>
          <p:nvPr/>
        </p:nvSpPr>
        <p:spPr>
          <a:xfrm>
            <a:off x="8266176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2" name="Shape 90"/>
          <p:cNvSpPr/>
          <p:nvPr/>
        </p:nvSpPr>
        <p:spPr>
          <a:xfrm>
            <a:off x="8577072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3" name="Shape 91"/>
          <p:cNvSpPr/>
          <p:nvPr/>
        </p:nvSpPr>
        <p:spPr>
          <a:xfrm>
            <a:off x="8887968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4" name="Shape 92"/>
          <p:cNvSpPr/>
          <p:nvPr/>
        </p:nvSpPr>
        <p:spPr>
          <a:xfrm>
            <a:off x="9198864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5" name="Shape 93"/>
          <p:cNvSpPr/>
          <p:nvPr/>
        </p:nvSpPr>
        <p:spPr>
          <a:xfrm>
            <a:off x="9509760" y="3739896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96" name="Shape 94"/>
          <p:cNvSpPr/>
          <p:nvPr/>
        </p:nvSpPr>
        <p:spPr>
          <a:xfrm>
            <a:off x="9820656" y="373989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7" name="Shape 95"/>
          <p:cNvSpPr/>
          <p:nvPr/>
        </p:nvSpPr>
        <p:spPr>
          <a:xfrm>
            <a:off x="6400800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8" name="Shape 96"/>
          <p:cNvSpPr/>
          <p:nvPr/>
        </p:nvSpPr>
        <p:spPr>
          <a:xfrm>
            <a:off x="6711696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99" name="Shape 97"/>
          <p:cNvSpPr/>
          <p:nvPr/>
        </p:nvSpPr>
        <p:spPr>
          <a:xfrm>
            <a:off x="7022592" y="4050792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00" name="Shape 98"/>
          <p:cNvSpPr/>
          <p:nvPr/>
        </p:nvSpPr>
        <p:spPr>
          <a:xfrm>
            <a:off x="7333488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1" name="Shape 99"/>
          <p:cNvSpPr/>
          <p:nvPr/>
        </p:nvSpPr>
        <p:spPr>
          <a:xfrm>
            <a:off x="7644384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2" name="Shape 100"/>
          <p:cNvSpPr/>
          <p:nvPr/>
        </p:nvSpPr>
        <p:spPr>
          <a:xfrm>
            <a:off x="7955280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3" name="Shape 101"/>
          <p:cNvSpPr/>
          <p:nvPr/>
        </p:nvSpPr>
        <p:spPr>
          <a:xfrm>
            <a:off x="8266176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4" name="Shape 102"/>
          <p:cNvSpPr/>
          <p:nvPr/>
        </p:nvSpPr>
        <p:spPr>
          <a:xfrm>
            <a:off x="8577072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5" name="Shape 103"/>
          <p:cNvSpPr/>
          <p:nvPr/>
        </p:nvSpPr>
        <p:spPr>
          <a:xfrm>
            <a:off x="8887968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6" name="Shape 104"/>
          <p:cNvSpPr/>
          <p:nvPr/>
        </p:nvSpPr>
        <p:spPr>
          <a:xfrm>
            <a:off x="9198864" y="4050792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07" name="Shape 105"/>
          <p:cNvSpPr/>
          <p:nvPr/>
        </p:nvSpPr>
        <p:spPr>
          <a:xfrm>
            <a:off x="9509760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8" name="Shape 106"/>
          <p:cNvSpPr/>
          <p:nvPr/>
        </p:nvSpPr>
        <p:spPr>
          <a:xfrm>
            <a:off x="9820656" y="4050792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09" name="Shape 107"/>
          <p:cNvSpPr/>
          <p:nvPr/>
        </p:nvSpPr>
        <p:spPr>
          <a:xfrm>
            <a:off x="6400800" y="436168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10" name="Shape 108"/>
          <p:cNvSpPr/>
          <p:nvPr/>
        </p:nvSpPr>
        <p:spPr>
          <a:xfrm>
            <a:off x="6711696" y="436168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11" name="Shape 109"/>
          <p:cNvSpPr/>
          <p:nvPr/>
        </p:nvSpPr>
        <p:spPr>
          <a:xfrm>
            <a:off x="7022592" y="436168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12" name="Shape 110"/>
          <p:cNvSpPr/>
          <p:nvPr/>
        </p:nvSpPr>
        <p:spPr>
          <a:xfrm>
            <a:off x="7333488" y="436168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13" name="Shape 111"/>
          <p:cNvSpPr/>
          <p:nvPr/>
        </p:nvSpPr>
        <p:spPr>
          <a:xfrm>
            <a:off x="7644384" y="436168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14" name="Shape 112"/>
          <p:cNvSpPr/>
          <p:nvPr/>
        </p:nvSpPr>
        <p:spPr>
          <a:xfrm>
            <a:off x="7955280" y="436168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15" name="Shape 113"/>
          <p:cNvSpPr/>
          <p:nvPr/>
        </p:nvSpPr>
        <p:spPr>
          <a:xfrm>
            <a:off x="8266176" y="436168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16" name="Shape 114"/>
          <p:cNvSpPr/>
          <p:nvPr/>
        </p:nvSpPr>
        <p:spPr>
          <a:xfrm>
            <a:off x="8577072" y="436168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17" name="Shape 115"/>
          <p:cNvSpPr/>
          <p:nvPr/>
        </p:nvSpPr>
        <p:spPr>
          <a:xfrm>
            <a:off x="8887968" y="436168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18" name="Shape 116"/>
          <p:cNvSpPr/>
          <p:nvPr/>
        </p:nvSpPr>
        <p:spPr>
          <a:xfrm>
            <a:off x="9198864" y="4361688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19" name="Shape 117"/>
          <p:cNvSpPr/>
          <p:nvPr/>
        </p:nvSpPr>
        <p:spPr>
          <a:xfrm>
            <a:off x="9509760" y="436168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0" name="Shape 118"/>
          <p:cNvSpPr/>
          <p:nvPr/>
        </p:nvSpPr>
        <p:spPr>
          <a:xfrm>
            <a:off x="9820656" y="4361688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1" name="Shape 119"/>
          <p:cNvSpPr/>
          <p:nvPr/>
        </p:nvSpPr>
        <p:spPr>
          <a:xfrm>
            <a:off x="6400800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2" name="Shape 120"/>
          <p:cNvSpPr/>
          <p:nvPr/>
        </p:nvSpPr>
        <p:spPr>
          <a:xfrm>
            <a:off x="6711696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3" name="Shape 121"/>
          <p:cNvSpPr/>
          <p:nvPr/>
        </p:nvSpPr>
        <p:spPr>
          <a:xfrm>
            <a:off x="7022592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4" name="Shape 122"/>
          <p:cNvSpPr/>
          <p:nvPr/>
        </p:nvSpPr>
        <p:spPr>
          <a:xfrm>
            <a:off x="7333488" y="4672584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25" name="Shape 123"/>
          <p:cNvSpPr/>
          <p:nvPr/>
        </p:nvSpPr>
        <p:spPr>
          <a:xfrm>
            <a:off x="7644384" y="4672584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26" name="Shape 124"/>
          <p:cNvSpPr/>
          <p:nvPr/>
        </p:nvSpPr>
        <p:spPr>
          <a:xfrm>
            <a:off x="7955280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7" name="Shape 125"/>
          <p:cNvSpPr/>
          <p:nvPr/>
        </p:nvSpPr>
        <p:spPr>
          <a:xfrm>
            <a:off x="8266176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28" name="Shape 126"/>
          <p:cNvSpPr/>
          <p:nvPr/>
        </p:nvSpPr>
        <p:spPr>
          <a:xfrm>
            <a:off x="8577072" y="4672584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29" name="Shape 127"/>
          <p:cNvSpPr/>
          <p:nvPr/>
        </p:nvSpPr>
        <p:spPr>
          <a:xfrm>
            <a:off x="8887968" y="4672584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30" name="Shape 128"/>
          <p:cNvSpPr/>
          <p:nvPr/>
        </p:nvSpPr>
        <p:spPr>
          <a:xfrm>
            <a:off x="9198864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1" name="Shape 129"/>
          <p:cNvSpPr/>
          <p:nvPr/>
        </p:nvSpPr>
        <p:spPr>
          <a:xfrm>
            <a:off x="9509760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2" name="Shape 130"/>
          <p:cNvSpPr/>
          <p:nvPr/>
        </p:nvSpPr>
        <p:spPr>
          <a:xfrm>
            <a:off x="9820656" y="4672584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3" name="Shape 131"/>
          <p:cNvSpPr/>
          <p:nvPr/>
        </p:nvSpPr>
        <p:spPr>
          <a:xfrm>
            <a:off x="6400800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4" name="Shape 132"/>
          <p:cNvSpPr/>
          <p:nvPr/>
        </p:nvSpPr>
        <p:spPr>
          <a:xfrm>
            <a:off x="6711696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5" name="Shape 133"/>
          <p:cNvSpPr/>
          <p:nvPr/>
        </p:nvSpPr>
        <p:spPr>
          <a:xfrm>
            <a:off x="7022592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6" name="Shape 134"/>
          <p:cNvSpPr/>
          <p:nvPr/>
        </p:nvSpPr>
        <p:spPr>
          <a:xfrm>
            <a:off x="7333488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7" name="Shape 135"/>
          <p:cNvSpPr/>
          <p:nvPr/>
        </p:nvSpPr>
        <p:spPr>
          <a:xfrm>
            <a:off x="7644384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38" name="Shape 136"/>
          <p:cNvSpPr/>
          <p:nvPr/>
        </p:nvSpPr>
        <p:spPr>
          <a:xfrm>
            <a:off x="7955280" y="4983480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39" name="Shape 137"/>
          <p:cNvSpPr/>
          <p:nvPr/>
        </p:nvSpPr>
        <p:spPr>
          <a:xfrm>
            <a:off x="8266176" y="4983480"/>
            <a:ext cx="292608" cy="292608"/>
          </a:xfrm>
          <a:prstGeom prst="rect">
            <a:avLst/>
          </a:prstGeom>
          <a:solidFill>
            <a:srgbClr val="0098D8"/>
          </a:solidFill>
        </p:spPr>
      </p:sp>
      <p:sp>
        <p:nvSpPr>
          <p:cNvPr id="140" name="Shape 138"/>
          <p:cNvSpPr/>
          <p:nvPr/>
        </p:nvSpPr>
        <p:spPr>
          <a:xfrm>
            <a:off x="8577072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1" name="Shape 139"/>
          <p:cNvSpPr/>
          <p:nvPr/>
        </p:nvSpPr>
        <p:spPr>
          <a:xfrm>
            <a:off x="8887968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2" name="Shape 140"/>
          <p:cNvSpPr/>
          <p:nvPr/>
        </p:nvSpPr>
        <p:spPr>
          <a:xfrm>
            <a:off x="9198864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3" name="Shape 141"/>
          <p:cNvSpPr/>
          <p:nvPr/>
        </p:nvSpPr>
        <p:spPr>
          <a:xfrm>
            <a:off x="9509760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4" name="Shape 142"/>
          <p:cNvSpPr/>
          <p:nvPr/>
        </p:nvSpPr>
        <p:spPr>
          <a:xfrm>
            <a:off x="9820656" y="4983480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5" name="Shape 143"/>
          <p:cNvSpPr/>
          <p:nvPr/>
        </p:nvSpPr>
        <p:spPr>
          <a:xfrm>
            <a:off x="6400800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6" name="Shape 144"/>
          <p:cNvSpPr/>
          <p:nvPr/>
        </p:nvSpPr>
        <p:spPr>
          <a:xfrm>
            <a:off x="6711696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7" name="Shape 145"/>
          <p:cNvSpPr/>
          <p:nvPr/>
        </p:nvSpPr>
        <p:spPr>
          <a:xfrm>
            <a:off x="7022592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8" name="Shape 146"/>
          <p:cNvSpPr/>
          <p:nvPr/>
        </p:nvSpPr>
        <p:spPr>
          <a:xfrm>
            <a:off x="7333488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49" name="Shape 147"/>
          <p:cNvSpPr/>
          <p:nvPr/>
        </p:nvSpPr>
        <p:spPr>
          <a:xfrm>
            <a:off x="7644384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0" name="Shape 148"/>
          <p:cNvSpPr/>
          <p:nvPr/>
        </p:nvSpPr>
        <p:spPr>
          <a:xfrm>
            <a:off x="7955280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1" name="Shape 149"/>
          <p:cNvSpPr/>
          <p:nvPr/>
        </p:nvSpPr>
        <p:spPr>
          <a:xfrm>
            <a:off x="8266176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2" name="Shape 150"/>
          <p:cNvSpPr/>
          <p:nvPr/>
        </p:nvSpPr>
        <p:spPr>
          <a:xfrm>
            <a:off x="8577072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3" name="Shape 151"/>
          <p:cNvSpPr/>
          <p:nvPr/>
        </p:nvSpPr>
        <p:spPr>
          <a:xfrm>
            <a:off x="8887968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4" name="Shape 152"/>
          <p:cNvSpPr/>
          <p:nvPr/>
        </p:nvSpPr>
        <p:spPr>
          <a:xfrm>
            <a:off x="9198864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5" name="Shape 153"/>
          <p:cNvSpPr/>
          <p:nvPr/>
        </p:nvSpPr>
        <p:spPr>
          <a:xfrm>
            <a:off x="9509760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6" name="Shape 154"/>
          <p:cNvSpPr/>
          <p:nvPr/>
        </p:nvSpPr>
        <p:spPr>
          <a:xfrm>
            <a:off x="9820656" y="5294376"/>
            <a:ext cx="292608" cy="292608"/>
          </a:xfrm>
          <a:prstGeom prst="rect">
            <a:avLst/>
          </a:prstGeom>
          <a:solidFill>
            <a:srgbClr val="2A303B"/>
          </a:solidFill>
        </p:spPr>
      </p:sp>
      <p:sp>
        <p:nvSpPr>
          <p:cNvPr id="157" name="Text 155"/>
          <p:cNvSpPr/>
          <p:nvPr/>
        </p:nvSpPr>
        <p:spPr>
          <a:xfrm>
            <a:off x="6126480" y="5943727"/>
            <a:ext cx="4279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 kare bir "LEGO parçası" gibi düşünülebilir — bu da bir piksel.</a:t>
            </a:r>
            <a:endParaRPr lang="en-US" sz="1050" dirty="0"/>
          </a:p>
        </p:txBody>
      </p:sp>
      <p:sp>
        <p:nvSpPr>
          <p:cNvPr id="158" name="Shape 156"/>
          <p:cNvSpPr/>
          <p:nvPr/>
        </p:nvSpPr>
        <p:spPr>
          <a:xfrm>
            <a:off x="548640" y="6172200"/>
            <a:ext cx="11064240" cy="0"/>
          </a:xfrm>
          <a:prstGeom prst="roundRect">
            <a:avLst/>
          </a:prstGeom>
        </p:spPr>
      </p:sp>
      <p:sp>
        <p:nvSpPr>
          <p:cNvPr id="159" name="Text 157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Tanım: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işleme, piksel değerlerini matematiksel yöntemlerle değiştirerek görüntüyü iyileştirme ya da analize hazırlama sürecidir.</a:t>
            </a:r>
            <a:endParaRPr lang="en-US" sz="1300" dirty="0"/>
          </a:p>
        </p:txBody>
      </p:sp>
      <p:sp>
        <p:nvSpPr>
          <p:cNvPr id="160" name="Text 15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 MANTIĞI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 Piksel, Aslında 3 Sayıdır: RGB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43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lang="en-US" sz="20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 (Kırmızı)  ·  </a:t>
            </a:r>
            <a:r>
              <a:rPr lang="en-US" sz="2000" b="1" dirty="0">
                <a:solidFill>
                  <a:srgbClr val="3C9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</a:t>
            </a:r>
            <a:r>
              <a:rPr lang="en-US" sz="20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reen (Yeşil)  ·  </a:t>
            </a:r>
            <a:r>
              <a:rPr lang="en-US" sz="2000" b="1" dirty="0">
                <a:solidFill>
                  <a:srgbClr val="2E6F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lang="en-US" sz="20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lue (Mavi)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Bilgisayar, bütün renkleri bu üç rengin karışımından oluşturur. Her piksel bu 3 sayıyı bir arada tutar.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691640" cy="2011680"/>
          </a:xfrm>
          <a:prstGeom prst="roundRect">
            <a:avLst>
              <a:gd name="adj" fmla="val 3243"/>
            </a:avLst>
          </a:prstGeom>
          <a:solidFill>
            <a:srgbClr val="F1F4F8"/>
          </a:solidFill>
        </p:spPr>
      </p:sp>
      <p:sp>
        <p:nvSpPr>
          <p:cNvPr id="7" name="Shape 5"/>
          <p:cNvSpPr/>
          <p:nvPr/>
        </p:nvSpPr>
        <p:spPr>
          <a:xfrm>
            <a:off x="777240" y="310896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11480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Kırmızı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41655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 255  G 0  B 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41448" y="2880360"/>
            <a:ext cx="1691640" cy="2011680"/>
          </a:xfrm>
          <a:prstGeom prst="roundRect">
            <a:avLst>
              <a:gd name="adj" fmla="val 3243"/>
            </a:avLst>
          </a:prstGeom>
          <a:solidFill>
            <a:srgbClr val="F1F4F8"/>
          </a:solidFill>
        </p:spPr>
      </p:sp>
      <p:sp>
        <p:nvSpPr>
          <p:cNvPr id="11" name="Shape 9"/>
          <p:cNvSpPr/>
          <p:nvPr/>
        </p:nvSpPr>
        <p:spPr>
          <a:xfrm>
            <a:off x="2670048" y="310896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00CC00"/>
          </a:solidFill>
          <a:ln w="12700">
            <a:solidFill>
              <a:srgbClr val="00C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411480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Yeşil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441655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 0  G 255  B 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4256" y="2880360"/>
            <a:ext cx="1691640" cy="2011680"/>
          </a:xfrm>
          <a:prstGeom prst="roundRect">
            <a:avLst>
              <a:gd name="adj" fmla="val 3243"/>
            </a:avLst>
          </a:prstGeom>
          <a:solidFill>
            <a:srgbClr val="F1F4F8"/>
          </a:solidFill>
        </p:spPr>
      </p:sp>
      <p:sp>
        <p:nvSpPr>
          <p:cNvPr id="15" name="Shape 13"/>
          <p:cNvSpPr/>
          <p:nvPr/>
        </p:nvSpPr>
        <p:spPr>
          <a:xfrm>
            <a:off x="4562856" y="310896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411480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71416" y="441655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 0  G 0  B 255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27064" y="2880360"/>
            <a:ext cx="1691640" cy="2011680"/>
          </a:xfrm>
          <a:prstGeom prst="roundRect">
            <a:avLst>
              <a:gd name="adj" fmla="val 3243"/>
            </a:avLst>
          </a:prstGeom>
          <a:solidFill>
            <a:srgbClr val="F1F4F8"/>
          </a:solidFill>
        </p:spPr>
      </p:sp>
      <p:sp>
        <p:nvSpPr>
          <p:cNvPr id="19" name="Shape 17"/>
          <p:cNvSpPr/>
          <p:nvPr/>
        </p:nvSpPr>
        <p:spPr>
          <a:xfrm>
            <a:off x="6455664" y="310896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411480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Beyaz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4224" y="441655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 255  G 255  B 255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19872" y="2880360"/>
            <a:ext cx="1691640" cy="2011680"/>
          </a:xfrm>
          <a:prstGeom prst="roundRect">
            <a:avLst>
              <a:gd name="adj" fmla="val 3243"/>
            </a:avLst>
          </a:prstGeom>
          <a:solidFill>
            <a:srgbClr val="F1F4F8"/>
          </a:solidFill>
        </p:spPr>
      </p:sp>
      <p:sp>
        <p:nvSpPr>
          <p:cNvPr id="23" name="Shape 21"/>
          <p:cNvSpPr/>
          <p:nvPr/>
        </p:nvSpPr>
        <p:spPr>
          <a:xfrm>
            <a:off x="8348472" y="310896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411480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Siyah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57032" y="441655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 0  G 0  B 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12680" y="2880360"/>
            <a:ext cx="1691640" cy="2011680"/>
          </a:xfrm>
          <a:prstGeom prst="roundRect">
            <a:avLst>
              <a:gd name="adj" fmla="val 3243"/>
            </a:avLst>
          </a:prstGeom>
          <a:solidFill>
            <a:srgbClr val="F1F4F8"/>
          </a:solidFill>
        </p:spPr>
      </p:sp>
      <p:sp>
        <p:nvSpPr>
          <p:cNvPr id="27" name="Shape 25"/>
          <p:cNvSpPr/>
          <p:nvPr/>
        </p:nvSpPr>
        <p:spPr>
          <a:xfrm>
            <a:off x="10241280" y="310896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0" y="411480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Sarı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149840" y="441655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 255  G 255  B 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Not:  </a:t>
            </a: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Bilgisayar renkleri 8 bit ile saklar → 2⁸ = 256 farklı değer (0–255). Bu yüzden her renk kanalı 0 ile 255 arasındadır.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 MANTIĞI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Kanal (Channel), OpenCV Formatı ve Boyut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Renkli Görüntü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Height × Width × 3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 kanal: R, G,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 Görüntü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1343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Height × Width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Tek kanal (parlaklık)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</p:spPr>
      </p:sp>
      <p:sp>
        <p:nvSpPr>
          <p:cNvPr id="11" name="Text 9"/>
          <p:cNvSpPr/>
          <p:nvPr/>
        </p:nvSpPr>
        <p:spPr>
          <a:xfrm>
            <a:off x="822960" y="3429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Formatı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86791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(height, width, channel)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Örn: (1080, 1920, 3)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0098D8"/>
          </a:solidFill>
        </p:spPr>
      </p:sp>
      <p:sp>
        <p:nvSpPr>
          <p:cNvPr id="14" name="Text 12"/>
          <p:cNvSpPr/>
          <p:nvPr/>
        </p:nvSpPr>
        <p:spPr>
          <a:xfrm>
            <a:off x="6492240" y="3429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 Görüntü Kaç Sayı?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86791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640×480 → 307.200 piksel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×3 kanal = 921.600 sayı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1B1F27"/>
          </a:solidFill>
        </p:spPr>
      </p:sp>
      <p:sp>
        <p:nvSpPr>
          <p:cNvPr id="17" name="Text 15"/>
          <p:cNvSpPr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Önemli Not: 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OpenCV, görüntüleri NumPy dizisi olarak işler ve renk kanallarını RGB değil </a:t>
            </a:r>
            <a:r>
              <a:rPr lang="en-US" sz="14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BGR</a:t>
            </a:r>
            <a:r>
              <a:rPr lang="en-US" sz="1400" dirty="0">
                <a:solidFill>
                  <a:srgbClr val="E5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sırasıyla saklar. Bu, OpenCV ile çalışırken sık karşılaşılan bir tuzaktır.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05215" y="721995"/>
            <a:ext cx="3350260" cy="668020"/>
          </a:xfrm>
          <a:prstGeom prst="round2DiagRect">
            <a:avLst/>
          </a:prstGeom>
          <a:solidFill>
            <a:srgbClr val="0098D8"/>
          </a:solidFill>
        </p:spPr>
        <p:txBody>
          <a:bodyPr/>
          <a:p>
            <a:pPr marL="0" indent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Her pikselde ü</a:t>
            </a:r>
            <a:r>
              <a:rPr lang="en-US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 </a:t>
            </a:r>
            <a:r>
              <a:rPr lang="en-US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renk bilgisi var.Bu ü</a:t>
            </a:r>
            <a:r>
              <a:rPr lang="en-US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 </a:t>
            </a:r>
            <a:r>
              <a:rPr lang="en-US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bilgiye </a:t>
            </a:r>
            <a:r>
              <a:rPr lang="en-US" altLang="en-US" sz="14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kanal (channel)</a:t>
            </a:r>
            <a:r>
              <a:rPr lang="en-US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denir.</a:t>
            </a:r>
            <a:endParaRPr lang="tr-TR" alt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 MANTIĞI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HSV Renk Uzayı: Neden BGR/RGB Değil?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görüntüleri BGR okur; fakat ışık şiddeti değiştikçe aynı nesnenin BGR değerleri de değişir. HSV, rengi parlaklıktan ayırarak daha güvenilir bir renk tespiti sağlar.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0098D8"/>
          </a:solidFill>
        </p:spPr>
      </p:sp>
      <p:sp>
        <p:nvSpPr>
          <p:cNvPr id="6" name="Text 4"/>
          <p:cNvSpPr/>
          <p:nvPr/>
        </p:nvSpPr>
        <p:spPr>
          <a:xfrm>
            <a:off x="777240" y="24688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Hue (H)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Gerçek renk bilgisi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</p:spPr>
      </p:sp>
      <p:sp>
        <p:nvSpPr>
          <p:cNvPr id="9" name="Text 7"/>
          <p:cNvSpPr/>
          <p:nvPr/>
        </p:nvSpPr>
        <p:spPr>
          <a:xfrm>
            <a:off x="4572000" y="24688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Saturation (S)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Rengin canlılığı / doygunluğu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</p:spPr>
      </p:sp>
      <p:sp>
        <p:nvSpPr>
          <p:cNvPr id="12" name="Text 10"/>
          <p:cNvSpPr/>
          <p:nvPr/>
        </p:nvSpPr>
        <p:spPr>
          <a:xfrm>
            <a:off x="8366760" y="24688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(V)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8803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Parlaklık miktarı</a:t>
            </a:r>
            <a:endParaRPr lang="en-US" sz="1250" dirty="0"/>
          </a:p>
        </p:txBody>
      </p:sp>
      <p:pic>
        <p:nvPicPr>
          <p:cNvPr id="14" name="Image 0" descr="/home/claude/build/img/04_hsv_colorspace.jpeg"/>
          <p:cNvPicPr>
            <a:picLocks noChangeAspect="1"/>
          </p:cNvPicPr>
          <p:nvPr/>
        </p:nvPicPr>
        <p:blipFill>
          <a:blip r:embed="rId1"/>
          <a:srcRect l="1549" t="2373" r="3019"/>
          <a:stretch>
            <a:fillRect/>
          </a:stretch>
        </p:blipFill>
        <p:spPr>
          <a:xfrm>
            <a:off x="594360" y="3908425"/>
            <a:ext cx="10874375" cy="2821305"/>
          </a:xfrm>
          <a:prstGeom prst="snip1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94360" y="3886200"/>
            <a:ext cx="11064240" cy="284353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4395" y="6364971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Orijinal görüntü ile Hue, Saturation ve Value kanallarının ayrı ayrı görünümü.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BAĞLANTI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alt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Processing</a:t>
            </a: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Computer Vision'a Nasıl Bağlanır?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Kamera görüntüsü her zaman temiz değildir: bulanık, karanlık, gürültülü ya da sallanmış olabilir. Böyle bir görüntü doğrudan bir modele verilirse başarı düşer. Bu yüzden önce görüntü işleme, sonra CNN / YOLO / ViT çalıştırılır.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</p:spPr>
      </p:sp>
      <p:sp>
        <p:nvSpPr>
          <p:cNvPr id="6" name="Text 4"/>
          <p:cNvSpPr/>
          <p:nvPr/>
        </p:nvSpPr>
        <p:spPr>
          <a:xfrm>
            <a:off x="685800" y="2834640"/>
            <a:ext cx="2331720" cy="1371600"/>
          </a:xfrm>
          <a:prstGeom prst="rect">
            <a:avLst/>
          </a:prstGeom>
          <a:noFill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35808" y="3246120"/>
            <a:ext cx="37490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B1F27"/>
          </a:solidFill>
        </p:spPr>
      </p:sp>
      <p:sp>
        <p:nvSpPr>
          <p:cNvPr id="9" name="Text 7"/>
          <p:cNvSpPr/>
          <p:nvPr/>
        </p:nvSpPr>
        <p:spPr>
          <a:xfrm>
            <a:off x="3429000" y="2834640"/>
            <a:ext cx="2331720" cy="1371600"/>
          </a:xfrm>
          <a:prstGeom prst="rect">
            <a:avLst/>
          </a:prstGeom>
          <a:noFill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İşleme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(ön işleme)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79008" y="3246120"/>
            <a:ext cx="37490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72200" y="2834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098D8"/>
          </a:solidFill>
        </p:spPr>
      </p:sp>
      <p:sp>
        <p:nvSpPr>
          <p:cNvPr id="12" name="Text 10"/>
          <p:cNvSpPr/>
          <p:nvPr/>
        </p:nvSpPr>
        <p:spPr>
          <a:xfrm>
            <a:off x="6172200" y="2834640"/>
            <a:ext cx="2331720" cy="1371600"/>
          </a:xfrm>
          <a:prstGeom prst="rect">
            <a:avLst/>
          </a:prstGeom>
          <a:noFill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/ YOLO / ViT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22208" y="3246120"/>
            <a:ext cx="37490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915400" y="2834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</p:spPr>
      </p:sp>
      <p:sp>
        <p:nvSpPr>
          <p:cNvPr id="15" name="Text 13"/>
          <p:cNvSpPr/>
          <p:nvPr/>
        </p:nvSpPr>
        <p:spPr>
          <a:xfrm>
            <a:off x="8915400" y="2834640"/>
            <a:ext cx="2331720" cy="1371600"/>
          </a:xfrm>
          <a:prstGeom prst="rect">
            <a:avLst/>
          </a:prstGeom>
          <a:noFill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Tahmin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431596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alt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</a:t>
            </a: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isteğe bağlı</a:t>
            </a:r>
            <a:r>
              <a:rPr lang="tr-TR" alt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tr-TR" altLang="en-US" sz="1050" i="1" dirty="0">
              <a:solidFill>
                <a:srgbClr val="6B74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1F4F8"/>
          </a:solidFill>
        </p:spPr>
      </p:sp>
      <p:sp>
        <p:nvSpPr>
          <p:cNvPr id="18" name="Text 16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Fark ne? 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Klasik görüntü işlemede filtreleri biz tasarlarız. CNN ise kendi filtrelerini eğitim sırasında kendisi öğrenir. İkisi rakip değil, birbirini tamamlayan adımlardır.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 HARITASI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İşleme Teknikleri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Ham görüntüden anlamlı bilgiye giden 9 adım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6" name="Text 4"/>
          <p:cNvSpPr/>
          <p:nvPr/>
        </p:nvSpPr>
        <p:spPr>
          <a:xfrm>
            <a:off x="731520" y="21031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Grayscale (Gri Tonlama)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9" name="Text 7"/>
          <p:cNvSpPr/>
          <p:nvPr/>
        </p:nvSpPr>
        <p:spPr>
          <a:xfrm>
            <a:off x="4480560" y="21031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6243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tr-TR" alt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</a:t>
            </a:r>
            <a:endParaRPr lang="tr-TR" altLang="en-US" sz="13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96596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12" name="Text 10"/>
          <p:cNvSpPr/>
          <p:nvPr/>
        </p:nvSpPr>
        <p:spPr>
          <a:xfrm>
            <a:off x="8229600" y="21031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26243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tr-TR" alt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Gürültü Giderme(Noise Removal)</a:t>
            </a:r>
            <a:endParaRPr lang="tr-TR" altLang="en-US" sz="13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15" name="Text 13"/>
          <p:cNvSpPr/>
          <p:nvPr/>
        </p:nvSpPr>
        <p:spPr>
          <a:xfrm>
            <a:off x="731520" y="35204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40416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Filtering (Filtreleme)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97680" y="338328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18" name="Text 16"/>
          <p:cNvSpPr/>
          <p:nvPr/>
        </p:nvSpPr>
        <p:spPr>
          <a:xfrm>
            <a:off x="4480560" y="35204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0560" y="40416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Thresholding (Eşikleme)</a:t>
            </a:r>
            <a:r>
              <a:rPr lang="tr-TR" alt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tr-TR" altLang="en-US" sz="13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338328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21" name="Text 19"/>
          <p:cNvSpPr/>
          <p:nvPr/>
        </p:nvSpPr>
        <p:spPr>
          <a:xfrm>
            <a:off x="8229600" y="35204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40416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Detection (Kenar Bulma)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24" name="Text 22"/>
          <p:cNvSpPr/>
          <p:nvPr/>
        </p:nvSpPr>
        <p:spPr>
          <a:xfrm>
            <a:off x="731520" y="49377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" y="54589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Morphological Operations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297680" y="480060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27" name="Text 25"/>
          <p:cNvSpPr/>
          <p:nvPr/>
        </p:nvSpPr>
        <p:spPr>
          <a:xfrm>
            <a:off x="4480560" y="49377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480560" y="54589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Contour Detection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46720" y="480060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262B35"/>
          </a:solidFill>
        </p:spPr>
      </p:sp>
      <p:sp>
        <p:nvSpPr>
          <p:cNvPr id="30" name="Text 28"/>
          <p:cNvSpPr/>
          <p:nvPr/>
        </p:nvSpPr>
        <p:spPr>
          <a:xfrm>
            <a:off x="8229600" y="49377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229600" y="54589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Transformation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Grayscale (Gri Tonlama)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Renkli görüntüyü tek kanala indirgemek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Renkli bir görüntünün yalnızca parlaklık bilgisini içeren tek kanallı görüntüye dönüştürülmesidir. Gereksiz renk bilgisi kaldırılır.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514600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Neden?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 bilgisini atmak, algoritmaları daha hızlı ve verimli çalıştırır.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Matematiksel işlem yükünü azaltır.</a:t>
            </a:r>
            <a:endParaRPr lang="tr-TR" altLang="en-US" sz="1300" dirty="0">
              <a:solidFill>
                <a:srgbClr val="4A55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3081528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Nerede kullanılır?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Kenar tespiti, eşikleme ve nesne tespiti öncesi ön işleme adımı.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2" name="Text 10"/>
          <p:cNvSpPr/>
          <p:nvPr/>
        </p:nvSpPr>
        <p:spPr>
          <a:xfrm>
            <a:off x="777240" y="364845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değişimi: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(H, W, 3) renkli  →  (H, W) gri, tek kanal.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2377440"/>
            <a:ext cx="560832" cy="560832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15" name="Shape 13"/>
          <p:cNvSpPr/>
          <p:nvPr/>
        </p:nvSpPr>
        <p:spPr>
          <a:xfrm>
            <a:off x="6065520" y="2377440"/>
            <a:ext cx="560832" cy="560832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6" name="Shape 14"/>
          <p:cNvSpPr/>
          <p:nvPr/>
        </p:nvSpPr>
        <p:spPr>
          <a:xfrm>
            <a:off x="6644640" y="2377440"/>
            <a:ext cx="560832" cy="560832"/>
          </a:xfrm>
          <a:prstGeom prst="rect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486400" y="2956560"/>
            <a:ext cx="560832" cy="560832"/>
          </a:xfrm>
          <a:prstGeom prst="rect">
            <a:avLst/>
          </a:prstGeom>
          <a:solidFill>
            <a:srgbClr val="6BCB77"/>
          </a:solidFill>
        </p:spPr>
      </p:sp>
      <p:sp>
        <p:nvSpPr>
          <p:cNvPr id="18" name="Shape 16"/>
          <p:cNvSpPr/>
          <p:nvPr/>
        </p:nvSpPr>
        <p:spPr>
          <a:xfrm>
            <a:off x="6065520" y="2956560"/>
            <a:ext cx="560832" cy="560832"/>
          </a:xfrm>
          <a:prstGeom prst="rect">
            <a:avLst/>
          </a:prstGeom>
          <a:solidFill>
            <a:srgbClr val="4D96FF"/>
          </a:solidFill>
        </p:spPr>
      </p:sp>
      <p:sp>
        <p:nvSpPr>
          <p:cNvPr id="19" name="Shape 17"/>
          <p:cNvSpPr/>
          <p:nvPr/>
        </p:nvSpPr>
        <p:spPr>
          <a:xfrm>
            <a:off x="6644640" y="2956560"/>
            <a:ext cx="560832" cy="560832"/>
          </a:xfrm>
          <a:prstGeom prst="rect">
            <a:avLst/>
          </a:prstGeom>
          <a:solidFill>
            <a:srgbClr val="9D65C9"/>
          </a:solidFill>
        </p:spPr>
      </p:sp>
      <p:sp>
        <p:nvSpPr>
          <p:cNvPr id="20" name="Shape 18"/>
          <p:cNvSpPr/>
          <p:nvPr/>
        </p:nvSpPr>
        <p:spPr>
          <a:xfrm>
            <a:off x="5486400" y="3535680"/>
            <a:ext cx="560832" cy="560832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21" name="Shape 19"/>
          <p:cNvSpPr/>
          <p:nvPr/>
        </p:nvSpPr>
        <p:spPr>
          <a:xfrm>
            <a:off x="6065520" y="3535680"/>
            <a:ext cx="560832" cy="560832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22" name="Shape 20"/>
          <p:cNvSpPr/>
          <p:nvPr/>
        </p:nvSpPr>
        <p:spPr>
          <a:xfrm>
            <a:off x="6644640" y="3535680"/>
            <a:ext cx="560832" cy="560832"/>
          </a:xfrm>
          <a:prstGeom prst="rect">
            <a:avLst/>
          </a:prstGeom>
          <a:solidFill>
            <a:srgbClr val="FFD93D"/>
          </a:solidFill>
        </p:spPr>
      </p:sp>
      <p:sp>
        <p:nvSpPr>
          <p:cNvPr id="23" name="Text 21"/>
          <p:cNvSpPr/>
          <p:nvPr/>
        </p:nvSpPr>
        <p:spPr>
          <a:xfrm>
            <a:off x="7315200" y="297180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909560" y="2377440"/>
            <a:ext cx="560832" cy="560832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25" name="Shape 23"/>
          <p:cNvSpPr/>
          <p:nvPr/>
        </p:nvSpPr>
        <p:spPr>
          <a:xfrm>
            <a:off x="8488680" y="2377440"/>
            <a:ext cx="560832" cy="560832"/>
          </a:xfrm>
          <a:prstGeom prst="rect">
            <a:avLst/>
          </a:prstGeom>
          <a:solidFill>
            <a:srgbClr val="6E6E6E"/>
          </a:solidFill>
        </p:spPr>
      </p:sp>
      <p:sp>
        <p:nvSpPr>
          <p:cNvPr id="26" name="Shape 24"/>
          <p:cNvSpPr/>
          <p:nvPr/>
        </p:nvSpPr>
        <p:spPr>
          <a:xfrm>
            <a:off x="9067800" y="2377440"/>
            <a:ext cx="560832" cy="560832"/>
          </a:xfrm>
          <a:prstGeom prst="rect">
            <a:avLst/>
          </a:prstGeom>
          <a:solidFill>
            <a:srgbClr val="9E9E9E"/>
          </a:solidFill>
        </p:spPr>
      </p:sp>
      <p:sp>
        <p:nvSpPr>
          <p:cNvPr id="27" name="Shape 25"/>
          <p:cNvSpPr/>
          <p:nvPr/>
        </p:nvSpPr>
        <p:spPr>
          <a:xfrm>
            <a:off x="7909560" y="2956560"/>
            <a:ext cx="560832" cy="560832"/>
          </a:xfrm>
          <a:prstGeom prst="rect">
            <a:avLst/>
          </a:prstGeom>
          <a:solidFill>
            <a:srgbClr val="5A5A5A"/>
          </a:solidFill>
        </p:spPr>
      </p:sp>
      <p:sp>
        <p:nvSpPr>
          <p:cNvPr id="28" name="Shape 26"/>
          <p:cNvSpPr/>
          <p:nvPr/>
        </p:nvSpPr>
        <p:spPr>
          <a:xfrm>
            <a:off x="8488680" y="2956560"/>
            <a:ext cx="560832" cy="560832"/>
          </a:xfrm>
          <a:prstGeom prst="rect">
            <a:avLst/>
          </a:prstGeom>
          <a:solidFill>
            <a:srgbClr val="8A8A8A"/>
          </a:solidFill>
        </p:spPr>
      </p:sp>
      <p:sp>
        <p:nvSpPr>
          <p:cNvPr id="29" name="Shape 27"/>
          <p:cNvSpPr/>
          <p:nvPr/>
        </p:nvSpPr>
        <p:spPr>
          <a:xfrm>
            <a:off x="9067800" y="2956560"/>
            <a:ext cx="560832" cy="560832"/>
          </a:xfrm>
          <a:prstGeom prst="rect">
            <a:avLst/>
          </a:prstGeom>
          <a:solidFill>
            <a:srgbClr val="B8B8B8"/>
          </a:solidFill>
        </p:spPr>
      </p:sp>
      <p:sp>
        <p:nvSpPr>
          <p:cNvPr id="30" name="Shape 28"/>
          <p:cNvSpPr/>
          <p:nvPr/>
        </p:nvSpPr>
        <p:spPr>
          <a:xfrm>
            <a:off x="7909560" y="3535680"/>
            <a:ext cx="560832" cy="560832"/>
          </a:xfrm>
          <a:prstGeom prst="rect">
            <a:avLst/>
          </a:prstGeom>
          <a:solidFill>
            <a:srgbClr val="4A4A4A"/>
          </a:solidFill>
        </p:spPr>
      </p:sp>
      <p:sp>
        <p:nvSpPr>
          <p:cNvPr id="31" name="Shape 29"/>
          <p:cNvSpPr/>
          <p:nvPr/>
        </p:nvSpPr>
        <p:spPr>
          <a:xfrm>
            <a:off x="8488680" y="3535680"/>
            <a:ext cx="560832" cy="560832"/>
          </a:xfrm>
          <a:prstGeom prst="rect">
            <a:avLst/>
          </a:prstGeom>
          <a:solidFill>
            <a:srgbClr val="7C7C7C"/>
          </a:solidFill>
        </p:spPr>
      </p:sp>
      <p:sp>
        <p:nvSpPr>
          <p:cNvPr id="32" name="Shape 30"/>
          <p:cNvSpPr/>
          <p:nvPr/>
        </p:nvSpPr>
        <p:spPr>
          <a:xfrm>
            <a:off x="9067800" y="3535680"/>
            <a:ext cx="560832" cy="560832"/>
          </a:xfrm>
          <a:prstGeom prst="rect">
            <a:avLst/>
          </a:prstGeom>
          <a:solidFill>
            <a:srgbClr val="A5A5A5"/>
          </a:solidFill>
        </p:spPr>
      </p:sp>
      <p:sp>
        <p:nvSpPr>
          <p:cNvPr id="33" name="Text 31"/>
          <p:cNvSpPr/>
          <p:nvPr/>
        </p:nvSpPr>
        <p:spPr>
          <a:xfrm>
            <a:off x="5303520" y="42519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Renkli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(3 kanal)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42519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 Tonlama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 kanal)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alt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tr-TR" alt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Piksellerin parlaklık dağılımı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 görüntüdeki piksel parlaklık değerlerinin dağılımını gösteren grafiktir. X ekseni piksel yoğunluğu (0–255), Y ekseni ise o yoğunluğa sahip piksel sayısıdır.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87320"/>
            <a:ext cx="91440" cy="91440"/>
          </a:xfrm>
          <a:prstGeom prst="roundRect">
            <a:avLst>
              <a:gd name="adj" fmla="val 20138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51460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 işe yarar?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Görüntünün karanlık, parlak ya da düşük kontrastlı olup olmadığını anlamamızı sağlar.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3136392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 Equalization: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Piksel yoğunluklarını yeniden dağıtarak kontrastı artırır, detayları belirginleştirir.</a:t>
            </a:r>
            <a:endParaRPr lang="en-US" sz="1300" dirty="0"/>
          </a:p>
        </p:txBody>
      </p:sp>
      <p:pic>
        <p:nvPicPr>
          <p:cNvPr id="11" name="Image 0" descr="/home/claude/build/img/01_histogram_composite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08760"/>
            <a:ext cx="6537960" cy="374883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74920" y="1508760"/>
            <a:ext cx="6537960" cy="374883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5349030"/>
            <a:ext cx="6537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Orijinal görüntü / histogramı ile Histogram Equalization sonrası hâli.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alt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tr-TR" alt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Gürültü Giderme (Noise Removal)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Gerçek bilgiyi bozan yanlış sayılarla mücadele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Gürültü, piksellerin olması gerekenden farklı, rastgele ve anlamsız değerler almasıdır. Genelde kamera sensöründen veya düşük ışıktan kaynaklanır.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5146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Tuz-biber gürültüsü: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Aniden patlayan siyah (0) veya beyaz (255) noktalar.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3063240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Gauss gürültüsü: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Piksellerin etrafına yayılan istatistiksel sapmalar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küçük miktarda değişimler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(az ışıkta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görüntünün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grenli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/kumlu olması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1F4F8"/>
          </a:solidFill>
        </p:spPr>
      </p:sp>
      <p:sp>
        <p:nvSpPr>
          <p:cNvPr id="12" name="Text 10"/>
          <p:cNvSpPr/>
          <p:nvPr/>
        </p:nvSpPr>
        <p:spPr>
          <a:xfrm>
            <a:off x="777240" y="40050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Çözüm 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sonraki </a:t>
            </a:r>
            <a:r>
              <a:rPr 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slaytta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göreceksiniz</a:t>
            </a:r>
            <a:r>
              <a:rPr 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Median filtre tuz-biber gürültüsünü, Gaussian/Bilateral filtre ise genel gürültüyü büyük ölçüde temizler.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alt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tr-TR" alt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Filtering (Filtreleme)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Kameranın oluşturduğu hataları temizlemek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 pikselin yeni değeri, komşu piksellere göre yeniden hesaplanır. Kernel (çekirdek) adı verilen küçük bir matris, görüntü üzerinde gezdirilerek uygulanır.</a:t>
            </a:r>
            <a:endParaRPr lang="en-US" sz="1350" dirty="0"/>
          </a:p>
        </p:txBody>
      </p:sp>
      <p:pic>
        <p:nvPicPr>
          <p:cNvPr id="7" name="Image 0" descr="/home/claude/build/img/02_filtering_lena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2690" y="1645920"/>
            <a:ext cx="6340475" cy="37318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74920" y="1645920"/>
            <a:ext cx="6340475" cy="371475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35245" y="5477510"/>
            <a:ext cx="63406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Orijinal → Mean → Gaussian → Median → Bilateral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4297680" cy="512064"/>
          </a:xfrm>
          <a:prstGeom prst="rect">
            <a:avLst/>
          </a:prstGeom>
          <a:solidFill>
            <a:srgbClr val="F1F4F8"/>
          </a:solidFill>
        </p:spPr>
      </p:sp>
      <p:sp>
        <p:nvSpPr>
          <p:cNvPr id="12" name="Text 9"/>
          <p:cNvSpPr/>
          <p:nvPr/>
        </p:nvSpPr>
        <p:spPr>
          <a:xfrm>
            <a:off x="658368" y="2642616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37360" y="2642616"/>
            <a:ext cx="2999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Basit, hızlı ama kenarları bulanıklaştırır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8640" y="3172968"/>
            <a:ext cx="4297680" cy="5120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2"/>
          <p:cNvSpPr/>
          <p:nvPr/>
        </p:nvSpPr>
        <p:spPr>
          <a:xfrm>
            <a:off x="658368" y="3209544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Gaussian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737360" y="3209544"/>
            <a:ext cx="2999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Daha doğal, merkez piksele daha çok ağırlık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48640" y="3739896"/>
            <a:ext cx="4297680" cy="512064"/>
          </a:xfrm>
          <a:prstGeom prst="rect">
            <a:avLst/>
          </a:prstGeom>
          <a:solidFill>
            <a:srgbClr val="F1F4F8"/>
          </a:solidFill>
        </p:spPr>
      </p:sp>
      <p:sp>
        <p:nvSpPr>
          <p:cNvPr id="18" name="Text 15"/>
          <p:cNvSpPr/>
          <p:nvPr/>
        </p:nvSpPr>
        <p:spPr>
          <a:xfrm>
            <a:off x="658368" y="3776472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737360" y="3776472"/>
            <a:ext cx="2999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Tuz-biber gürültüsünde çok başarılı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4297680" cy="5120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658368" y="4343400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Bilateral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737360" y="4343400"/>
            <a:ext cx="2999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Kenarları korur, biraz daha yavaş</a:t>
            </a:r>
            <a:endParaRPr lang="en-US" sz="1080" dirty="0"/>
          </a:p>
        </p:txBody>
      </p:sp>
      <p:sp>
        <p:nvSpPr>
          <p:cNvPr id="23" name="Shape 8"/>
          <p:cNvSpPr/>
          <p:nvPr/>
        </p:nvSpPr>
        <p:spPr>
          <a:xfrm>
            <a:off x="339725" y="5344795"/>
            <a:ext cx="4563110" cy="974090"/>
          </a:xfrm>
          <a:prstGeom prst="snip2DiagRect">
            <a:avLst/>
          </a:prstGeom>
          <a:solidFill>
            <a:srgbClr val="F1F4F8"/>
          </a:solidFill>
        </p:spPr>
        <p:txBody>
          <a:bodyPr/>
          <a:p>
            <a:r>
              <a:rPr lang="en-US" altLang="en-US" sz="1400"/>
              <a:t>Buraya kadar yap</a:t>
            </a:r>
            <a:r>
              <a:rPr lang="en-US" altLang="en-US" sz="1400"/>
              <a:t>ı</a:t>
            </a:r>
            <a:r>
              <a:rPr lang="en-US" altLang="en-US" sz="1400"/>
              <a:t>lan i</a:t>
            </a:r>
            <a:r>
              <a:rPr lang="en-US" altLang="en-US" sz="1400"/>
              <a:t>ş</a:t>
            </a:r>
            <a:r>
              <a:rPr lang="en-US" altLang="en-US" sz="1400"/>
              <a:t>lemler "</a:t>
            </a:r>
            <a:r>
              <a:rPr lang="en-US" altLang="en-US" sz="1400" i="1" u="sng"/>
              <a:t>Ön </a:t>
            </a:r>
            <a:r>
              <a:rPr lang="en-US" altLang="en-US" sz="1400" i="1" u="sng"/>
              <a:t>İş</a:t>
            </a:r>
            <a:r>
              <a:rPr lang="en-US" altLang="en-US" sz="1400" i="1" u="sng"/>
              <a:t>leme (Preprocessing)</a:t>
            </a:r>
            <a:r>
              <a:rPr lang="en-US" altLang="en-US" sz="1400"/>
              <a:t>" olarak adland</a:t>
            </a:r>
            <a:r>
              <a:rPr lang="en-US" altLang="en-US" sz="1400"/>
              <a:t>ı</a:t>
            </a:r>
            <a:r>
              <a:rPr lang="en-US" altLang="en-US" sz="1400"/>
              <a:t>r</a:t>
            </a:r>
            <a:r>
              <a:rPr lang="en-US" altLang="en-US" sz="1400"/>
              <a:t>ı</a:t>
            </a:r>
            <a:r>
              <a:rPr lang="en-US" altLang="en-US" sz="1400"/>
              <a:t>l</a:t>
            </a:r>
            <a:r>
              <a:rPr lang="en-US" altLang="en-US" sz="1400"/>
              <a:t>ı</a:t>
            </a:r>
            <a:r>
              <a:rPr lang="en-US" altLang="en-US" sz="1400"/>
              <a:t>r. </a:t>
            </a:r>
            <a:r>
              <a:rPr lang="en-US" altLang="en-US" sz="1400"/>
              <a:t>Ç</a:t>
            </a:r>
            <a:r>
              <a:rPr lang="en-US" altLang="en-US" sz="1400"/>
              <a:t>ünkü henüz nesne aram</a:t>
            </a:r>
            <a:r>
              <a:rPr lang="en-US" altLang="en-US" sz="1400"/>
              <a:t>ı</a:t>
            </a:r>
            <a:r>
              <a:rPr lang="en-US" altLang="en-US" sz="1400"/>
              <a:t>yoruz; sadece görüntüyü temizliyoruz ve iyile</a:t>
            </a:r>
            <a:r>
              <a:rPr lang="en-US" altLang="en-US" sz="1400"/>
              <a:t>ş</a:t>
            </a:r>
            <a:r>
              <a:rPr lang="en-US" altLang="en-US" sz="1400"/>
              <a:t>tiriyoruz.</a:t>
            </a:r>
            <a:endParaRPr lang="en-US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alt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tr-TR" alt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Thresholding (Eşikleme)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Görüntüyü siyah / beyaza ayırmak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 tonlu bir görüntüyü, belirlenen bir eşik değerine göre siyah ve beyaz olmak üzere iki sınıfa ayıran temel tekniktir. Amaç estetik değil, nesneyi arka plandan ayırmaktır.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51460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Eşik altı siyah, üstü beyaz.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2898648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Inverse: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Binary'nin tam tersi.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2" name="Text 10"/>
          <p:cNvSpPr/>
          <p:nvPr/>
        </p:nvSpPr>
        <p:spPr>
          <a:xfrm>
            <a:off x="777240" y="3282696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Adaptive: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 bölge için farklı eşik hesaplar → değişken ışıkta başarılı.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4" name="Text 12"/>
          <p:cNvSpPr/>
          <p:nvPr/>
        </p:nvSpPr>
        <p:spPr>
          <a:xfrm>
            <a:off x="777240" y="383133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Otsu 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uygun eşiği histogramdan otomatik 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kendisi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bulur.</a:t>
            </a:r>
            <a:endParaRPr lang="en-US" sz="1300" dirty="0"/>
          </a:p>
        </p:txBody>
      </p:sp>
      <p:pic>
        <p:nvPicPr>
          <p:cNvPr id="15" name="Image 0" descr="/home/claude/build/img/03_threshold_coins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54480"/>
            <a:ext cx="6537960" cy="351881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074920" y="1554480"/>
            <a:ext cx="6537960" cy="3518816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4920" y="5164736"/>
            <a:ext cx="6537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Orijinal (gri) → Binary → Binary Inverse → Adaptive Mean → Otsu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Detection (Kenar Bulma)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Nesnelerin sınırlarını ortaya çıkarmak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Görüntüde piksel yoğunluğunun aniden değiştiği bölgeleri bularak nesnelerin sınırlarını ortaya çıkarır. Nesne tespiti ve görüntü analizinde sıkça kullanılır.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514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Sobel X: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Sadece dikey kenarları bulur.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28803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Sobel Y: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Sadece yatay kenarları bulur.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2" name="Text 10"/>
          <p:cNvSpPr/>
          <p:nvPr/>
        </p:nvSpPr>
        <p:spPr>
          <a:xfrm>
            <a:off x="77724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Laplacian: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 yöndeki ani değişimi bulur, biraz gürültülü olabilir.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4" name="Text 12"/>
          <p:cNvSpPr/>
          <p:nvPr/>
        </p:nvSpPr>
        <p:spPr>
          <a:xfrm>
            <a:off x="777240" y="3871595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Canny 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gelişmiş yöntem 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filtreleme, kenar inceltme ve 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ift e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ş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ikli eleme ad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mlar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 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nd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ığı 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önce yumuşatır, sonra gerçek kenarları seçer.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37760" y="1217930"/>
            <a:ext cx="7147560" cy="4062095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4470" y="5336050"/>
            <a:ext cx="6537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→ Gray → Sobel X → Sobel Y → Laplacian → Canny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165" y="1332865"/>
            <a:ext cx="7068820" cy="38315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Morphological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Nesnenin şeklini düzenlemek</a:t>
            </a:r>
            <a:r>
              <a:rPr lang="tr-TR" alt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,temizlemek</a:t>
            </a:r>
            <a:endParaRPr lang="tr-TR" altLang="en-US" sz="1250" i="1" dirty="0">
              <a:solidFill>
                <a:srgbClr val="6B74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Nesnelerin şeklini düzenlemek amacıyla kullanılan işlemlerdir: boşluk doldurma, gürültü temizleme, büyütme ve küçültme.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37744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Erosion: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Nesneyi küçültür, ince yerler kaybolur.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27889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Dilation: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Nesneyi büyütür, boşluklar kapanır.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2" name="Text 10"/>
          <p:cNvSpPr/>
          <p:nvPr/>
        </p:nvSpPr>
        <p:spPr>
          <a:xfrm>
            <a:off x="777240" y="32004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Opening: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Erosion + Dilation → küçük gürültüleri temizler.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4" name="Text 12"/>
          <p:cNvSpPr/>
          <p:nvPr/>
        </p:nvSpPr>
        <p:spPr>
          <a:xfrm>
            <a:off x="777240" y="3657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Dilation + Erosion → küçük boşlukları doldurur.</a:t>
            </a:r>
            <a:endParaRPr lang="en-US" sz="1300" dirty="0"/>
          </a:p>
        </p:txBody>
      </p:sp>
      <p:pic>
        <p:nvPicPr>
          <p:cNvPr id="15" name="Image 0" descr="/home/claude/build/img/06_morphology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8395" y="1267460"/>
            <a:ext cx="6817360" cy="333883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021580" y="1268095"/>
            <a:ext cx="6537960" cy="3503295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8915" y="4916572"/>
            <a:ext cx="6537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→ Threshold → Erosion → Dilation → Opening → Closing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Contour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"Burada bir nesne var" demek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Kontur, bir nesnenin dış sınırını takip eden çizgidir. Konturlar sayesinde nesnelerin konumu, şekli ve sayısı belirlenebilir.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3870" y="254762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327910"/>
            <a:ext cx="4023360" cy="1694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Neden Threshold'tan sonra?  </a:t>
            </a:r>
            <a:r>
              <a:rPr lang="tr-TR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 seviyeli görüntüdeki kafa kar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ış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 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gölgeleri ve yumu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ş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 ton ge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ş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lerini tamamen yok etmek i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önce Thresholding uygulan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r. Görüntü sadece siyah ve beyazdan olu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ş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net bir maskeye dönü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ş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türüldü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ğ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ünde, bilgisayar nesne s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rlar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 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 gürültüye tak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lmadan milimetrik olarak tespit edebilir.</a:t>
            </a:r>
            <a:endParaRPr lang="en-US" altLang="en-US" sz="1300" dirty="0">
              <a:solidFill>
                <a:srgbClr val="4A55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3870" y="4299585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4153535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Kullanım alanı: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 sayma, şekil analizi.</a:t>
            </a:r>
            <a:endParaRPr lang="en-US" sz="1300" dirty="0"/>
          </a:p>
        </p:txBody>
      </p:sp>
      <p:pic>
        <p:nvPicPr>
          <p:cNvPr id="11" name="Image 0" descr="/home/claude/build/img/07_contours.jpeg"/>
          <p:cNvPicPr>
            <a:picLocks noChangeAspect="1"/>
          </p:cNvPicPr>
          <p:nvPr/>
        </p:nvPicPr>
        <p:blipFill>
          <a:blip r:embed="rId1"/>
          <a:srcRect t="2960"/>
          <a:stretch>
            <a:fillRect/>
          </a:stretch>
        </p:blipFill>
        <p:spPr>
          <a:xfrm>
            <a:off x="5119370" y="1301115"/>
            <a:ext cx="6555740" cy="39966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02530" y="1161415"/>
            <a:ext cx="6537960" cy="427609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5591545"/>
            <a:ext cx="6537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→ Gray → Threshold → Contours  (Bulunan kontur sayısı: 4032)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98D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Transformation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İçeriği değil, boyutu / konumu değiştirmek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Şimdiye kadarki teknikler piksel değerlerini değiştiriyordu. Image Transformation ise görüntünün konumunu veya boyutunu değiştirir; içerik aynı kalır.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8" name="Text 6"/>
          <p:cNvSpPr/>
          <p:nvPr/>
        </p:nvSpPr>
        <p:spPr>
          <a:xfrm>
            <a:off x="777240" y="246888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Resize: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Boyutlandırma.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777240" y="2816352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Rotate: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Döndürme.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2" name="Text 10"/>
          <p:cNvSpPr/>
          <p:nvPr/>
        </p:nvSpPr>
        <p:spPr>
          <a:xfrm>
            <a:off x="777240" y="3163824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Flip: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Aynalama.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0098D8"/>
          </a:solidFill>
        </p:spPr>
      </p:sp>
      <p:sp>
        <p:nvSpPr>
          <p:cNvPr id="14" name="Text 12"/>
          <p:cNvSpPr/>
          <p:nvPr/>
        </p:nvSpPr>
        <p:spPr>
          <a:xfrm>
            <a:off x="777240" y="351129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/ Translation:  </a:t>
            </a: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Kırpma / taşıma.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F1F4F8"/>
          </a:solidFill>
        </p:spPr>
      </p:sp>
      <p:sp>
        <p:nvSpPr>
          <p:cNvPr id="16" name="Text 14"/>
          <p:cNvSpPr/>
          <p:nvPr/>
        </p:nvSpPr>
        <p:spPr>
          <a:xfrm>
            <a:off x="777240" y="4197096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 teknikler özellikle YOLO gibi modellerde Data Augmentation (veri artırma) mantığını anlamak için çok önemlidir.</a:t>
            </a:r>
            <a:endParaRPr lang="en-US" sz="1250" dirty="0"/>
          </a:p>
        </p:txBody>
      </p:sp>
      <p:pic>
        <p:nvPicPr>
          <p:cNvPr id="17" name="Image 0" descr="/home/claude/build/img/08_transformations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2070" y="1417320"/>
            <a:ext cx="6232550" cy="36576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74920" y="1161415"/>
            <a:ext cx="6232550" cy="365760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43195" y="5074920"/>
            <a:ext cx="623255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→ Resize → Rotate → Flip → Crop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ARAÇ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Nedir?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işleme ve </a:t>
            </a:r>
            <a:r>
              <a:rPr lang="tr-TR" altLang="en-US" sz="14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bilgisayarlı görü</a:t>
            </a:r>
            <a:r>
              <a:rPr lang="en-US" sz="14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için açık kaynaklı, Python ve C++ destekli en yaygın kütüphane.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262B35"/>
          </a:solidFill>
        </p:spPr>
      </p:sp>
      <p:sp>
        <p:nvSpPr>
          <p:cNvPr id="6" name="Text 4"/>
          <p:cNvSpPr/>
          <p:nvPr/>
        </p:nvSpPr>
        <p:spPr>
          <a:xfrm>
            <a:off x="822960" y="235000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Dizisi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Görüntüleri NumPy array olarak işler.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262B35"/>
          </a:solidFill>
        </p:spPr>
      </p:sp>
      <p:sp>
        <p:nvSpPr>
          <p:cNvPr id="9" name="Text 7"/>
          <p:cNvSpPr/>
          <p:nvPr/>
        </p:nvSpPr>
        <p:spPr>
          <a:xfrm>
            <a:off x="6492240" y="235000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BGR Sırası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Renk kanallarını RGB değil BGR sırasıyla okur.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262B35"/>
          </a:solidFill>
        </p:spPr>
      </p:sp>
      <p:sp>
        <p:nvSpPr>
          <p:cNvPr id="12" name="Text 10"/>
          <p:cNvSpPr/>
          <p:nvPr/>
        </p:nvSpPr>
        <p:spPr>
          <a:xfrm>
            <a:off x="822960" y="436168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(H, W, C) Formatı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Örn: (1080, 1920, 3) → yükseklik, genişlik, kanal.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262B35"/>
          </a:solidFill>
        </p:spPr>
      </p:sp>
      <p:sp>
        <p:nvSpPr>
          <p:cNvPr id="15" name="Text 13"/>
          <p:cNvSpPr/>
          <p:nvPr/>
        </p:nvSpPr>
        <p:spPr>
          <a:xfrm>
            <a:off x="6492240" y="436168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Hazır Fonksiyonlar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84632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Threshold, filtering, edge detection, contour — hepsi hazır.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UYGULAMA · PROJE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Akıllı Madeni Para </a:t>
            </a:r>
            <a:r>
              <a:rPr lang="tr-TR" alt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Tespiti</a:t>
            </a:r>
            <a:endParaRPr lang="tr-TR" altLang="en-US" sz="3200" b="1" dirty="0">
              <a:solidFill>
                <a:srgbClr val="1B1F2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Coin Counter &amp; Classifier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Amaç: nesne tespiti için gerekli klasik görüntü işleme adımlarını uçtan uca uygulamak.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98D8"/>
          </a:solidFill>
        </p:spPr>
      </p:sp>
      <p:sp>
        <p:nvSpPr>
          <p:cNvPr id="7" name="Text 5"/>
          <p:cNvSpPr/>
          <p:nvPr/>
        </p:nvSpPr>
        <p:spPr>
          <a:xfrm>
            <a:off x="548640" y="247332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571750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: 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Kameradan al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nan ham renkli veri.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tr-TR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tr-TR" altLang="en-US" sz="1250" dirty="0">
              <a:solidFill>
                <a:srgbClr val="1B1F2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041269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98D8"/>
          </a:solidFill>
        </p:spPr>
      </p:sp>
      <p:sp>
        <p:nvSpPr>
          <p:cNvPr id="10" name="Text 8"/>
          <p:cNvSpPr/>
          <p:nvPr/>
        </p:nvSpPr>
        <p:spPr>
          <a:xfrm>
            <a:off x="548640" y="3024505"/>
            <a:ext cx="384175" cy="3790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985135"/>
            <a:ext cx="359791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Grayscale</a:t>
            </a:r>
            <a:r>
              <a:rPr lang="tr-TR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: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Renk bilgisini atarak, hesaplama yükünü azalt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 sadece parlakl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 (yo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unlu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a) odaklan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yoruz.</a:t>
            </a:r>
            <a:r>
              <a:rPr lang="tr-TR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tr-TR" altLang="en-US" sz="1250" dirty="0">
              <a:solidFill>
                <a:srgbClr val="1B1F2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630803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98D8"/>
          </a:solidFill>
        </p:spPr>
      </p:sp>
      <p:sp>
        <p:nvSpPr>
          <p:cNvPr id="13" name="Text 11"/>
          <p:cNvSpPr/>
          <p:nvPr/>
        </p:nvSpPr>
        <p:spPr>
          <a:xfrm>
            <a:off x="548640" y="366636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602990"/>
            <a:ext cx="3474720" cy="511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50" dirty="0"/>
              <a:t>Gaussian Blur</a:t>
            </a:r>
            <a:r>
              <a:rPr lang="tr-TR" altLang="en-US" sz="1250" dirty="0"/>
              <a:t>: 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Görüntüdeki yüksek frekansl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gürültüyü (kar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ncalanmay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ı)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yumu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atarak kenar tespiti i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in zemini pürüzsüzle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tiriyoruz.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tr-TR" alt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43197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98D8"/>
          </a:solidFill>
        </p:spPr>
      </p:sp>
      <p:sp>
        <p:nvSpPr>
          <p:cNvPr id="16" name="Text 14"/>
          <p:cNvSpPr/>
          <p:nvPr/>
        </p:nvSpPr>
        <p:spPr>
          <a:xfrm>
            <a:off x="548640" y="424319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321810"/>
            <a:ext cx="3474720" cy="381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</a:t>
            </a:r>
            <a:r>
              <a:rPr lang="tr-TR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: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Görüntüyü 'siyah-arka plan' ve 'beyaz-nesne' olarak iki s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fa ay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p, nesneleri arka plandan kopar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yoruz</a:t>
            </a:r>
            <a:endParaRPr lang="en-US" altLang="en-US" sz="1250" dirty="0">
              <a:solidFill>
                <a:srgbClr val="4A55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910201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98D8"/>
          </a:solidFill>
        </p:spPr>
      </p:sp>
      <p:sp>
        <p:nvSpPr>
          <p:cNvPr id="19" name="Text 17"/>
          <p:cNvSpPr/>
          <p:nvPr/>
        </p:nvSpPr>
        <p:spPr>
          <a:xfrm>
            <a:off x="548640" y="4562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971415"/>
            <a:ext cx="3597275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Morphology</a:t>
            </a:r>
            <a:r>
              <a:rPr lang="tr-TR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: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ikleme sonras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paralar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 üzerinde kalan kü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ük delikleri/bo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luklar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tam ve pürüzsüz daireler haline getiriyoruz.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tr-TR" altLang="en-US" sz="1250" dirty="0">
              <a:solidFill>
                <a:srgbClr val="1B1F2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711825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98D8"/>
          </a:solidFill>
        </p:spPr>
        <p:txBody>
          <a:bodyPr/>
          <a:p>
            <a:r>
              <a:rPr lang="tr-TR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6 </a:t>
            </a:r>
            <a:r>
              <a:rPr lang="tr-TR" alt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6 66</a:t>
            </a: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9098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</a:t>
            </a:r>
            <a:endParaRPr lang="tr-TR" alt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51560" y="5711825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Contours</a:t>
            </a:r>
            <a:r>
              <a:rPr lang="tr-TR" altLang="en-US" sz="1250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: 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Son ad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mda, nesnelerin d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ış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rlar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ye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il halkalarla 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izerek analiz i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lemini ger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ekle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tiriyoruz.</a:t>
            </a:r>
            <a:r>
              <a:rPr lang="tr-TR" altLang="en-US" sz="125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</a:t>
            </a:r>
            <a:endParaRPr lang="tr-TR" altLang="en-US" sz="1250" dirty="0">
              <a:solidFill>
                <a:srgbClr val="1B1F2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24" name="Image 0" descr="/home/claude/build/img/09_project1_coincoun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120" y="1737360"/>
            <a:ext cx="6770370" cy="368173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876165" y="1664335"/>
            <a:ext cx="7147560" cy="384175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57800" y="5609195"/>
            <a:ext cx="6355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Uygulanan pipeline: Original → Grayscale → Gaussian Blur → Threshold → Morphology → Contours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16C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UYGULAMA · PROJE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Canlı Renk Takibi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Tracker — Python &amp; OpenCV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Amaç: belirli bir renkteki (örn. mavi) nesneyi canlı kamera görüntüsünde gerçek zamanlı takip etmek.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0098D8"/>
          </a:solidFill>
        </p:spPr>
      </p:sp>
      <p:sp>
        <p:nvSpPr>
          <p:cNvPr id="7" name="Text 5"/>
          <p:cNvSpPr/>
          <p:nvPr/>
        </p:nvSpPr>
        <p:spPr>
          <a:xfrm>
            <a:off x="713232" y="2505456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HSV'ye çevir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23225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A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Işık değişimlerinden etkilenmeden renk tespiti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1F4F8"/>
          </a:solidFill>
        </p:spPr>
      </p:sp>
      <p:sp>
        <p:nvSpPr>
          <p:cNvPr id="10" name="Text 8"/>
          <p:cNvSpPr/>
          <p:nvPr/>
        </p:nvSpPr>
        <p:spPr>
          <a:xfrm>
            <a:off x="3502152" y="2505456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Maskeleme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02152" y="2834640"/>
            <a:ext cx="23225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Hedef rengi arka plandan ayır (thresholding)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1F4F8"/>
          </a:solidFill>
        </p:spPr>
      </p:sp>
      <p:sp>
        <p:nvSpPr>
          <p:cNvPr id="13" name="Text 11"/>
          <p:cNvSpPr/>
          <p:nvPr/>
        </p:nvSpPr>
        <p:spPr>
          <a:xfrm>
            <a:off x="6291072" y="2505456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Morphology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91072" y="2834640"/>
            <a:ext cx="23225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Küçük gürültüleri temizle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915400" y="23774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1F4F8"/>
          </a:solidFill>
        </p:spPr>
      </p:sp>
      <p:sp>
        <p:nvSpPr>
          <p:cNvPr id="16" name="Text 14"/>
          <p:cNvSpPr/>
          <p:nvPr/>
        </p:nvSpPr>
        <p:spPr>
          <a:xfrm>
            <a:off x="9079992" y="2505456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Merkezi bul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79992" y="2834640"/>
            <a:ext cx="23225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5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momentleri ile (X, Y) hesapla</a:t>
            </a:r>
            <a:endParaRPr lang="en-US" sz="1080" dirty="0"/>
          </a:p>
        </p:txBody>
      </p:sp>
      <p:pic>
        <p:nvPicPr>
          <p:cNvPr id="18" name="Image 0" descr="/home/claude/build/img/10_project2_colortrack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3566160" cy="2018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48640" y="3703320"/>
            <a:ext cx="3566160" cy="201820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pic>
        <p:nvPicPr>
          <p:cNvPr id="20" name="Image 1" descr="/home/claude/build/img/11_project2_colortrack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703320"/>
            <a:ext cx="3566160" cy="20182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97680" y="3703320"/>
            <a:ext cx="3566160" cy="201820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pic>
        <p:nvPicPr>
          <p:cNvPr id="22" name="Image 2" descr="/home/claude/build/img/12_project2_colortrack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703320"/>
            <a:ext cx="3566160" cy="205779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46720" y="3703320"/>
            <a:ext cx="3566160" cy="2057796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5892501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 kamerada canlı görüntü, sağda bilgisayarın gördüğü maske (HSV tabanlı renk tespiti).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27"/>
          </a:solidFill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Kaynak</a:t>
            </a:r>
            <a:r>
              <a:rPr lang="tr-TR" alt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ça</a:t>
            </a:r>
            <a:endParaRPr lang="tr-TR" altLang="en-US" sz="3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altLang="en-US" sz="14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Konu Anlatımı</a:t>
            </a:r>
            <a:endParaRPr lang="tr-TR" altLang="en-US" sz="1400" b="1" dirty="0">
              <a:solidFill>
                <a:srgbClr val="0098D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075688"/>
            <a:ext cx="1078992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0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ChatGPT </a:t>
            </a:r>
            <a:endParaRPr lang="en-US" sz="1200" dirty="0">
              <a:solidFill>
                <a:srgbClr val="D6DEE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tr-TR" altLang="en-US" sz="120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</a:t>
            </a:r>
            <a:endParaRPr lang="en-US" sz="1200" dirty="0"/>
          </a:p>
          <a:p>
            <a:pPr indent="0">
              <a:lnSpc>
                <a:spcPct val="130000"/>
              </a:lnSpc>
              <a:buSzPct val="100000"/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Kütüphane ve Dokümantasyon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078992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0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Developers, "OpenCV Documentation", https://docs.opencv.org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0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Developers, "NumPy Documentation", https://numpy.org/doc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23944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Kendi Projelerim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507992"/>
            <a:ext cx="10789920" cy="649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0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Akıllı Madeni Para Sayıcı (Coin Counter &amp; Classifier) — kendi Python/OpenCV projem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200" dirty="0">
                <a:solidFill>
                  <a:srgbClr val="D6DE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Canlı Renk Takibi (Object Tracker) — kendi Python/OpenCV projem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724144"/>
            <a:ext cx="1078992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>
              <a:lnSpc>
                <a:spcPct val="130000"/>
              </a:lnSpc>
              <a:buSzPct val="100000"/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10095</Words>
  <Application>WPS Presentation</Application>
  <PresentationFormat>On-screen Show (16:9)</PresentationFormat>
  <Paragraphs>523</Paragraphs>
  <Slides>21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İrem Geçit</cp:lastModifiedBy>
  <cp:revision>6</cp:revision>
  <dcterms:created xsi:type="dcterms:W3CDTF">2026-07-11T21:54:00Z</dcterms:created>
  <dcterms:modified xsi:type="dcterms:W3CDTF">2026-07-14T12:51:39Z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3D2EAAD1E64445238D24DE763199C1CA_12</vt:lpwstr>
  </property>
</Properties>
</file>