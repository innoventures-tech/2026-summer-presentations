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3910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494708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421245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2571168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635187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65993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950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503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9519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630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174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5929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425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202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7036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8320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572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231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95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575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1177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170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519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472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37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345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518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246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228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6801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324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443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2545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16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902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9580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503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266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907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527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2742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655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460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298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2370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757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623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3975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790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585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895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097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4707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5519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374764" name="Shape 0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40927916" name="Shape 1"/>
          <p:cNvSpPr/>
          <p:nvPr/>
        </p:nvSpPr>
        <p:spPr bwMode="auto">
          <a:xfrm>
            <a:off x="8869680" y="-137160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895323167" name="Shape 2"/>
          <p:cNvSpPr/>
          <p:nvPr/>
        </p:nvSpPr>
        <p:spPr bwMode="auto">
          <a:xfrm>
            <a:off x="10332720" y="4297680"/>
            <a:ext cx="2926080" cy="2926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62567708" name="Text 3"/>
          <p:cNvSpPr/>
          <p:nvPr/>
        </p:nvSpPr>
        <p:spPr bwMode="auto"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İSTEK SIRALAMASI</a:t>
            </a:r>
            <a:endParaRPr lang="en-US" sz="1400"/>
          </a:p>
        </p:txBody>
      </p:sp>
      <p:sp>
        <p:nvSpPr>
          <p:cNvPr id="243868529" name="Text 4"/>
          <p:cNvSpPr/>
          <p:nvPr/>
        </p:nvSpPr>
        <p:spPr bwMode="auto">
          <a:xfrm>
            <a:off x="64008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Bir Web Sitesi Nasıl Çalışır?</a:t>
            </a:r>
            <a:endParaRPr lang="en-US" sz="4000"/>
          </a:p>
        </p:txBody>
      </p:sp>
      <p:sp>
        <p:nvSpPr>
          <p:cNvPr id="985090709" name="Text 5"/>
          <p:cNvSpPr/>
          <p:nvPr/>
        </p:nvSpPr>
        <p:spPr bwMode="auto">
          <a:xfrm>
            <a:off x="640080" y="3063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600">
                <a:solidFill>
                  <a:srgbClr val="C7D4E3"/>
                </a:solidFill>
                <a:latin typeface="Calibri"/>
                <a:ea typeface="Calibri"/>
                <a:cs typeface="Calibri"/>
              </a:rPr>
              <a:t>Tıklamadan ekrana: modern bir web isteğinin ağ, sunucu ve</a:t>
            </a:r>
            <a:endParaRPr lang="en-US" sz="160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-US" sz="1600">
                <a:solidFill>
                  <a:srgbClr val="C7D4E3"/>
                </a:solidFill>
                <a:latin typeface="Calibri"/>
                <a:ea typeface="Calibri"/>
                <a:cs typeface="Calibri"/>
              </a:rPr>
              <a:t>tarayıcı katmanlarındaki milisaniyelik yolculuğu.</a:t>
            </a:r>
            <a:endParaRPr lang="en-US" sz="1600"/>
          </a:p>
        </p:txBody>
      </p:sp>
      <p:sp>
        <p:nvSpPr>
          <p:cNvPr id="1481451688" name="Shape 6"/>
          <p:cNvSpPr/>
          <p:nvPr/>
        </p:nvSpPr>
        <p:spPr bwMode="auto">
          <a:xfrm>
            <a:off x="658368" y="4160519"/>
            <a:ext cx="20116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20822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İstemci ve Sunucu Mimarisi, İnternetin Temel İş Bölümüdür</a:t>
            </a:r>
            <a:endParaRPr lang="en-US" sz="3000"/>
          </a:p>
        </p:txBody>
      </p:sp>
      <p:sp>
        <p:nvSpPr>
          <p:cNvPr id="1516443775" name="Text 1"/>
          <p:cNvSpPr/>
          <p:nvPr/>
        </p:nvSpPr>
        <p:spPr bwMode="auto"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İstemci-Sunucu ve eşler-arası (P2P) modellerin karşılaştırması</a:t>
            </a:r>
            <a:endParaRPr lang="en-US" sz="1300"/>
          </a:p>
        </p:txBody>
      </p:sp>
      <p:sp>
        <p:nvSpPr>
          <p:cNvPr id="998689518" name="Shape 2"/>
          <p:cNvSpPr/>
          <p:nvPr/>
        </p:nvSpPr>
        <p:spPr bwMode="auto">
          <a:xfrm>
            <a:off x="54864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1906696369" name="Text 3"/>
          <p:cNvSpPr/>
          <p:nvPr/>
        </p:nvSpPr>
        <p:spPr bwMode="auto"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İstemci – Sunucu (Client-Server)</a:t>
            </a:r>
            <a:endParaRPr lang="en-US" sz="1600"/>
          </a:p>
        </p:txBody>
      </p:sp>
      <p:sp>
        <p:nvSpPr>
          <p:cNvPr id="1438058763" name="Text 5"/>
          <p:cNvSpPr/>
          <p:nvPr/>
        </p:nvSpPr>
        <p:spPr bwMode="auto">
          <a:xfrm>
            <a:off x="251460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SUNUCU</a:t>
            </a:r>
            <a:endParaRPr lang="en-US" sz="900"/>
          </a:p>
        </p:txBody>
      </p:sp>
      <p:sp>
        <p:nvSpPr>
          <p:cNvPr id="1146618520" name="Shape 6"/>
          <p:cNvSpPr/>
          <p:nvPr/>
        </p:nvSpPr>
        <p:spPr bwMode="auto">
          <a:xfrm>
            <a:off x="91440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1989388802" name="Shape 8"/>
          <p:cNvSpPr/>
          <p:nvPr/>
        </p:nvSpPr>
        <p:spPr bwMode="auto">
          <a:xfrm>
            <a:off x="914400" y="416051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598482813" name="Shape 9"/>
          <p:cNvSpPr/>
          <p:nvPr/>
        </p:nvSpPr>
        <p:spPr bwMode="auto">
          <a:xfrm>
            <a:off x="4846320" y="416051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118274093" name="Shape 10"/>
          <p:cNvSpPr/>
          <p:nvPr/>
        </p:nvSpPr>
        <p:spPr bwMode="auto">
          <a:xfrm>
            <a:off x="3154680" y="3108960"/>
            <a:ext cx="0" cy="0"/>
          </a:xfrm>
          <a:prstGeom prst="line">
            <a:avLst/>
          </a:prstGeom>
          <a:noFill/>
          <a:ln w="19050">
            <a:solidFill>
              <a:srgbClr val="B7C3D1"/>
            </a:solidFill>
            <a:prstDash val="solid"/>
          </a:ln>
        </p:spPr>
      </p:sp>
      <p:sp>
        <p:nvSpPr>
          <p:cNvPr id="1280196222" name="Shape 11"/>
          <p:cNvSpPr/>
          <p:nvPr/>
        </p:nvSpPr>
        <p:spPr bwMode="auto">
          <a:xfrm flipH="0" flipV="1">
            <a:off x="3566160" y="2903220"/>
            <a:ext cx="1280160" cy="205740"/>
          </a:xfrm>
          <a:prstGeom prst="line">
            <a:avLst/>
          </a:prstGeom>
          <a:noFill/>
          <a:ln w="19050">
            <a:solidFill>
              <a:srgbClr val="B7C3D1"/>
            </a:solidFill>
            <a:prstDash val="solid"/>
          </a:ln>
        </p:spPr>
      </p:sp>
      <p:sp>
        <p:nvSpPr>
          <p:cNvPr id="30650979" name="Shape 12"/>
          <p:cNvSpPr/>
          <p:nvPr/>
        </p:nvSpPr>
        <p:spPr bwMode="auto">
          <a:xfrm>
            <a:off x="3154680" y="3566160"/>
            <a:ext cx="0" cy="457200"/>
          </a:xfrm>
          <a:prstGeom prst="line">
            <a:avLst/>
          </a:prstGeom>
          <a:noFill/>
          <a:ln w="19050">
            <a:solidFill>
              <a:srgbClr val="B7C3D1"/>
            </a:solidFill>
            <a:prstDash val="solid"/>
          </a:ln>
        </p:spPr>
      </p:sp>
      <p:sp>
        <p:nvSpPr>
          <p:cNvPr id="388199497" name="Shape 13"/>
          <p:cNvSpPr/>
          <p:nvPr/>
        </p:nvSpPr>
        <p:spPr bwMode="auto">
          <a:xfrm flipH="0" flipV="0">
            <a:off x="3566160" y="3566160"/>
            <a:ext cx="1280160" cy="845819"/>
          </a:xfrm>
          <a:prstGeom prst="line">
            <a:avLst/>
          </a:prstGeom>
          <a:noFill/>
          <a:ln w="19050">
            <a:solidFill>
              <a:srgbClr val="B7C3D1"/>
            </a:solidFill>
            <a:prstDash val="solid"/>
          </a:ln>
        </p:spPr>
      </p:sp>
      <p:sp>
        <p:nvSpPr>
          <p:cNvPr id="498091344" name="Text 14"/>
          <p:cNvSpPr/>
          <p:nvPr/>
        </p:nvSpPr>
        <p:spPr bwMode="auto">
          <a:xfrm>
            <a:off x="822960" y="4892039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İstek →  ← Yanıt</a:t>
            </a:r>
            <a:endParaRPr lang="en-US" sz="1000"/>
          </a:p>
        </p:txBody>
      </p:sp>
      <p:sp>
        <p:nvSpPr>
          <p:cNvPr id="875202139" name="Shape 15"/>
          <p:cNvSpPr/>
          <p:nvPr/>
        </p:nvSpPr>
        <p:spPr bwMode="auto">
          <a:xfrm>
            <a:off x="6245352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1913711041" name="Text 16"/>
          <p:cNvSpPr/>
          <p:nvPr/>
        </p:nvSpPr>
        <p:spPr bwMode="auto">
          <a:xfrm>
            <a:off x="6519672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Peer-to-Peer</a:t>
            </a:r>
            <a:endParaRPr lang="en-US" sz="1600"/>
          </a:p>
        </p:txBody>
      </p:sp>
      <p:sp>
        <p:nvSpPr>
          <p:cNvPr id="180975142" name="Shape 21"/>
          <p:cNvSpPr/>
          <p:nvPr/>
        </p:nvSpPr>
        <p:spPr bwMode="auto">
          <a:xfrm>
            <a:off x="69494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767761923" name="Shape 22"/>
          <p:cNvSpPr/>
          <p:nvPr/>
        </p:nvSpPr>
        <p:spPr bwMode="auto">
          <a:xfrm>
            <a:off x="69494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85242502" name="Shape 23"/>
          <p:cNvSpPr/>
          <p:nvPr/>
        </p:nvSpPr>
        <p:spPr bwMode="auto">
          <a:xfrm>
            <a:off x="8641080" y="2560320"/>
            <a:ext cx="1554480" cy="54864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203969639" name="Shape 24"/>
          <p:cNvSpPr/>
          <p:nvPr/>
        </p:nvSpPr>
        <p:spPr bwMode="auto">
          <a:xfrm>
            <a:off x="8641080" y="2560320"/>
            <a:ext cx="1554480" cy="160020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255909411" name="Shape 25"/>
          <p:cNvSpPr/>
          <p:nvPr/>
        </p:nvSpPr>
        <p:spPr bwMode="auto">
          <a:xfrm>
            <a:off x="8641080" y="2560320"/>
            <a:ext cx="0" cy="214884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772081310" name="Shape 26"/>
          <p:cNvSpPr/>
          <p:nvPr/>
        </p:nvSpPr>
        <p:spPr bwMode="auto">
          <a:xfrm>
            <a:off x="8641080" y="2560320"/>
            <a:ext cx="0" cy="160020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632128647" name="Shape 27"/>
          <p:cNvSpPr/>
          <p:nvPr/>
        </p:nvSpPr>
        <p:spPr bwMode="auto">
          <a:xfrm>
            <a:off x="8641080" y="2560320"/>
            <a:ext cx="0" cy="54864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576383271" name="Shape 28"/>
          <p:cNvSpPr/>
          <p:nvPr/>
        </p:nvSpPr>
        <p:spPr bwMode="auto">
          <a:xfrm>
            <a:off x="10195560" y="3108960"/>
            <a:ext cx="0" cy="105156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334822524" name="Shape 30"/>
          <p:cNvSpPr/>
          <p:nvPr/>
        </p:nvSpPr>
        <p:spPr bwMode="auto">
          <a:xfrm>
            <a:off x="10195560" y="3108960"/>
            <a:ext cx="0" cy="105156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327719356" name="Shape 31"/>
          <p:cNvSpPr/>
          <p:nvPr/>
        </p:nvSpPr>
        <p:spPr bwMode="auto">
          <a:xfrm>
            <a:off x="10195560" y="3108960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141824054" name="Shape 33"/>
          <p:cNvSpPr/>
          <p:nvPr/>
        </p:nvSpPr>
        <p:spPr bwMode="auto">
          <a:xfrm>
            <a:off x="10195560" y="4160519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438647250" name="Shape 34"/>
          <p:cNvSpPr/>
          <p:nvPr/>
        </p:nvSpPr>
        <p:spPr bwMode="auto">
          <a:xfrm>
            <a:off x="10195560" y="4160519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917459737" name="Shape 35"/>
          <p:cNvSpPr/>
          <p:nvPr/>
        </p:nvSpPr>
        <p:spPr bwMode="auto">
          <a:xfrm>
            <a:off x="8641080" y="4709160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60983177" name="Shape 36"/>
          <p:cNvSpPr/>
          <p:nvPr/>
        </p:nvSpPr>
        <p:spPr bwMode="auto">
          <a:xfrm>
            <a:off x="8641080" y="4709160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167842722" name="Shape 37"/>
          <p:cNvSpPr/>
          <p:nvPr/>
        </p:nvSpPr>
        <p:spPr bwMode="auto">
          <a:xfrm>
            <a:off x="7178039" y="4160519"/>
            <a:ext cx="0" cy="0"/>
          </a:xfrm>
          <a:prstGeom prst="line">
            <a:avLst/>
          </a:prstGeom>
          <a:noFill/>
          <a:ln w="12700">
            <a:solidFill>
              <a:srgbClr val="D8CBAF"/>
            </a:solidFill>
            <a:prstDash val="solid"/>
          </a:ln>
        </p:spPr>
      </p:sp>
      <p:sp>
        <p:nvSpPr>
          <p:cNvPr id="1096872193" name="Shape 38"/>
          <p:cNvSpPr/>
          <p:nvPr/>
        </p:nvSpPr>
        <p:spPr bwMode="auto">
          <a:xfrm>
            <a:off x="548640" y="58978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0B1F3A"/>
          </a:solidFill>
          <a:ln/>
        </p:spPr>
      </p:sp>
      <p:sp>
        <p:nvSpPr>
          <p:cNvPr id="2041443078" name="Text 39"/>
          <p:cNvSpPr/>
          <p:nvPr/>
        </p:nvSpPr>
        <p:spPr bwMode="auto"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İstemci ve sunucu donanımsal cihazlar değil, yazılımsal rollerdir. Tek bir makine her iki rolü de aynı anda üstlenebilir.</a:t>
            </a:r>
            <a:endParaRPr lang="en-US" sz="1250"/>
          </a:p>
        </p:txBody>
      </p:sp>
      <p:sp>
        <p:nvSpPr>
          <p:cNvPr id="131279936" name="Text 40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136156157" name="Shape 4"/>
          <p:cNvSpPr/>
          <p:nvPr/>
        </p:nvSpPr>
        <p:spPr bwMode="auto">
          <a:xfrm>
            <a:off x="2743200" y="2468880"/>
            <a:ext cx="822960" cy="146304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746197318" name="Shape 17"/>
          <p:cNvSpPr/>
          <p:nvPr/>
        </p:nvSpPr>
        <p:spPr bwMode="auto">
          <a:xfrm>
            <a:off x="841248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406162942" name="Shape 18"/>
          <p:cNvSpPr/>
          <p:nvPr/>
        </p:nvSpPr>
        <p:spPr bwMode="auto">
          <a:xfrm>
            <a:off x="996696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663605334" name="Shape 19"/>
          <p:cNvSpPr/>
          <p:nvPr/>
        </p:nvSpPr>
        <p:spPr bwMode="auto">
          <a:xfrm>
            <a:off x="996696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737358993" name="Shape 20"/>
          <p:cNvSpPr/>
          <p:nvPr/>
        </p:nvSpPr>
        <p:spPr bwMode="auto">
          <a:xfrm>
            <a:off x="8412480" y="4480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486683924" name="Shape 7"/>
          <p:cNvSpPr/>
          <p:nvPr/>
        </p:nvSpPr>
        <p:spPr bwMode="auto">
          <a:xfrm>
            <a:off x="484632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936252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İlk Bayt Öncesinde Görünmez Ağ Protokolleri Devreye Girer</a:t>
            </a:r>
            <a:endParaRPr lang="en-US" sz="3000"/>
          </a:p>
        </p:txBody>
      </p:sp>
      <p:sp>
        <p:nvSpPr>
          <p:cNvPr id="1881235277" name="Text 1"/>
          <p:cNvSpPr/>
          <p:nvPr/>
        </p:nvSpPr>
        <p:spPr bwMode="auto"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Klasik TCP tabanlı bağlantı akışı (HTTP/1.1 ve HTTP/2)</a:t>
            </a:r>
            <a:endParaRPr lang="en-US" sz="1300"/>
          </a:p>
        </p:txBody>
      </p:sp>
      <p:sp>
        <p:nvSpPr>
          <p:cNvPr id="36443687" name="Shape 2"/>
          <p:cNvSpPr/>
          <p:nvPr/>
        </p:nvSpPr>
        <p:spPr bwMode="auto">
          <a:xfrm>
            <a:off x="548640" y="1691640"/>
            <a:ext cx="2606040" cy="3017519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1593156837" name="Shape 3"/>
          <p:cNvSpPr/>
          <p:nvPr/>
        </p:nvSpPr>
        <p:spPr bwMode="auto">
          <a:xfrm>
            <a:off x="54864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41349386" name="Text 4"/>
          <p:cNvSpPr/>
          <p:nvPr/>
        </p:nvSpPr>
        <p:spPr bwMode="auto">
          <a:xfrm>
            <a:off x="7315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1. </a:t>
            </a:r>
            <a:r>
              <a:rPr lang="tr-TR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DNS Resolution</a:t>
            </a:r>
            <a:endParaRPr lang="en-US" sz="1400"/>
          </a:p>
        </p:txBody>
      </p:sp>
      <p:sp>
        <p:nvSpPr>
          <p:cNvPr id="282282646" name="Text 5"/>
          <p:cNvSpPr/>
          <p:nvPr/>
        </p:nvSpPr>
        <p:spPr bwMode="auto">
          <a:xfrm>
            <a:off x="731520" y="27432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domain.com adresinin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192.0.2.172 IP adresine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çevrilmesi.</a:t>
            </a:r>
            <a:endParaRPr lang="en-US" sz="1150"/>
          </a:p>
        </p:txBody>
      </p:sp>
      <p:sp>
        <p:nvSpPr>
          <p:cNvPr id="1813905098" name="Text 6"/>
          <p:cNvSpPr/>
          <p:nvPr/>
        </p:nvSpPr>
        <p:spPr bwMode="auto">
          <a:xfrm>
            <a:off x="73152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Süre: 20–120ms</a:t>
            </a:r>
            <a:endParaRPr lang="en-US" sz="1100"/>
          </a:p>
        </p:txBody>
      </p:sp>
      <p:sp>
        <p:nvSpPr>
          <p:cNvPr id="558068105" name="Text 7"/>
          <p:cNvSpPr/>
          <p:nvPr/>
        </p:nvSpPr>
        <p:spPr bwMode="auto">
          <a:xfrm>
            <a:off x="3072384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1229905634" name="Shape 8"/>
          <p:cNvSpPr/>
          <p:nvPr/>
        </p:nvSpPr>
        <p:spPr bwMode="auto">
          <a:xfrm>
            <a:off x="3383280" y="1691640"/>
            <a:ext cx="2606040" cy="3017519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65607273" name="Shape 9"/>
          <p:cNvSpPr/>
          <p:nvPr/>
        </p:nvSpPr>
        <p:spPr bwMode="auto">
          <a:xfrm>
            <a:off x="338328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6038678" name="Text 10"/>
          <p:cNvSpPr/>
          <p:nvPr/>
        </p:nvSpPr>
        <p:spPr bwMode="auto">
          <a:xfrm>
            <a:off x="356616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2. TCP </a:t>
            </a:r>
            <a:r>
              <a:rPr lang="tr-TR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</a:t>
            </a:r>
            <a:r>
              <a:rPr lang="tr-TR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andshake</a:t>
            </a:r>
            <a:endParaRPr lang="en-US" sz="1400"/>
          </a:p>
        </p:txBody>
      </p:sp>
      <p:sp>
        <p:nvSpPr>
          <p:cNvPr id="1016506388" name="Text 11"/>
          <p:cNvSpPr/>
          <p:nvPr/>
        </p:nvSpPr>
        <p:spPr bwMode="auto">
          <a:xfrm>
            <a:off x="3566160" y="27432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İletişim kurallarının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senkronizasyonu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(3 yönlü).</a:t>
            </a:r>
            <a:endParaRPr lang="en-US" sz="1150"/>
          </a:p>
        </p:txBody>
      </p:sp>
      <p:sp>
        <p:nvSpPr>
          <p:cNvPr id="989038121" name="Text 12"/>
          <p:cNvSpPr/>
          <p:nvPr/>
        </p:nvSpPr>
        <p:spPr bwMode="auto">
          <a:xfrm>
            <a:off x="356616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SYN, SYN-ACK, ACK</a:t>
            </a:r>
            <a:endParaRPr lang="en-US" sz="1100"/>
          </a:p>
        </p:txBody>
      </p:sp>
      <p:sp>
        <p:nvSpPr>
          <p:cNvPr id="1385893268" name="Text 13"/>
          <p:cNvSpPr/>
          <p:nvPr/>
        </p:nvSpPr>
        <p:spPr bwMode="auto">
          <a:xfrm>
            <a:off x="5914225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909330694" name="Shape 14"/>
          <p:cNvSpPr/>
          <p:nvPr/>
        </p:nvSpPr>
        <p:spPr bwMode="auto">
          <a:xfrm>
            <a:off x="6217920" y="1691640"/>
            <a:ext cx="2606040" cy="3017519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912179728" name="Shape 15"/>
          <p:cNvSpPr/>
          <p:nvPr/>
        </p:nvSpPr>
        <p:spPr bwMode="auto">
          <a:xfrm>
            <a:off x="621792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00827673" name="Text 16"/>
          <p:cNvSpPr/>
          <p:nvPr/>
        </p:nvSpPr>
        <p:spPr bwMode="auto">
          <a:xfrm>
            <a:off x="640080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3. TLS </a:t>
            </a:r>
            <a:r>
              <a:rPr lang="tr-TR" sz="1400" b="1" i="0" u="none" strike="noStrike" cap="none" spc="0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</a:t>
            </a:r>
            <a:r>
              <a:rPr lang="tr-TR" sz="1400" b="1" i="0" u="none" strike="noStrike" cap="none" spc="0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andshake</a:t>
            </a:r>
            <a:endParaRPr lang="en-US" sz="1400"/>
          </a:p>
        </p:txBody>
      </p:sp>
      <p:sp>
        <p:nvSpPr>
          <p:cNvPr id="2031537775" name="Text 17"/>
          <p:cNvSpPr/>
          <p:nvPr/>
        </p:nvSpPr>
        <p:spPr bwMode="auto">
          <a:xfrm>
            <a:off x="6400800" y="27432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Şifreleme anahtarlarının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oluşturulması ve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güvenli katman.</a:t>
            </a:r>
            <a:endParaRPr lang="en-US" sz="1150"/>
          </a:p>
        </p:txBody>
      </p:sp>
      <p:sp>
        <p:nvSpPr>
          <p:cNvPr id="1957904073" name="Text 18"/>
          <p:cNvSpPr/>
          <p:nvPr/>
        </p:nvSpPr>
        <p:spPr bwMode="auto">
          <a:xfrm>
            <a:off x="640080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~1 RTT (TLS 1.3)</a:t>
            </a:r>
            <a:endParaRPr lang="en-US" sz="1100"/>
          </a:p>
        </p:txBody>
      </p:sp>
      <p:sp>
        <p:nvSpPr>
          <p:cNvPr id="621491092" name="Text 19"/>
          <p:cNvSpPr/>
          <p:nvPr/>
        </p:nvSpPr>
        <p:spPr bwMode="auto">
          <a:xfrm>
            <a:off x="8702174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6641510" name="Shape 20"/>
          <p:cNvSpPr/>
          <p:nvPr/>
        </p:nvSpPr>
        <p:spPr bwMode="auto">
          <a:xfrm>
            <a:off x="9052560" y="1691640"/>
            <a:ext cx="2606040" cy="3017519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251846399" name="Shape 21"/>
          <p:cNvSpPr/>
          <p:nvPr/>
        </p:nvSpPr>
        <p:spPr bwMode="auto">
          <a:xfrm>
            <a:off x="905256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18479491" name="Text 22"/>
          <p:cNvSpPr/>
          <p:nvPr/>
        </p:nvSpPr>
        <p:spPr bwMode="auto">
          <a:xfrm>
            <a:off x="923544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4. HTTP </a:t>
            </a:r>
            <a:r>
              <a:rPr lang="tr-TR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Request</a:t>
            </a:r>
            <a:endParaRPr lang="en-US" sz="1400"/>
          </a:p>
        </p:txBody>
      </p:sp>
      <p:sp>
        <p:nvSpPr>
          <p:cNvPr id="1102748311" name="Text 23"/>
          <p:cNvSpPr/>
          <p:nvPr/>
        </p:nvSpPr>
        <p:spPr bwMode="auto">
          <a:xfrm>
            <a:off x="9235440" y="27432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Gerçek veri paketinin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kablo üzerinden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yola çıkması.</a:t>
            </a:r>
            <a:endParaRPr lang="en-US" sz="1150"/>
          </a:p>
        </p:txBody>
      </p:sp>
      <p:sp>
        <p:nvSpPr>
          <p:cNvPr id="1220073465" name="Text 24"/>
          <p:cNvSpPr/>
          <p:nvPr/>
        </p:nvSpPr>
        <p:spPr bwMode="auto">
          <a:xfrm>
            <a:off x="923544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GET /index.html</a:t>
            </a:r>
            <a:endParaRPr lang="en-US" sz="1100"/>
          </a:p>
        </p:txBody>
      </p:sp>
      <p:sp>
        <p:nvSpPr>
          <p:cNvPr id="1685159364" name="Shape 27"/>
          <p:cNvSpPr/>
          <p:nvPr/>
        </p:nvSpPr>
        <p:spPr bwMode="auto">
          <a:xfrm>
            <a:off x="548640" y="49377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048269727" name="Text 28"/>
          <p:cNvSpPr/>
          <p:nvPr/>
        </p:nvSpPr>
        <p:spPr bwMode="auto">
          <a:xfrm>
            <a:off x="822960" y="5029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Not: HTTP/3 (QUIC), UDP üzerinde çalıştığı için ayrı bir TCP </a:t>
            </a:r>
            <a:r>
              <a:rPr lang="tr-TR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handshake</a:t>
            </a:r>
            <a:r>
              <a:rPr lang="en-US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 adımına ihtiyaç duymaz; TLS ile taşıma katmanını tek adımda birleştirir. Bu akış yalnızca HTTP/1.1 ve HTTP/2'nin TCP üzerindeki klasik bağlantı kurulumunu gösterir.</a:t>
            </a:r>
            <a:endParaRPr lang="en-US" sz="1250"/>
          </a:p>
        </p:txBody>
      </p:sp>
      <p:sp>
        <p:nvSpPr>
          <p:cNvPr id="111856228" name="Text 29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432570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HTTP/3 (QUIC), Ağ Bağlantısındaki Darboğazları Büyük Ölçüde Ortadan Kaldırır</a:t>
            </a:r>
            <a:endParaRPr lang="en-US" sz="3000"/>
          </a:p>
        </p:txBody>
      </p:sp>
      <p:graphicFrame>
        <p:nvGraphicFramePr>
          <p:cNvPr id="123473528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417320"/>
          <a:ext cx="11091672" cy="23774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08960"/>
                <a:gridCol w="2660904"/>
                <a:gridCol w="2660904"/>
                <a:gridCol w="2660904"/>
              </a:tblGrid>
              <a:tr h="5943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HTTP/1.1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HTTP/2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HTTP/3 (QUIC)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tr-TR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Transport Layer 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UDP tabanlı QUIC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tr-TR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Connection Setup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3 Tur (TCP + TLS ayrı ayrı)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2 Tur (TCP + TLS)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1 Tur (0-RTT destekli, TCP adımı yok)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tr-TR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Head-of-Line Blocking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Şiddetli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 katmanında hâlâ mevcut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Akış bazında büyük ölçüde çözüldü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</a:tbl>
          </a:graphicData>
        </a:graphic>
      </p:graphicFrame>
      <p:sp>
        <p:nvSpPr>
          <p:cNvPr id="1507008945" name="Shape 3"/>
          <p:cNvSpPr/>
          <p:nvPr/>
        </p:nvSpPr>
        <p:spPr bwMode="auto">
          <a:xfrm>
            <a:off x="534924" y="442199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1496598633" name="Text 4"/>
          <p:cNvSpPr/>
          <p:nvPr/>
        </p:nvSpPr>
        <p:spPr bwMode="auto">
          <a:xfrm>
            <a:off x="809244" y="442199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i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Özet: QUIC, bağımsız akışları paket kaybından ayırarak (multiplexing) diğer akışların durmasını (Head-of-Line Blocking) engeller ve tek RTT'lik bağlantı kurulumuyla bağlantıları hızlandırır.</a:t>
            </a:r>
            <a:endParaRPr lang="en-US" sz="1300"/>
          </a:p>
        </p:txBody>
      </p:sp>
      <p:sp>
        <p:nvSpPr>
          <p:cNvPr id="1992582403" name="Text 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723100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Sunucu Altyapısında İş Yükü İki Ayrı Üretim Hattına Bölünür</a:t>
            </a:r>
            <a:endParaRPr lang="en-US" sz="3000"/>
          </a:p>
        </p:txBody>
      </p:sp>
      <p:sp>
        <p:nvSpPr>
          <p:cNvPr id="1758059658" name="Shape 1"/>
          <p:cNvSpPr/>
          <p:nvPr/>
        </p:nvSpPr>
        <p:spPr bwMode="auto"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/>
        </p:spPr>
      </p:sp>
      <p:sp>
        <p:nvSpPr>
          <p:cNvPr id="1099441491" name="Text 2"/>
          <p:cNvSpPr/>
          <p:nvPr/>
        </p:nvSpPr>
        <p:spPr bwMode="auto"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Web Sunucusu</a:t>
            </a:r>
            <a:endParaRPr lang="en-US" sz="1700"/>
          </a:p>
        </p:txBody>
      </p:sp>
      <p:sp>
        <p:nvSpPr>
          <p:cNvPr id="2049042992" name="Text 3"/>
          <p:cNvSpPr/>
          <p:nvPr/>
        </p:nvSpPr>
        <p:spPr bwMode="auto"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Örn: Nginx, Apache</a:t>
            </a:r>
            <a:endParaRPr lang="en-US" sz="1200"/>
          </a:p>
        </p:txBody>
      </p:sp>
      <p:sp>
        <p:nvSpPr>
          <p:cNvPr id="2038753023" name="Shape 4"/>
          <p:cNvSpPr/>
          <p:nvPr/>
        </p:nvSpPr>
        <p:spPr bwMode="auto">
          <a:xfrm>
            <a:off x="2468880" y="2606040"/>
            <a:ext cx="1554480" cy="1554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83294708" name="Text 5"/>
          <p:cNvSpPr/>
          <p:nvPr/>
        </p:nvSpPr>
        <p:spPr bwMode="auto">
          <a:xfrm>
            <a:off x="2468880" y="2606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Resepsi-</a:t>
            </a:r>
            <a:endParaRPr lang="en-US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yonist</a:t>
            </a:r>
            <a:endParaRPr lang="en-US" sz="1300"/>
          </a:p>
        </p:txBody>
      </p:sp>
      <p:sp>
        <p:nvSpPr>
          <p:cNvPr id="218993856" name="Text 6"/>
          <p:cNvSpPr/>
          <p:nvPr/>
        </p:nvSpPr>
        <p:spPr bwMode="auto">
          <a:xfrm>
            <a:off x="822960" y="4389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Hızlı, hafif; HTML ve görsel gibi statik dosyaları doğrudan sunar. İstemci ile ilk teması kurar.</a:t>
            </a:r>
            <a:endParaRPr lang="en-US" sz="1250"/>
          </a:p>
        </p:txBody>
      </p:sp>
      <p:sp>
        <p:nvSpPr>
          <p:cNvPr id="761806279" name="Shape 7"/>
          <p:cNvSpPr/>
          <p:nvPr/>
        </p:nvSpPr>
        <p:spPr bwMode="auto">
          <a:xfrm>
            <a:off x="6245352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/>
        </p:spPr>
      </p:sp>
      <p:sp>
        <p:nvSpPr>
          <p:cNvPr id="270216145" name="Text 8"/>
          <p:cNvSpPr/>
          <p:nvPr/>
        </p:nvSpPr>
        <p:spPr bwMode="auto">
          <a:xfrm>
            <a:off x="6519672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Uygulama Sunucusu</a:t>
            </a:r>
            <a:endParaRPr lang="en-US" sz="1700"/>
          </a:p>
        </p:txBody>
      </p:sp>
      <p:sp>
        <p:nvSpPr>
          <p:cNvPr id="207902899" name="Text 9"/>
          <p:cNvSpPr/>
          <p:nvPr/>
        </p:nvSpPr>
        <p:spPr bwMode="auto">
          <a:xfrm>
            <a:off x="6519672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Örn: Node.js, Tomcat, Python (Django/FastAPI)</a:t>
            </a:r>
            <a:endParaRPr lang="en-US" sz="1200"/>
          </a:p>
        </p:txBody>
      </p:sp>
      <p:sp>
        <p:nvSpPr>
          <p:cNvPr id="1004571393" name="Shape 10"/>
          <p:cNvSpPr/>
          <p:nvPr/>
        </p:nvSpPr>
        <p:spPr bwMode="auto">
          <a:xfrm>
            <a:off x="7863840" y="2606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0E7C86"/>
          </a:solidFill>
          <a:ln/>
        </p:spPr>
      </p:sp>
      <p:sp>
        <p:nvSpPr>
          <p:cNvPr id="286003424" name="Text 11"/>
          <p:cNvSpPr/>
          <p:nvPr/>
        </p:nvSpPr>
        <p:spPr bwMode="auto">
          <a:xfrm>
            <a:off x="7863840" y="2606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Üretim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Katı</a:t>
            </a:r>
            <a:endParaRPr lang="en-US" sz="1300"/>
          </a:p>
        </p:txBody>
      </p:sp>
      <p:sp>
        <p:nvSpPr>
          <p:cNvPr id="1742653978" name="Text 12"/>
          <p:cNvSpPr/>
          <p:nvPr/>
        </p:nvSpPr>
        <p:spPr bwMode="auto">
          <a:xfrm>
            <a:off x="6519672" y="4389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Dinamiktir; veritabanına bağlanır, güvenlik doğrulamalarını yapar ve iş mantığını (business logic) çalıştırır.</a:t>
            </a:r>
            <a:endParaRPr lang="en-US" sz="1250"/>
          </a:p>
        </p:txBody>
      </p:sp>
      <p:sp>
        <p:nvSpPr>
          <p:cNvPr id="1027554276" name="Shape 13"/>
          <p:cNvSpPr/>
          <p:nvPr/>
        </p:nvSpPr>
        <p:spPr bwMode="auto">
          <a:xfrm>
            <a:off x="5120640" y="320040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</p:sp>
      <p:sp>
        <p:nvSpPr>
          <p:cNvPr id="130306287" name="Text 14"/>
          <p:cNvSpPr/>
          <p:nvPr/>
        </p:nvSpPr>
        <p:spPr bwMode="auto">
          <a:xfrm>
            <a:off x="512064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B1F3A"/>
                </a:solidFill>
              </a:rPr>
              <a:t>→</a:t>
            </a:r>
            <a:endParaRPr lang="en-US" sz="1600"/>
          </a:p>
        </p:txBody>
      </p:sp>
      <p:sp>
        <p:nvSpPr>
          <p:cNvPr id="614861598" name="Text 15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297607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Asenkron Sunucu Mimarisi, Geleneksel İşleyiş Kurallarını Değiştirdi</a:t>
            </a:r>
            <a:endParaRPr lang="en-US" sz="3000"/>
          </a:p>
        </p:txBody>
      </p:sp>
      <p:sp>
        <p:nvSpPr>
          <p:cNvPr id="1107820533" name="Shape 1"/>
          <p:cNvSpPr/>
          <p:nvPr/>
        </p:nvSpPr>
        <p:spPr bwMode="auto">
          <a:xfrm>
            <a:off x="548640" y="146304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</p:spPr>
      </p:sp>
      <p:sp>
        <p:nvSpPr>
          <p:cNvPr id="352137567" name="Text 2"/>
          <p:cNvSpPr/>
          <p:nvPr/>
        </p:nvSpPr>
        <p:spPr bwMode="auto"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WSGI (Senkron)</a:t>
            </a:r>
            <a:endParaRPr lang="en-US" sz="1500"/>
          </a:p>
        </p:txBody>
      </p:sp>
      <p:sp>
        <p:nvSpPr>
          <p:cNvPr id="337970624" name="Shape 3"/>
          <p:cNvSpPr/>
          <p:nvPr/>
        </p:nvSpPr>
        <p:spPr bwMode="auto">
          <a:xfrm>
            <a:off x="822960" y="2240280"/>
            <a:ext cx="365760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44079833" name="Shape 4"/>
          <p:cNvSpPr/>
          <p:nvPr/>
        </p:nvSpPr>
        <p:spPr bwMode="auto">
          <a:xfrm>
            <a:off x="1325880" y="2240280"/>
            <a:ext cx="365760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65888061" name="Shape 5"/>
          <p:cNvSpPr/>
          <p:nvPr/>
        </p:nvSpPr>
        <p:spPr bwMode="auto">
          <a:xfrm>
            <a:off x="1828800" y="2240280"/>
            <a:ext cx="365760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9043264" name="Shape 6"/>
          <p:cNvSpPr/>
          <p:nvPr/>
        </p:nvSpPr>
        <p:spPr bwMode="auto">
          <a:xfrm>
            <a:off x="2331720" y="2240280"/>
            <a:ext cx="365760" cy="365760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2012137317" name="Shape 7"/>
          <p:cNvSpPr/>
          <p:nvPr/>
        </p:nvSpPr>
        <p:spPr bwMode="auto">
          <a:xfrm>
            <a:off x="2834640" y="2240280"/>
            <a:ext cx="365760" cy="365760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934916484" name="Shape 8"/>
          <p:cNvSpPr/>
          <p:nvPr/>
        </p:nvSpPr>
        <p:spPr bwMode="auto">
          <a:xfrm>
            <a:off x="3337560" y="2240280"/>
            <a:ext cx="365760" cy="365760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689436302" name="Shape 9"/>
          <p:cNvSpPr/>
          <p:nvPr/>
        </p:nvSpPr>
        <p:spPr bwMode="auto">
          <a:xfrm>
            <a:off x="4297680" y="2103120"/>
            <a:ext cx="109728" cy="6400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5597540" name="Text 10"/>
          <p:cNvSpPr/>
          <p:nvPr/>
        </p:nvSpPr>
        <p:spPr bwMode="auto">
          <a:xfrm>
            <a:off x="822960" y="2788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Tek şeritli bir gişe sistemi. Bir istek girer, şeridi tamamen bloke eder, işlenir ve çıkar. Uzun süreli bağlantılar (WebSocket vb.) için elverişsizdir.</a:t>
            </a:r>
            <a:endParaRPr lang="en-US" sz="1250"/>
          </a:p>
        </p:txBody>
      </p:sp>
      <p:sp>
        <p:nvSpPr>
          <p:cNvPr id="1752344361" name="Shape 11"/>
          <p:cNvSpPr/>
          <p:nvPr/>
        </p:nvSpPr>
        <p:spPr bwMode="auto">
          <a:xfrm>
            <a:off x="548640" y="370332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</p:sp>
      <p:sp>
        <p:nvSpPr>
          <p:cNvPr id="630265882" name="Text 12"/>
          <p:cNvSpPr/>
          <p:nvPr/>
        </p:nvSpPr>
        <p:spPr bwMode="auto">
          <a:xfrm>
            <a:off x="82296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ASGI (Asenkron)</a:t>
            </a:r>
            <a:endParaRPr lang="en-US" sz="1500"/>
          </a:p>
        </p:txBody>
      </p:sp>
      <p:sp>
        <p:nvSpPr>
          <p:cNvPr id="1533597478" name="Shape 13"/>
          <p:cNvSpPr/>
          <p:nvPr/>
        </p:nvSpPr>
        <p:spPr bwMode="auto">
          <a:xfrm>
            <a:off x="82296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92790704" name="Shape 14"/>
          <p:cNvSpPr/>
          <p:nvPr/>
        </p:nvSpPr>
        <p:spPr bwMode="auto">
          <a:xfrm>
            <a:off x="132588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60684060" name="Shape 15"/>
          <p:cNvSpPr/>
          <p:nvPr/>
        </p:nvSpPr>
        <p:spPr bwMode="auto">
          <a:xfrm>
            <a:off x="182880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75227350" name="Shape 16"/>
          <p:cNvSpPr/>
          <p:nvPr/>
        </p:nvSpPr>
        <p:spPr bwMode="auto">
          <a:xfrm>
            <a:off x="233172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99480242" name="Shape 17"/>
          <p:cNvSpPr/>
          <p:nvPr/>
        </p:nvSpPr>
        <p:spPr bwMode="auto">
          <a:xfrm>
            <a:off x="283464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81091744" name="Shape 18"/>
          <p:cNvSpPr/>
          <p:nvPr/>
        </p:nvSpPr>
        <p:spPr bwMode="auto">
          <a:xfrm>
            <a:off x="3337560" y="44805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72367577" name="Text 19"/>
          <p:cNvSpPr/>
          <p:nvPr/>
        </p:nvSpPr>
        <p:spPr bwMode="auto">
          <a:xfrm>
            <a:off x="822960" y="5029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Çok şeritli, olay güdümlü bir döner kavşak. Eşzamanlı binlerce isteği, arka plan görevlerini ve kesintisiz WebSocket bağlantılarını bloklanmadan yönetir.</a:t>
            </a:r>
            <a:endParaRPr lang="en-US" sz="1250"/>
          </a:p>
        </p:txBody>
      </p:sp>
      <p:sp>
        <p:nvSpPr>
          <p:cNvPr id="1156722513" name="Text 20"/>
          <p:cNvSpPr/>
          <p:nvPr/>
        </p:nvSpPr>
        <p:spPr bwMode="auto"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Örnek çerçeveler: Django (WSGI) · FastAPI, Django Channels, Node.js (ASGI benzeri olay döngüsü)</a:t>
            </a:r>
            <a:endParaRPr lang="en-US" sz="1150"/>
          </a:p>
        </p:txBody>
      </p:sp>
      <p:sp>
        <p:nvSpPr>
          <p:cNvPr id="667742775" name="Text 21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182185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Yanıtlar, Ağ Üzerinde Parçalanmış Paketler Halinde Taşınır</a:t>
            </a:r>
            <a:endParaRPr lang="en-US" sz="3000"/>
          </a:p>
        </p:txBody>
      </p:sp>
      <p:sp>
        <p:nvSpPr>
          <p:cNvPr id="1217878494" name="Shape 1"/>
          <p:cNvSpPr/>
          <p:nvPr/>
        </p:nvSpPr>
        <p:spPr bwMode="auto">
          <a:xfrm>
            <a:off x="548640" y="15544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996188465" name="Text 2"/>
          <p:cNvSpPr/>
          <p:nvPr/>
        </p:nvSpPr>
        <p:spPr bwMode="auto"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Packet Structure</a:t>
            </a:r>
            <a:endParaRPr lang="en-US" sz="1500"/>
          </a:p>
        </p:txBody>
      </p:sp>
      <p:sp>
        <p:nvSpPr>
          <p:cNvPr id="471741916" name="Shape 3"/>
          <p:cNvSpPr/>
          <p:nvPr/>
        </p:nvSpPr>
        <p:spPr bwMode="auto">
          <a:xfrm>
            <a:off x="1188720" y="2377440"/>
            <a:ext cx="4114800" cy="640080"/>
          </a:xfrm>
          <a:prstGeom prst="rect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2029534" name="Text 4"/>
          <p:cNvSpPr/>
          <p:nvPr/>
        </p:nvSpPr>
        <p:spPr bwMode="auto">
          <a:xfrm>
            <a:off x="118872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tr-TR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Header</a:t>
            </a: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— IP ve Protokol verisi</a:t>
            </a:r>
            <a:endParaRPr lang="en-US" sz="1150"/>
          </a:p>
        </p:txBody>
      </p:sp>
      <p:sp>
        <p:nvSpPr>
          <p:cNvPr id="292610481" name="Shape 5"/>
          <p:cNvSpPr/>
          <p:nvPr/>
        </p:nvSpPr>
        <p:spPr bwMode="auto">
          <a:xfrm>
            <a:off x="1188720" y="3108960"/>
            <a:ext cx="4114800" cy="1463040"/>
          </a:xfrm>
          <a:prstGeom prst="rect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6469960" name="Text 6"/>
          <p:cNvSpPr/>
          <p:nvPr/>
        </p:nvSpPr>
        <p:spPr bwMode="auto">
          <a:xfrm>
            <a:off x="1188720" y="31089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tr-TR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Payload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— Verinin kendisi</a:t>
            </a:r>
            <a:endParaRPr lang="en-US" sz="1200"/>
          </a:p>
        </p:txBody>
      </p:sp>
      <p:sp>
        <p:nvSpPr>
          <p:cNvPr id="61263435" name="Text 7"/>
          <p:cNvSpPr/>
          <p:nvPr/>
        </p:nvSpPr>
        <p:spPr bwMode="auto">
          <a:xfrm>
            <a:off x="822960" y="48006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Verimlilik için küçük paketlere bölünen veriler, alıcı tarafından başlık bilgilerine göre doğru sırayla yeniden birleştirilir.</a:t>
            </a:r>
            <a:endParaRPr lang="en-US" sz="1100"/>
          </a:p>
        </p:txBody>
      </p:sp>
      <p:sp>
        <p:nvSpPr>
          <p:cNvPr id="1411463434" name="Shape 8"/>
          <p:cNvSpPr/>
          <p:nvPr/>
        </p:nvSpPr>
        <p:spPr bwMode="auto">
          <a:xfrm>
            <a:off x="6245352" y="15544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1417180381" name="Text 9"/>
          <p:cNvSpPr/>
          <p:nvPr/>
        </p:nvSpPr>
        <p:spPr bwMode="auto">
          <a:xfrm>
            <a:off x="651967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HTTP </a:t>
            </a:r>
            <a:r>
              <a:rPr lang="tr-TR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Response</a:t>
            </a:r>
            <a:endParaRPr lang="en-US" sz="1500"/>
          </a:p>
        </p:txBody>
      </p:sp>
      <p:sp>
        <p:nvSpPr>
          <p:cNvPr id="938973632" name="Shape 10"/>
          <p:cNvSpPr/>
          <p:nvPr/>
        </p:nvSpPr>
        <p:spPr bwMode="auto">
          <a:xfrm>
            <a:off x="6519672" y="2286000"/>
            <a:ext cx="4846320" cy="2468880"/>
          </a:xfrm>
          <a:prstGeom prst="roundRect">
            <a:avLst>
              <a:gd name="adj" fmla="val 2222"/>
            </a:avLst>
          </a:prstGeom>
          <a:solidFill>
            <a:srgbClr val="1A1A2E"/>
          </a:solidFill>
          <a:ln/>
        </p:spPr>
      </p:sp>
      <p:sp>
        <p:nvSpPr>
          <p:cNvPr id="1015342517" name="Text 11"/>
          <p:cNvSpPr/>
          <p:nvPr/>
        </p:nvSpPr>
        <p:spPr bwMode="auto">
          <a:xfrm>
            <a:off x="6766560" y="246888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8FE3C7"/>
                </a:solidFill>
                <a:latin typeface="Courier New"/>
                <a:ea typeface="Courier New"/>
                <a:cs typeface="Courier New"/>
              </a:rPr>
              <a:t>HTTP/2 200 OK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8FB8E3"/>
                </a:solidFill>
                <a:latin typeface="Courier New"/>
                <a:ea typeface="Courier New"/>
                <a:cs typeface="Courier New"/>
              </a:rPr>
              <a:t>content-type: text/html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</a:rPr>
              <a:t> 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E3D18F"/>
                </a:solidFill>
                <a:latin typeface="Courier New"/>
                <a:ea typeface="Courier New"/>
                <a:cs typeface="Courier New"/>
              </a:rPr>
              <a:t>&lt;!doctype html&gt;&lt;html&gt;...&lt;/html&gt;</a:t>
            </a:r>
            <a:endParaRPr lang="en-US" sz="1250"/>
          </a:p>
        </p:txBody>
      </p:sp>
      <p:sp>
        <p:nvSpPr>
          <p:cNvPr id="2120755004" name="Text 12"/>
          <p:cNvSpPr/>
          <p:nvPr/>
        </p:nvSpPr>
        <p:spPr bwMode="auto">
          <a:xfrm>
            <a:off x="6519672" y="4800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← Durum Kodu     ← Başlıklar / Headers     ← Gövde / Body</a:t>
            </a:r>
            <a:endParaRPr lang="en-US" sz="1050"/>
          </a:p>
        </p:txBody>
      </p:sp>
      <p:sp>
        <p:nvSpPr>
          <p:cNvPr id="536750102" name="Text 13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583696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Tarayıcı Her Kareyi Altı Aşamalı Kritik Render Yolundan Geçirir</a:t>
            </a:r>
            <a:endParaRPr lang="en-US" sz="3000"/>
          </a:p>
        </p:txBody>
      </p:sp>
      <p:sp>
        <p:nvSpPr>
          <p:cNvPr id="1866645862" name="Shape 1"/>
          <p:cNvSpPr/>
          <p:nvPr/>
        </p:nvSpPr>
        <p:spPr bwMode="auto">
          <a:xfrm>
            <a:off x="54864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116551254" name="Text 2"/>
          <p:cNvSpPr/>
          <p:nvPr/>
        </p:nvSpPr>
        <p:spPr bwMode="auto">
          <a:xfrm>
            <a:off x="594360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DOM</a:t>
            </a:r>
            <a:endParaRPr lang="en-US" sz="1300"/>
          </a:p>
        </p:txBody>
      </p:sp>
      <p:sp>
        <p:nvSpPr>
          <p:cNvPr id="2047917681" name="Text 3"/>
          <p:cNvSpPr/>
          <p:nvPr/>
        </p:nvSpPr>
        <p:spPr bwMode="auto">
          <a:xfrm>
            <a:off x="594360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Belge Nesne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Modeli</a:t>
            </a:r>
            <a:endParaRPr lang="en-US" sz="950"/>
          </a:p>
        </p:txBody>
      </p:sp>
      <p:sp>
        <p:nvSpPr>
          <p:cNvPr id="2122307155" name="Text 4"/>
          <p:cNvSpPr/>
          <p:nvPr/>
        </p:nvSpPr>
        <p:spPr bwMode="auto">
          <a:xfrm>
            <a:off x="2151469" y="2514599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2A541"/>
                </a:solidFill>
              </a:rPr>
              <a:t>→</a:t>
            </a:r>
            <a:endParaRPr lang="en-US" sz="1600"/>
          </a:p>
        </p:txBody>
      </p:sp>
      <p:sp>
        <p:nvSpPr>
          <p:cNvPr id="515591840" name="Shape 5"/>
          <p:cNvSpPr/>
          <p:nvPr/>
        </p:nvSpPr>
        <p:spPr bwMode="auto">
          <a:xfrm>
            <a:off x="2386584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297144675" name="Text 6"/>
          <p:cNvSpPr/>
          <p:nvPr/>
        </p:nvSpPr>
        <p:spPr bwMode="auto">
          <a:xfrm>
            <a:off x="2432303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CSSOM</a:t>
            </a:r>
            <a:endParaRPr lang="en-US" sz="1300"/>
          </a:p>
        </p:txBody>
      </p:sp>
      <p:sp>
        <p:nvSpPr>
          <p:cNvPr id="1592608566" name="Text 7"/>
          <p:cNvSpPr/>
          <p:nvPr/>
        </p:nvSpPr>
        <p:spPr bwMode="auto">
          <a:xfrm>
            <a:off x="2432303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CSS Nesne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Modeli</a:t>
            </a:r>
            <a:endParaRPr lang="en-US" sz="950"/>
          </a:p>
        </p:txBody>
      </p:sp>
      <p:sp>
        <p:nvSpPr>
          <p:cNvPr id="268103281" name="Text 8"/>
          <p:cNvSpPr/>
          <p:nvPr/>
        </p:nvSpPr>
        <p:spPr bwMode="auto">
          <a:xfrm>
            <a:off x="3989413" y="2514599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2A541"/>
                </a:solidFill>
              </a:rPr>
              <a:t>→</a:t>
            </a:r>
            <a:endParaRPr lang="en-US" sz="1600"/>
          </a:p>
        </p:txBody>
      </p:sp>
      <p:sp>
        <p:nvSpPr>
          <p:cNvPr id="1466992763" name="Shape 9"/>
          <p:cNvSpPr/>
          <p:nvPr/>
        </p:nvSpPr>
        <p:spPr bwMode="auto">
          <a:xfrm>
            <a:off x="4224528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1314428528" name="Text 10"/>
          <p:cNvSpPr/>
          <p:nvPr/>
        </p:nvSpPr>
        <p:spPr bwMode="auto">
          <a:xfrm>
            <a:off x="4270248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Render</a:t>
            </a:r>
            <a:endParaRPr lang="en-US" sz="1300"/>
          </a:p>
          <a:p>
            <a:pPr marL="0" indent="0" algn="ctr">
              <a:buNone/>
              <a:defRPr/>
            </a:pPr>
            <a:r>
              <a:rPr lang="tr-TR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Tree</a:t>
            </a:r>
            <a:endParaRPr lang="en-US" sz="1300"/>
          </a:p>
        </p:txBody>
      </p:sp>
      <p:sp>
        <p:nvSpPr>
          <p:cNvPr id="155112050" name="Text 11"/>
          <p:cNvSpPr/>
          <p:nvPr/>
        </p:nvSpPr>
        <p:spPr bwMode="auto">
          <a:xfrm>
            <a:off x="4270248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Görünür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düğümler</a:t>
            </a:r>
            <a:endParaRPr lang="en-US" sz="950"/>
          </a:p>
        </p:txBody>
      </p:sp>
      <p:sp>
        <p:nvSpPr>
          <p:cNvPr id="2042175362" name="Text 12"/>
          <p:cNvSpPr/>
          <p:nvPr/>
        </p:nvSpPr>
        <p:spPr bwMode="auto">
          <a:xfrm>
            <a:off x="5827357" y="2514599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2A541"/>
                </a:solidFill>
              </a:rPr>
              <a:t>→</a:t>
            </a:r>
            <a:endParaRPr lang="en-US" sz="1600"/>
          </a:p>
        </p:txBody>
      </p:sp>
      <p:sp>
        <p:nvSpPr>
          <p:cNvPr id="958786433" name="Shape 13"/>
          <p:cNvSpPr/>
          <p:nvPr/>
        </p:nvSpPr>
        <p:spPr bwMode="auto">
          <a:xfrm>
            <a:off x="6062471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334436215" name="Text 14"/>
          <p:cNvSpPr/>
          <p:nvPr/>
        </p:nvSpPr>
        <p:spPr bwMode="auto">
          <a:xfrm>
            <a:off x="6108192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tr-TR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Layout</a:t>
            </a:r>
            <a:endParaRPr lang="en-US" sz="1300"/>
          </a:p>
        </p:txBody>
      </p:sp>
      <p:sp>
        <p:nvSpPr>
          <p:cNvPr id="596546041" name="Text 15"/>
          <p:cNvSpPr/>
          <p:nvPr/>
        </p:nvSpPr>
        <p:spPr bwMode="auto">
          <a:xfrm>
            <a:off x="6108192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Geometri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gezintisi</a:t>
            </a:r>
            <a:endParaRPr lang="en-US" sz="950"/>
          </a:p>
        </p:txBody>
      </p:sp>
      <p:sp>
        <p:nvSpPr>
          <p:cNvPr id="1804019750" name="Text 16"/>
          <p:cNvSpPr/>
          <p:nvPr/>
        </p:nvSpPr>
        <p:spPr bwMode="auto">
          <a:xfrm>
            <a:off x="7665301" y="2514599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2A541"/>
                </a:solidFill>
              </a:rPr>
              <a:t>→</a:t>
            </a:r>
            <a:endParaRPr lang="en-US" sz="1600"/>
          </a:p>
        </p:txBody>
      </p:sp>
      <p:sp>
        <p:nvSpPr>
          <p:cNvPr id="1595936744" name="Shape 17"/>
          <p:cNvSpPr/>
          <p:nvPr/>
        </p:nvSpPr>
        <p:spPr bwMode="auto">
          <a:xfrm>
            <a:off x="7900416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87309208" name="Text 18"/>
          <p:cNvSpPr/>
          <p:nvPr/>
        </p:nvSpPr>
        <p:spPr bwMode="auto">
          <a:xfrm>
            <a:off x="7946136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tr-TR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Paint</a:t>
            </a:r>
            <a:endParaRPr lang="en-US" sz="1300"/>
          </a:p>
        </p:txBody>
      </p:sp>
      <p:sp>
        <p:nvSpPr>
          <p:cNvPr id="980392971" name="Text 19"/>
          <p:cNvSpPr/>
          <p:nvPr/>
        </p:nvSpPr>
        <p:spPr bwMode="auto">
          <a:xfrm>
            <a:off x="7946136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Pikselleri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doldurma</a:t>
            </a:r>
            <a:endParaRPr lang="en-US" sz="950"/>
          </a:p>
        </p:txBody>
      </p:sp>
      <p:sp>
        <p:nvSpPr>
          <p:cNvPr id="1899944457" name="Text 20"/>
          <p:cNvSpPr/>
          <p:nvPr/>
        </p:nvSpPr>
        <p:spPr bwMode="auto">
          <a:xfrm>
            <a:off x="9503245" y="2514599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2A541"/>
                </a:solidFill>
              </a:rPr>
              <a:t>→</a:t>
            </a:r>
            <a:endParaRPr lang="en-US" sz="1600"/>
          </a:p>
        </p:txBody>
      </p:sp>
      <p:sp>
        <p:nvSpPr>
          <p:cNvPr id="492471209" name="Shape 21"/>
          <p:cNvSpPr/>
          <p:nvPr/>
        </p:nvSpPr>
        <p:spPr bwMode="auto">
          <a:xfrm>
            <a:off x="973836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783357162" name="Text 22"/>
          <p:cNvSpPr/>
          <p:nvPr/>
        </p:nvSpPr>
        <p:spPr bwMode="auto">
          <a:xfrm>
            <a:off x="9784079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tr-TR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Composite</a:t>
            </a:r>
            <a:endParaRPr lang="en-US" sz="1300"/>
          </a:p>
        </p:txBody>
      </p:sp>
      <p:sp>
        <p:nvSpPr>
          <p:cNvPr id="269293155" name="Text 23"/>
          <p:cNvSpPr/>
          <p:nvPr/>
        </p:nvSpPr>
        <p:spPr bwMode="auto">
          <a:xfrm>
            <a:off x="9784079" y="2880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GPU'da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çizme</a:t>
            </a:r>
            <a:endParaRPr lang="en-US" sz="950"/>
          </a:p>
        </p:txBody>
      </p:sp>
      <p:sp>
        <p:nvSpPr>
          <p:cNvPr id="387432686" name="Shape 24"/>
          <p:cNvSpPr/>
          <p:nvPr/>
        </p:nvSpPr>
        <p:spPr bwMode="auto">
          <a:xfrm>
            <a:off x="548640" y="3886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203991806" name="Text 25"/>
          <p:cNvSpPr/>
          <p:nvPr/>
        </p:nvSpPr>
        <p:spPr bwMode="auto">
          <a:xfrm>
            <a:off x="822960" y="3886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 i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Sentez: Ekranda gördüğünüz her bir görsel güncelleme, istisnasız bu hattan geçer. Optimizasyon, bu adımları kısaltmak veya (mümkün olduğunda) atlamaktır.</a:t>
            </a:r>
            <a:endParaRPr lang="en-US" sz="1300"/>
          </a:p>
        </p:txBody>
      </p:sp>
      <p:sp>
        <p:nvSpPr>
          <p:cNvPr id="939315730" name="Shape 26"/>
          <p:cNvSpPr/>
          <p:nvPr/>
        </p:nvSpPr>
        <p:spPr bwMode="auto"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EFE0"/>
          </a:solidFill>
          <a:ln/>
        </p:spPr>
      </p:sp>
      <p:sp>
        <p:nvSpPr>
          <p:cNvPr id="1567504104" name="Text 27"/>
          <p:cNvSpPr/>
          <p:nvPr/>
        </p:nvSpPr>
        <p:spPr bwMode="auto"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7A4A12"/>
                </a:solidFill>
                <a:latin typeface="Calibri"/>
                <a:ea typeface="Calibri"/>
                <a:cs typeface="Calibri"/>
              </a:rPr>
              <a:t>Ek not: Render Ağacı yalnızca görünür düğümleri içerir — display: none atanmış elemanlar bu ağaca hiç dahil edilmez (visibility: hidden ise dahil edilir, sadece boyanmaz). Bu ayrım, DOM boyutu ile render maliyetinin neden birebir örtüşmediğini açıklar.</a:t>
            </a:r>
            <a:endParaRPr lang="en-US" sz="1150"/>
          </a:p>
        </p:txBody>
      </p:sp>
      <p:sp>
        <p:nvSpPr>
          <p:cNvPr id="2137666735" name="Text 28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664894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HTML Akış Olarak İşlenirken CSS, Render İşlemini Bekletir</a:t>
            </a:r>
            <a:endParaRPr lang="en-US" sz="3000"/>
          </a:p>
        </p:txBody>
      </p:sp>
      <p:sp>
        <p:nvSpPr>
          <p:cNvPr id="526847893" name="Shape 1"/>
          <p:cNvSpPr/>
          <p:nvPr/>
        </p:nvSpPr>
        <p:spPr bwMode="auto">
          <a:xfrm>
            <a:off x="548640" y="14630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650756715" name="Text 2"/>
          <p:cNvSpPr/>
          <p:nvPr/>
        </p:nvSpPr>
        <p:spPr bwMode="auto"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DOM Ağacı</a:t>
            </a:r>
            <a:endParaRPr lang="en-US" sz="1500"/>
          </a:p>
        </p:txBody>
      </p:sp>
      <p:sp>
        <p:nvSpPr>
          <p:cNvPr id="394204391" name="Text 3"/>
          <p:cNvSpPr/>
          <p:nvPr/>
        </p:nvSpPr>
        <p:spPr bwMode="auto">
          <a:xfrm>
            <a:off x="822960" y="2103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Dinamik ve parçalıdır (streaming). Veri geldikçe düğümler kademeli olarak oluşur.</a:t>
            </a:r>
            <a:endParaRPr lang="en-US" sz="1200"/>
          </a:p>
        </p:txBody>
      </p:sp>
      <p:sp>
        <p:nvSpPr>
          <p:cNvPr id="1177577443" name="Shape 4"/>
          <p:cNvSpPr/>
          <p:nvPr/>
        </p:nvSpPr>
        <p:spPr bwMode="auto">
          <a:xfrm>
            <a:off x="822960" y="28803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CE4E4"/>
          </a:solidFill>
          <a:ln/>
        </p:spPr>
      </p:sp>
      <p:sp>
        <p:nvSpPr>
          <p:cNvPr id="59945565" name="Text 5"/>
          <p:cNvSpPr/>
          <p:nvPr/>
        </p:nvSpPr>
        <p:spPr bwMode="auto">
          <a:xfrm>
            <a:off x="1005840" y="2880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B23A48"/>
                </a:solidFill>
                <a:latin typeface="Calibri"/>
                <a:ea typeface="Calibri"/>
                <a:cs typeface="Calibri"/>
              </a:rPr>
              <a:t>⚠ document.write, bu akışı tamamen durduran bir anti-pattern'dir.</a:t>
            </a:r>
            <a:endParaRPr lang="en-US" sz="1150"/>
          </a:p>
        </p:txBody>
      </p:sp>
      <p:sp>
        <p:nvSpPr>
          <p:cNvPr id="2117035921" name="Text 6"/>
          <p:cNvSpPr/>
          <p:nvPr/>
        </p:nvSpPr>
        <p:spPr bwMode="auto">
          <a:xfrm>
            <a:off x="822960" y="38404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Modern öneri: document.write yerine güvenli DOM API'leri (örn. appendChild) veya şablon motorları kullanılmalıdır.</a:t>
            </a:r>
            <a:endParaRPr lang="en-US" sz="1150"/>
          </a:p>
        </p:txBody>
      </p:sp>
      <p:sp>
        <p:nvSpPr>
          <p:cNvPr id="1142443498" name="Shape 7"/>
          <p:cNvSpPr/>
          <p:nvPr/>
        </p:nvSpPr>
        <p:spPr bwMode="auto">
          <a:xfrm>
            <a:off x="6245352" y="14630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B1F3A"/>
          </a:solidFill>
          <a:ln/>
        </p:spPr>
      </p:sp>
      <p:sp>
        <p:nvSpPr>
          <p:cNvPr id="1653023257" name="Text 8"/>
          <p:cNvSpPr/>
          <p:nvPr/>
        </p:nvSpPr>
        <p:spPr bwMode="auto">
          <a:xfrm>
            <a:off x="6519672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CSSOM Ağacı</a:t>
            </a:r>
            <a:endParaRPr lang="en-US" sz="1500"/>
          </a:p>
        </p:txBody>
      </p:sp>
      <p:sp>
        <p:nvSpPr>
          <p:cNvPr id="965589667" name="Text 9"/>
          <p:cNvSpPr/>
          <p:nvPr/>
        </p:nvSpPr>
        <p:spPr bwMode="auto">
          <a:xfrm>
            <a:off x="6519672" y="2103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Render-engelleyicidir (render-blocking). Tarayıcı, sayfayı boyamaya başlamadan önce tüm CSS kurallarının indirilip çözümlenmesini beklemek zorundadır.</a:t>
            </a:r>
            <a:endParaRPr lang="en-US" sz="1200"/>
          </a:p>
        </p:txBody>
      </p:sp>
      <p:sp>
        <p:nvSpPr>
          <p:cNvPr id="1403437056" name="Shape 10"/>
          <p:cNvSpPr/>
          <p:nvPr/>
        </p:nvSpPr>
        <p:spPr bwMode="auto">
          <a:xfrm>
            <a:off x="6519672" y="342900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0E7C86"/>
          </a:solidFill>
          <a:ln/>
        </p:spPr>
      </p:sp>
      <p:sp>
        <p:nvSpPr>
          <p:cNvPr id="1664912864" name="Text 11"/>
          <p:cNvSpPr/>
          <p:nvPr/>
        </p:nvSpPr>
        <p:spPr bwMode="auto">
          <a:xfrm>
            <a:off x="6720840" y="3429000"/>
            <a:ext cx="4443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 nedenle kritik CSS'in HTML içine gömülmesi (inline) ve kalan CSS'in preload edilmesi ilk boyamayı hızlandırır.</a:t>
            </a:r>
            <a:endParaRPr lang="en-US" sz="1200"/>
          </a:p>
        </p:txBody>
      </p:sp>
      <p:sp>
        <p:nvSpPr>
          <p:cNvPr id="1164262962" name="Shape 12"/>
          <p:cNvSpPr/>
          <p:nvPr/>
        </p:nvSpPr>
        <p:spPr bwMode="auto"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407727234" name="Text 13"/>
          <p:cNvSpPr/>
          <p:nvPr/>
        </p:nvSpPr>
        <p:spPr bwMode="auto"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İkisi birleşerek Render Ağacı'nı oluşturur — yalnızca ekranda görünecek düğümleri içeren birleştirilmiş bir yapı.</a:t>
            </a:r>
            <a:endParaRPr lang="en-US" sz="1300"/>
          </a:p>
        </p:txBody>
      </p:sp>
      <p:sp>
        <p:nvSpPr>
          <p:cNvPr id="1847958477" name="Text 14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568125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JavaScript Dosyaları, V8 Motorunda Beş Aşamada Makine Koduna Dönüşür</a:t>
            </a:r>
            <a:endParaRPr lang="en-US" sz="3000"/>
          </a:p>
        </p:txBody>
      </p:sp>
      <p:sp>
        <p:nvSpPr>
          <p:cNvPr id="302801400" name="Shape 1"/>
          <p:cNvSpPr/>
          <p:nvPr/>
        </p:nvSpPr>
        <p:spPr bwMode="auto">
          <a:xfrm>
            <a:off x="548640" y="14173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BEFE0"/>
          </a:solidFill>
          <a:ln/>
        </p:spPr>
      </p:sp>
      <p:sp>
        <p:nvSpPr>
          <p:cNvPr id="627800062" name="Text 2"/>
          <p:cNvSpPr/>
          <p:nvPr/>
        </p:nvSpPr>
        <p:spPr bwMode="auto">
          <a:xfrm>
            <a:off x="777240" y="1536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7A4A12"/>
                </a:solidFill>
                <a:latin typeface="Cambria"/>
                <a:ea typeface="Cambria"/>
                <a:cs typeface="Cambria"/>
              </a:rPr>
              <a:t>HTML Bloke Sorunu</a:t>
            </a:r>
            <a:endParaRPr lang="en-US" sz="1300"/>
          </a:p>
        </p:txBody>
      </p:sp>
      <p:sp>
        <p:nvSpPr>
          <p:cNvPr id="1124722633" name="Text 3"/>
          <p:cNvSpPr/>
          <p:nvPr/>
        </p:nvSpPr>
        <p:spPr bwMode="auto">
          <a:xfrm>
            <a:off x="777240" y="18562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7A4A12"/>
                </a:solidFill>
                <a:latin typeface="Calibri"/>
                <a:ea typeface="Calibri"/>
                <a:cs typeface="Calibri"/>
              </a:rPr>
              <a:t>Varsayılan &lt;script&gt; etiketi HTML ayrıştırmayı bloke eder. Çözüm: script defer (paralel indirir, DOM sonrası çalıştırır) veya script async (indirilir indirilmez hemen çalıştırır).</a:t>
            </a:r>
            <a:endParaRPr lang="en-US" sz="1050"/>
          </a:p>
        </p:txBody>
      </p:sp>
      <p:sp>
        <p:nvSpPr>
          <p:cNvPr id="1342166364" name="Shape 4"/>
          <p:cNvSpPr/>
          <p:nvPr/>
        </p:nvSpPr>
        <p:spPr bwMode="auto">
          <a:xfrm>
            <a:off x="548640" y="2971800"/>
            <a:ext cx="2084832" cy="1508759"/>
          </a:xfrm>
          <a:prstGeom prst="roundRect">
            <a:avLst>
              <a:gd name="adj" fmla="val 4848"/>
            </a:avLst>
          </a:prstGeom>
          <a:solidFill>
            <a:srgbClr val="0E7C86"/>
          </a:solidFill>
          <a:ln/>
        </p:spPr>
      </p:sp>
      <p:sp>
        <p:nvSpPr>
          <p:cNvPr id="1362431430" name="Text 5"/>
          <p:cNvSpPr/>
          <p:nvPr/>
        </p:nvSpPr>
        <p:spPr bwMode="auto">
          <a:xfrm>
            <a:off x="640080" y="31089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1. Parse</a:t>
            </a:r>
            <a:endParaRPr lang="en-US" sz="1300"/>
          </a:p>
        </p:txBody>
      </p:sp>
      <p:sp>
        <p:nvSpPr>
          <p:cNvPr id="1888878387" name="Text 6"/>
          <p:cNvSpPr/>
          <p:nvPr/>
        </p:nvSpPr>
        <p:spPr bwMode="auto">
          <a:xfrm>
            <a:off x="640080" y="35204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Kaynak kodun Soyut Sözdizimi</a:t>
            </a:r>
            <a:endParaRPr lang="en-US" sz="1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Ağacına (AST) çevrilmesi.</a:t>
            </a:r>
            <a:endParaRPr lang="en-US" sz="1000"/>
          </a:p>
        </p:txBody>
      </p:sp>
      <p:sp>
        <p:nvSpPr>
          <p:cNvPr id="741680336" name="Text 7"/>
          <p:cNvSpPr/>
          <p:nvPr/>
        </p:nvSpPr>
        <p:spPr bwMode="auto">
          <a:xfrm>
            <a:off x="2544661" y="34747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5B6472"/>
                </a:solidFill>
              </a:rPr>
              <a:t>→</a:t>
            </a:r>
            <a:endParaRPr lang="en-US" sz="1500"/>
          </a:p>
        </p:txBody>
      </p:sp>
      <p:sp>
        <p:nvSpPr>
          <p:cNvPr id="635484658" name="Shape 8"/>
          <p:cNvSpPr/>
          <p:nvPr/>
        </p:nvSpPr>
        <p:spPr bwMode="auto">
          <a:xfrm>
            <a:off x="2770632" y="2971800"/>
            <a:ext cx="2084832" cy="1508759"/>
          </a:xfrm>
          <a:prstGeom prst="roundRect">
            <a:avLst>
              <a:gd name="adj" fmla="val 4848"/>
            </a:avLst>
          </a:prstGeom>
          <a:solidFill>
            <a:srgbClr val="0B1F3A"/>
          </a:solidFill>
          <a:ln/>
        </p:spPr>
      </p:sp>
      <p:sp>
        <p:nvSpPr>
          <p:cNvPr id="1469891419" name="Text 9"/>
          <p:cNvSpPr/>
          <p:nvPr/>
        </p:nvSpPr>
        <p:spPr bwMode="auto">
          <a:xfrm>
            <a:off x="2862072" y="31089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2. Ignition</a:t>
            </a:r>
            <a:endParaRPr lang="en-US" sz="1300"/>
          </a:p>
        </p:txBody>
      </p:sp>
      <p:sp>
        <p:nvSpPr>
          <p:cNvPr id="1649458898" name="Text 10"/>
          <p:cNvSpPr/>
          <p:nvPr/>
        </p:nvSpPr>
        <p:spPr bwMode="auto">
          <a:xfrm>
            <a:off x="2862072" y="35204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Hızlı yürütme için</a:t>
            </a:r>
            <a:endParaRPr lang="en-US" sz="1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Bytecode üretimi.</a:t>
            </a:r>
            <a:endParaRPr lang="en-US" sz="1000"/>
          </a:p>
        </p:txBody>
      </p:sp>
      <p:sp>
        <p:nvSpPr>
          <p:cNvPr id="1458898936" name="Text 11"/>
          <p:cNvSpPr/>
          <p:nvPr/>
        </p:nvSpPr>
        <p:spPr bwMode="auto">
          <a:xfrm>
            <a:off x="4766653" y="34747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5B6472"/>
                </a:solidFill>
              </a:rPr>
              <a:t>→</a:t>
            </a:r>
            <a:endParaRPr lang="en-US" sz="1500"/>
          </a:p>
        </p:txBody>
      </p:sp>
      <p:sp>
        <p:nvSpPr>
          <p:cNvPr id="472482753" name="Shape 12"/>
          <p:cNvSpPr/>
          <p:nvPr/>
        </p:nvSpPr>
        <p:spPr bwMode="auto">
          <a:xfrm>
            <a:off x="4992624" y="2971800"/>
            <a:ext cx="2084832" cy="1508759"/>
          </a:xfrm>
          <a:prstGeom prst="roundRect">
            <a:avLst>
              <a:gd name="adj" fmla="val 4848"/>
            </a:avLst>
          </a:prstGeom>
          <a:solidFill>
            <a:srgbClr val="0E7C86"/>
          </a:solidFill>
          <a:ln/>
        </p:spPr>
      </p:sp>
      <p:sp>
        <p:nvSpPr>
          <p:cNvPr id="2121160760" name="Text 13"/>
          <p:cNvSpPr/>
          <p:nvPr/>
        </p:nvSpPr>
        <p:spPr bwMode="auto">
          <a:xfrm>
            <a:off x="5084064" y="31089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3. Sparkplug</a:t>
            </a:r>
            <a:endParaRPr lang="en-US" sz="1300"/>
          </a:p>
        </p:txBody>
      </p:sp>
      <p:sp>
        <p:nvSpPr>
          <p:cNvPr id="497064330" name="Text 14"/>
          <p:cNvSpPr/>
          <p:nvPr/>
        </p:nvSpPr>
        <p:spPr bwMode="auto">
          <a:xfrm>
            <a:off x="5084064" y="35204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Temel seviye JIT</a:t>
            </a:r>
            <a:endParaRPr lang="en-US" sz="1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derlemesi.</a:t>
            </a:r>
            <a:endParaRPr lang="en-US" sz="1000"/>
          </a:p>
        </p:txBody>
      </p:sp>
      <p:sp>
        <p:nvSpPr>
          <p:cNvPr id="1836475797" name="Text 15"/>
          <p:cNvSpPr/>
          <p:nvPr/>
        </p:nvSpPr>
        <p:spPr bwMode="auto">
          <a:xfrm>
            <a:off x="6988645" y="34747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5B6472"/>
                </a:solidFill>
              </a:rPr>
              <a:t>→</a:t>
            </a:r>
            <a:endParaRPr lang="en-US" sz="1500"/>
          </a:p>
        </p:txBody>
      </p:sp>
      <p:sp>
        <p:nvSpPr>
          <p:cNvPr id="185668457" name="Shape 16"/>
          <p:cNvSpPr/>
          <p:nvPr/>
        </p:nvSpPr>
        <p:spPr bwMode="auto">
          <a:xfrm>
            <a:off x="7167924" y="2971800"/>
            <a:ext cx="2084832" cy="1508759"/>
          </a:xfrm>
          <a:prstGeom prst="roundRect">
            <a:avLst>
              <a:gd name="adj" fmla="val 4848"/>
            </a:avLst>
          </a:prstGeom>
          <a:solidFill>
            <a:srgbClr val="0B1F3A"/>
          </a:solidFill>
          <a:ln/>
        </p:spPr>
      </p:sp>
      <p:sp>
        <p:nvSpPr>
          <p:cNvPr id="1550126424" name="Text 17"/>
          <p:cNvSpPr/>
          <p:nvPr/>
        </p:nvSpPr>
        <p:spPr bwMode="auto">
          <a:xfrm>
            <a:off x="7306056" y="31089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4. Maglev</a:t>
            </a:r>
            <a:endParaRPr lang="en-US" sz="1300"/>
          </a:p>
        </p:txBody>
      </p:sp>
      <p:sp>
        <p:nvSpPr>
          <p:cNvPr id="1846714418" name="Text 18"/>
          <p:cNvSpPr/>
          <p:nvPr/>
        </p:nvSpPr>
        <p:spPr bwMode="auto">
          <a:xfrm>
            <a:off x="7306056" y="35204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Orta kademe</a:t>
            </a:r>
            <a:endParaRPr lang="en-US" sz="1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E7EEF5"/>
                </a:solidFill>
                <a:latin typeface="Calibri"/>
                <a:ea typeface="Calibri"/>
                <a:cs typeface="Calibri"/>
              </a:rPr>
              <a:t>optimizasyon.</a:t>
            </a:r>
            <a:endParaRPr lang="en-US" sz="1000"/>
          </a:p>
        </p:txBody>
      </p:sp>
      <p:sp>
        <p:nvSpPr>
          <p:cNvPr id="301618560" name="Text 19"/>
          <p:cNvSpPr/>
          <p:nvPr/>
        </p:nvSpPr>
        <p:spPr bwMode="auto">
          <a:xfrm>
            <a:off x="9210637" y="34747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5B6472"/>
                </a:solidFill>
              </a:rPr>
              <a:t>→</a:t>
            </a:r>
            <a:endParaRPr lang="en-US" sz="1500"/>
          </a:p>
        </p:txBody>
      </p:sp>
      <p:sp>
        <p:nvSpPr>
          <p:cNvPr id="2093048441" name="Shape 20"/>
          <p:cNvSpPr/>
          <p:nvPr/>
        </p:nvSpPr>
        <p:spPr bwMode="auto">
          <a:xfrm>
            <a:off x="9436608" y="2971800"/>
            <a:ext cx="2084832" cy="1508759"/>
          </a:xfrm>
          <a:prstGeom prst="roundRect">
            <a:avLst>
              <a:gd name="adj" fmla="val 4848"/>
            </a:avLst>
          </a:prstGeom>
          <a:solidFill>
            <a:srgbClr val="F2A541"/>
          </a:solidFill>
          <a:ln/>
        </p:spPr>
      </p:sp>
      <p:sp>
        <p:nvSpPr>
          <p:cNvPr id="1044240234" name="Text 21"/>
          <p:cNvSpPr/>
          <p:nvPr/>
        </p:nvSpPr>
        <p:spPr bwMode="auto">
          <a:xfrm>
            <a:off x="9528048" y="31089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5. TurboFan</a:t>
            </a:r>
            <a:endParaRPr lang="en-US" sz="1300"/>
          </a:p>
        </p:txBody>
      </p:sp>
      <p:sp>
        <p:nvSpPr>
          <p:cNvPr id="1013692616" name="Text 22"/>
          <p:cNvSpPr/>
          <p:nvPr/>
        </p:nvSpPr>
        <p:spPr bwMode="auto">
          <a:xfrm>
            <a:off x="9528048" y="35204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En üst düzey optimize</a:t>
            </a:r>
            <a:endParaRPr lang="en-US" sz="10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edilmiş Makine Kodu.</a:t>
            </a:r>
            <a:endParaRPr lang="en-US" sz="1000"/>
          </a:p>
        </p:txBody>
      </p:sp>
      <p:sp>
        <p:nvSpPr>
          <p:cNvPr id="639909138" name="Shape 23"/>
          <p:cNvSpPr/>
          <p:nvPr/>
        </p:nvSpPr>
        <p:spPr bwMode="auto">
          <a:xfrm>
            <a:off x="548640" y="48006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BEFE0"/>
          </a:solidFill>
          <a:ln/>
        </p:spPr>
      </p:sp>
      <p:sp>
        <p:nvSpPr>
          <p:cNvPr id="1131320432" name="Text 24"/>
          <p:cNvSpPr/>
          <p:nvPr/>
        </p:nvSpPr>
        <p:spPr bwMode="auto">
          <a:xfrm>
            <a:off x="822960" y="4800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7A4A12"/>
                </a:solidFill>
                <a:latin typeface="Calibri"/>
                <a:ea typeface="Calibri"/>
                <a:cs typeface="Calibri"/>
              </a:rPr>
              <a:t>Ek not: TurboFan'ın ürettiği optimize kod her zaman kalıcı değildir — motor, tip varsayımları geçersiz kaldığında (örn. bir fonksiyon farklı veri tipleriyle çağrıldığında) "deoptimization" yaparak bytecode'a geri döner. Bu yüzden tutarlı veri tipleri kullanmak performans için önemlidir.</a:t>
            </a:r>
            <a:endParaRPr lang="en-US" sz="1200"/>
          </a:p>
        </p:txBody>
      </p:sp>
      <p:sp>
        <p:nvSpPr>
          <p:cNvPr id="11673255" name="Text 25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849307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Görsel Güncellemelerde Yerleşim ve Boya İşlemleri En Yüksek Maliyetlerdir</a:t>
            </a:r>
            <a:endParaRPr lang="en-US" sz="3000"/>
          </a:p>
        </p:txBody>
      </p:sp>
      <p:sp>
        <p:nvSpPr>
          <p:cNvPr id="1030449968" name="Shape 1"/>
          <p:cNvSpPr/>
          <p:nvPr/>
        </p:nvSpPr>
        <p:spPr bwMode="auto">
          <a:xfrm>
            <a:off x="548640" y="14630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/>
        </p:spPr>
      </p:sp>
      <p:sp>
        <p:nvSpPr>
          <p:cNvPr id="311286726" name="Text 2"/>
          <p:cNvSpPr/>
          <p:nvPr/>
        </p:nvSpPr>
        <p:spPr bwMode="auto"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Reflow (Yerleşim / Layout)</a:t>
            </a:r>
            <a:endParaRPr lang="en-US" sz="1450"/>
          </a:p>
        </p:txBody>
      </p:sp>
      <p:sp>
        <p:nvSpPr>
          <p:cNvPr id="2105335562" name="Shape 3"/>
          <p:cNvSpPr/>
          <p:nvPr/>
        </p:nvSpPr>
        <p:spPr bwMode="auto">
          <a:xfrm>
            <a:off x="2048256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898191094" name="Shape 4"/>
          <p:cNvSpPr/>
          <p:nvPr/>
        </p:nvSpPr>
        <p:spPr bwMode="auto">
          <a:xfrm>
            <a:off x="2871216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844198377" name="Shape 5"/>
          <p:cNvSpPr/>
          <p:nvPr/>
        </p:nvSpPr>
        <p:spPr bwMode="auto">
          <a:xfrm>
            <a:off x="3694176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459227392" name="Shape 6"/>
          <p:cNvSpPr/>
          <p:nvPr/>
        </p:nvSpPr>
        <p:spPr bwMode="auto">
          <a:xfrm>
            <a:off x="2048256" y="297180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155860094" name="Shape 7"/>
          <p:cNvSpPr/>
          <p:nvPr/>
        </p:nvSpPr>
        <p:spPr bwMode="auto">
          <a:xfrm>
            <a:off x="2871216" y="2971800"/>
            <a:ext cx="749808" cy="749808"/>
          </a:xfrm>
          <a:prstGeom prst="rect">
            <a:avLst/>
          </a:prstGeom>
          <a:solidFill>
            <a:srgbClr val="F3D9DC"/>
          </a:solidFill>
          <a:ln w="25400">
            <a:solidFill>
              <a:srgbClr val="B23A48"/>
            </a:solidFill>
            <a:prstDash val="solid"/>
          </a:ln>
        </p:spPr>
      </p:sp>
      <p:sp>
        <p:nvSpPr>
          <p:cNvPr id="1349513711" name="Shape 8"/>
          <p:cNvSpPr/>
          <p:nvPr/>
        </p:nvSpPr>
        <p:spPr bwMode="auto">
          <a:xfrm>
            <a:off x="3694176" y="297180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779650050" name="Shape 9"/>
          <p:cNvSpPr/>
          <p:nvPr/>
        </p:nvSpPr>
        <p:spPr bwMode="auto">
          <a:xfrm>
            <a:off x="2048256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751452099" name="Shape 10"/>
          <p:cNvSpPr/>
          <p:nvPr/>
        </p:nvSpPr>
        <p:spPr bwMode="auto">
          <a:xfrm>
            <a:off x="2871216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169722326" name="Shape 11"/>
          <p:cNvSpPr/>
          <p:nvPr/>
        </p:nvSpPr>
        <p:spPr bwMode="auto">
          <a:xfrm>
            <a:off x="3694176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899525774" name="Text 12"/>
          <p:cNvSpPr/>
          <p:nvPr/>
        </p:nvSpPr>
        <p:spPr bwMode="auto">
          <a:xfrm>
            <a:off x="822960" y="4709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Bir elemanın genişlik, yükseklik veya yazı tipinin değişmesi; diğer tüm elemanların konumunu zincirleme etkiler.</a:t>
            </a:r>
            <a:endParaRPr lang="en-US" sz="1150"/>
          </a:p>
        </p:txBody>
      </p:sp>
      <p:sp>
        <p:nvSpPr>
          <p:cNvPr id="1711888907" name="Text 13"/>
          <p:cNvSpPr/>
          <p:nvPr/>
        </p:nvSpPr>
        <p:spPr bwMode="auto">
          <a:xfrm>
            <a:off x="822960" y="5349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B23A48"/>
                </a:solidFill>
                <a:latin typeface="Calibri"/>
                <a:ea typeface="Calibri"/>
                <a:cs typeface="Calibri"/>
              </a:rPr>
              <a:t>Maliyet: Çok Yüksek</a:t>
            </a:r>
            <a:endParaRPr lang="en-US" sz="1200"/>
          </a:p>
        </p:txBody>
      </p:sp>
      <p:sp>
        <p:nvSpPr>
          <p:cNvPr id="1996316759" name="Shape 14"/>
          <p:cNvSpPr/>
          <p:nvPr/>
        </p:nvSpPr>
        <p:spPr bwMode="auto">
          <a:xfrm>
            <a:off x="6245352" y="14630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/>
        </p:spPr>
      </p:sp>
      <p:sp>
        <p:nvSpPr>
          <p:cNvPr id="1592538546" name="Text 15"/>
          <p:cNvSpPr/>
          <p:nvPr/>
        </p:nvSpPr>
        <p:spPr bwMode="auto">
          <a:xfrm>
            <a:off x="6519672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Repaint (Boya / Paint)</a:t>
            </a:r>
            <a:endParaRPr lang="en-US" sz="1450"/>
          </a:p>
        </p:txBody>
      </p:sp>
      <p:sp>
        <p:nvSpPr>
          <p:cNvPr id="761555417" name="Shape 16"/>
          <p:cNvSpPr/>
          <p:nvPr/>
        </p:nvSpPr>
        <p:spPr bwMode="auto">
          <a:xfrm>
            <a:off x="7744968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633313820" name="Shape 17"/>
          <p:cNvSpPr/>
          <p:nvPr/>
        </p:nvSpPr>
        <p:spPr bwMode="auto">
          <a:xfrm>
            <a:off x="8567928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382621805" name="Shape 18"/>
          <p:cNvSpPr/>
          <p:nvPr/>
        </p:nvSpPr>
        <p:spPr bwMode="auto">
          <a:xfrm>
            <a:off x="9390888" y="21488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203743374" name="Shape 19"/>
          <p:cNvSpPr/>
          <p:nvPr/>
        </p:nvSpPr>
        <p:spPr bwMode="auto">
          <a:xfrm>
            <a:off x="7744968" y="297180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861666896" name="Shape 20"/>
          <p:cNvSpPr/>
          <p:nvPr/>
        </p:nvSpPr>
        <p:spPr bwMode="auto">
          <a:xfrm>
            <a:off x="8567928" y="2971800"/>
            <a:ext cx="749808" cy="749808"/>
          </a:xfrm>
          <a:prstGeom prst="rect">
            <a:avLst/>
          </a:prstGeom>
          <a:solidFill>
            <a:srgbClr val="CCEAE7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526378961" name="Shape 21"/>
          <p:cNvSpPr/>
          <p:nvPr/>
        </p:nvSpPr>
        <p:spPr bwMode="auto">
          <a:xfrm>
            <a:off x="9390888" y="297180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632042836" name="Shape 22"/>
          <p:cNvSpPr/>
          <p:nvPr/>
        </p:nvSpPr>
        <p:spPr bwMode="auto">
          <a:xfrm>
            <a:off x="7744968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405358041" name="Shape 23"/>
          <p:cNvSpPr/>
          <p:nvPr/>
        </p:nvSpPr>
        <p:spPr bwMode="auto">
          <a:xfrm>
            <a:off x="8567928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523481527" name="Shape 24"/>
          <p:cNvSpPr/>
          <p:nvPr/>
        </p:nvSpPr>
        <p:spPr bwMode="auto">
          <a:xfrm>
            <a:off x="9390888" y="379476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613461572" name="Text 25"/>
          <p:cNvSpPr/>
          <p:nvPr/>
        </p:nvSpPr>
        <p:spPr bwMode="auto">
          <a:xfrm>
            <a:off x="6519672" y="4709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Bir elemanın arka plan rengi veya görünürlüğünün, konumu değişmeden güncellenmesi.</a:t>
            </a:r>
            <a:endParaRPr lang="en-US" sz="1150"/>
          </a:p>
        </p:txBody>
      </p:sp>
      <p:sp>
        <p:nvSpPr>
          <p:cNvPr id="1129469879" name="Text 26"/>
          <p:cNvSpPr/>
          <p:nvPr/>
        </p:nvSpPr>
        <p:spPr bwMode="auto">
          <a:xfrm>
            <a:off x="6519672" y="5349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Maliyet: Orta</a:t>
            </a:r>
            <a:endParaRPr lang="en-US" sz="1200"/>
          </a:p>
        </p:txBody>
      </p:sp>
      <p:sp>
        <p:nvSpPr>
          <p:cNvPr id="155684988" name="Text 2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362495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Doğru CSS Özellikleriyle Yerleşim ve Boya Aşamaları Atlanabilir</a:t>
            </a:r>
            <a:endParaRPr lang="en-US" sz="3000"/>
          </a:p>
        </p:txBody>
      </p:sp>
      <p:sp>
        <p:nvSpPr>
          <p:cNvPr id="971167345" name="Shape 1"/>
          <p:cNvSpPr/>
          <p:nvPr/>
        </p:nvSpPr>
        <p:spPr bwMode="auto">
          <a:xfrm>
            <a:off x="822960" y="23774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E7C86"/>
          </a:solidFill>
          <a:ln/>
        </p:spPr>
      </p:sp>
      <p:sp>
        <p:nvSpPr>
          <p:cNvPr id="269390065" name="Text 2"/>
          <p:cNvSpPr/>
          <p:nvPr/>
        </p:nvSpPr>
        <p:spPr bwMode="auto">
          <a:xfrm>
            <a:off x="822960" y="23774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transform</a:t>
            </a:r>
            <a:endParaRPr lang="en-US" sz="16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opacity</a:t>
            </a:r>
            <a:endParaRPr lang="en-US" sz="1600"/>
          </a:p>
        </p:txBody>
      </p:sp>
      <p:sp>
        <p:nvSpPr>
          <p:cNvPr id="84390388" name="Shape 3"/>
          <p:cNvSpPr/>
          <p:nvPr/>
        </p:nvSpPr>
        <p:spPr bwMode="auto">
          <a:xfrm>
            <a:off x="3931920" y="2606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132A4C"/>
          </a:solidFill>
          <a:ln w="12700">
            <a:solidFill>
              <a:srgbClr val="5B6C87"/>
            </a:solidFill>
            <a:prstDash val="solid"/>
          </a:ln>
        </p:spPr>
      </p:sp>
      <p:sp>
        <p:nvSpPr>
          <p:cNvPr id="439239281" name="Text 4"/>
          <p:cNvSpPr/>
          <p:nvPr/>
        </p:nvSpPr>
        <p:spPr bwMode="auto">
          <a:xfrm>
            <a:off x="3931920" y="2606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Layout</a:t>
            </a:r>
            <a:endParaRPr lang="en-US" sz="1300"/>
          </a:p>
        </p:txBody>
      </p:sp>
      <p:sp>
        <p:nvSpPr>
          <p:cNvPr id="918290100" name="Shape 5"/>
          <p:cNvSpPr/>
          <p:nvPr/>
        </p:nvSpPr>
        <p:spPr bwMode="auto">
          <a:xfrm>
            <a:off x="3977640" y="2651760"/>
            <a:ext cx="1645920" cy="914400"/>
          </a:xfrm>
          <a:prstGeom prst="line">
            <a:avLst/>
          </a:prstGeom>
          <a:noFill/>
          <a:ln w="19050">
            <a:solidFill>
              <a:srgbClr val="8FA3BE"/>
            </a:solidFill>
            <a:prstDash val="solid"/>
          </a:ln>
        </p:spPr>
      </p:sp>
      <p:sp>
        <p:nvSpPr>
          <p:cNvPr id="1170999524" name="Shape 6"/>
          <p:cNvSpPr/>
          <p:nvPr/>
        </p:nvSpPr>
        <p:spPr bwMode="auto">
          <a:xfrm>
            <a:off x="6126480" y="2606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132A4C"/>
          </a:solidFill>
          <a:ln w="12700">
            <a:solidFill>
              <a:srgbClr val="5B6C87"/>
            </a:solidFill>
            <a:prstDash val="solid"/>
          </a:ln>
        </p:spPr>
      </p:sp>
      <p:sp>
        <p:nvSpPr>
          <p:cNvPr id="261513360" name="Text 7"/>
          <p:cNvSpPr/>
          <p:nvPr/>
        </p:nvSpPr>
        <p:spPr bwMode="auto">
          <a:xfrm>
            <a:off x="6126480" y="2606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Paint</a:t>
            </a:r>
            <a:endParaRPr lang="en-US" sz="1300"/>
          </a:p>
        </p:txBody>
      </p:sp>
      <p:sp>
        <p:nvSpPr>
          <p:cNvPr id="1144292570" name="Shape 8"/>
          <p:cNvSpPr/>
          <p:nvPr/>
        </p:nvSpPr>
        <p:spPr bwMode="auto">
          <a:xfrm>
            <a:off x="6172200" y="2651760"/>
            <a:ext cx="1645920" cy="914400"/>
          </a:xfrm>
          <a:prstGeom prst="line">
            <a:avLst/>
          </a:prstGeom>
          <a:noFill/>
          <a:ln w="19050">
            <a:solidFill>
              <a:srgbClr val="8FA3BE"/>
            </a:solidFill>
            <a:prstDash val="solid"/>
          </a:ln>
        </p:spPr>
      </p:sp>
      <p:sp>
        <p:nvSpPr>
          <p:cNvPr id="1596623614" name="Shape 9"/>
          <p:cNvSpPr/>
          <p:nvPr/>
        </p:nvSpPr>
        <p:spPr bwMode="auto">
          <a:xfrm>
            <a:off x="8961120" y="23774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2A541"/>
          </a:solidFill>
          <a:ln/>
        </p:spPr>
      </p:sp>
      <p:sp>
        <p:nvSpPr>
          <p:cNvPr id="202436621" name="Text 10"/>
          <p:cNvSpPr/>
          <p:nvPr/>
        </p:nvSpPr>
        <p:spPr bwMode="auto">
          <a:xfrm>
            <a:off x="8961120" y="23774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Birleştirme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(Composite)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Katmanı</a:t>
            </a:r>
            <a:endParaRPr lang="en-US" sz="1400"/>
          </a:p>
        </p:txBody>
      </p:sp>
      <p:sp>
        <p:nvSpPr>
          <p:cNvPr id="311367462" name="Shape 11"/>
          <p:cNvSpPr/>
          <p:nvPr/>
        </p:nvSpPr>
        <p:spPr bwMode="auto">
          <a:xfrm>
            <a:off x="1920240" y="1463040"/>
            <a:ext cx="7909560" cy="9144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2013884685" name="Shape 12"/>
          <p:cNvSpPr/>
          <p:nvPr/>
        </p:nvSpPr>
        <p:spPr bwMode="auto">
          <a:xfrm>
            <a:off x="822960" y="457200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32A4C"/>
          </a:solidFill>
          <a:ln/>
        </p:spPr>
      </p:sp>
      <p:sp>
        <p:nvSpPr>
          <p:cNvPr id="39662271" name="Text 13"/>
          <p:cNvSpPr/>
          <p:nvPr/>
        </p:nvSpPr>
        <p:spPr bwMode="auto">
          <a:xfrm>
            <a:off x="1097280" y="457200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 iki CSS özelliği, işlemleri doğrudan GPU'ya (Compositor Thread) devreder. Sonuç: Ana işlemciyi (Main Thread) yormadan saniyede 60 kare (60fps) akıcı animasyonlar.</a:t>
            </a:r>
            <a:endParaRPr lang="en-US" sz="1400"/>
          </a:p>
        </p:txBody>
      </p:sp>
      <p:sp>
        <p:nvSpPr>
          <p:cNvPr id="1390278157" name="Text 14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690874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2026 Performans Standartları, Doğrudan Kullanıcı Deneyimini Ölçer</a:t>
            </a:r>
            <a:endParaRPr lang="en-US" sz="3000"/>
          </a:p>
        </p:txBody>
      </p:sp>
      <p:sp>
        <p:nvSpPr>
          <p:cNvPr id="1808085680" name="Shape 3"/>
          <p:cNvSpPr/>
          <p:nvPr/>
        </p:nvSpPr>
        <p:spPr bwMode="auto"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8"/>
          </a:solidFill>
          <a:ln/>
        </p:spPr>
      </p:sp>
      <p:sp>
        <p:nvSpPr>
          <p:cNvPr id="573706787" name="Text 4"/>
          <p:cNvSpPr/>
          <p:nvPr/>
        </p:nvSpPr>
        <p:spPr bwMode="auto">
          <a:xfrm>
            <a:off x="731520" y="1737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0E7C86"/>
                </a:solidFill>
                <a:latin typeface="Cambria"/>
                <a:ea typeface="Cambria"/>
                <a:cs typeface="Cambria"/>
              </a:rPr>
              <a:t>&lt; 2.5s</a:t>
            </a:r>
            <a:endParaRPr lang="en-US" sz="3400"/>
          </a:p>
        </p:txBody>
      </p:sp>
      <p:sp>
        <p:nvSpPr>
          <p:cNvPr id="1374561560" name="Text 5"/>
          <p:cNvSpPr/>
          <p:nvPr/>
        </p:nvSpPr>
        <p:spPr bwMode="auto">
          <a:xfrm>
            <a:off x="73152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LCP</a:t>
            </a:r>
            <a:endParaRPr lang="en-US" sz="1800"/>
          </a:p>
        </p:txBody>
      </p:sp>
      <p:sp>
        <p:nvSpPr>
          <p:cNvPr id="1287418626" name="Text 6"/>
          <p:cNvSpPr/>
          <p:nvPr/>
        </p:nvSpPr>
        <p:spPr bwMode="auto">
          <a:xfrm>
            <a:off x="731520" y="3017519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Largest Contentful Paint</a:t>
            </a:r>
            <a:endParaRPr lang="en-US" sz="1100"/>
          </a:p>
        </p:txBody>
      </p:sp>
      <p:sp>
        <p:nvSpPr>
          <p:cNvPr id="1357667591" name="Shape 7"/>
          <p:cNvSpPr/>
          <p:nvPr/>
        </p:nvSpPr>
        <p:spPr bwMode="auto">
          <a:xfrm>
            <a:off x="1005840" y="3520440"/>
            <a:ext cx="2606040" cy="0"/>
          </a:xfrm>
          <a:prstGeom prst="line">
            <a:avLst/>
          </a:prstGeom>
          <a:noFill/>
          <a:ln w="12700">
            <a:solidFill>
              <a:srgbClr val="D7DCE1"/>
            </a:solidFill>
            <a:prstDash val="solid"/>
          </a:ln>
        </p:spPr>
      </p:sp>
      <p:sp>
        <p:nvSpPr>
          <p:cNvPr id="1157949798" name="Text 8"/>
          <p:cNvSpPr/>
          <p:nvPr/>
        </p:nvSpPr>
        <p:spPr bwMode="auto">
          <a:xfrm>
            <a:off x="777240" y="37033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Görüş alanındaki en büyük görsel veya metin bloğunun render hızı.</a:t>
            </a:r>
            <a:endParaRPr lang="en-US" sz="1200"/>
          </a:p>
        </p:txBody>
      </p:sp>
      <p:sp>
        <p:nvSpPr>
          <p:cNvPr id="2078241521" name="Shape 9"/>
          <p:cNvSpPr/>
          <p:nvPr/>
        </p:nvSpPr>
        <p:spPr bwMode="auto">
          <a:xfrm>
            <a:off x="434340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8"/>
          </a:solidFill>
          <a:ln/>
        </p:spPr>
      </p:sp>
      <p:sp>
        <p:nvSpPr>
          <p:cNvPr id="257950450" name="Text 10"/>
          <p:cNvSpPr/>
          <p:nvPr/>
        </p:nvSpPr>
        <p:spPr bwMode="auto">
          <a:xfrm>
            <a:off x="4526280" y="1737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2A541"/>
                </a:solidFill>
                <a:latin typeface="Cambria"/>
                <a:ea typeface="Cambria"/>
                <a:cs typeface="Cambria"/>
              </a:rPr>
              <a:t>&lt; 200ms</a:t>
            </a:r>
            <a:endParaRPr lang="en-US" sz="3400"/>
          </a:p>
        </p:txBody>
      </p:sp>
      <p:sp>
        <p:nvSpPr>
          <p:cNvPr id="958865506" name="Text 11"/>
          <p:cNvSpPr/>
          <p:nvPr/>
        </p:nvSpPr>
        <p:spPr bwMode="auto">
          <a:xfrm>
            <a:off x="4526280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INP</a:t>
            </a:r>
            <a:endParaRPr lang="en-US" sz="1800"/>
          </a:p>
        </p:txBody>
      </p:sp>
      <p:sp>
        <p:nvSpPr>
          <p:cNvPr id="1807789458" name="Text 12"/>
          <p:cNvSpPr/>
          <p:nvPr/>
        </p:nvSpPr>
        <p:spPr bwMode="auto">
          <a:xfrm>
            <a:off x="4526280" y="3017519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Interaction to Next Paint</a:t>
            </a:r>
            <a:endParaRPr lang="en-US" sz="1100"/>
          </a:p>
        </p:txBody>
      </p:sp>
      <p:sp>
        <p:nvSpPr>
          <p:cNvPr id="48698570" name="Shape 13"/>
          <p:cNvSpPr/>
          <p:nvPr/>
        </p:nvSpPr>
        <p:spPr bwMode="auto">
          <a:xfrm>
            <a:off x="4800600" y="3520440"/>
            <a:ext cx="2606040" cy="0"/>
          </a:xfrm>
          <a:prstGeom prst="line">
            <a:avLst/>
          </a:prstGeom>
          <a:noFill/>
          <a:ln w="12700">
            <a:solidFill>
              <a:srgbClr val="D7DCE1"/>
            </a:solidFill>
            <a:prstDash val="solid"/>
          </a:ln>
        </p:spPr>
      </p:sp>
      <p:sp>
        <p:nvSpPr>
          <p:cNvPr id="614232583" name="Text 14"/>
          <p:cNvSpPr/>
          <p:nvPr/>
        </p:nvSpPr>
        <p:spPr bwMode="auto">
          <a:xfrm>
            <a:off x="4572000" y="37033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Tüm sayfa yaşam döngüsü boyunca kullanıcı etkileşimlerine verilen tepki süresi. (Eski FID metriğinin resmî yerini Mart 2024'te aldı.)</a:t>
            </a:r>
            <a:endParaRPr lang="en-US" sz="1200"/>
          </a:p>
        </p:txBody>
      </p:sp>
      <p:sp>
        <p:nvSpPr>
          <p:cNvPr id="1180682831" name="Shape 15"/>
          <p:cNvSpPr/>
          <p:nvPr/>
        </p:nvSpPr>
        <p:spPr bwMode="auto">
          <a:xfrm>
            <a:off x="813816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8"/>
          </a:solidFill>
          <a:ln/>
        </p:spPr>
      </p:sp>
      <p:sp>
        <p:nvSpPr>
          <p:cNvPr id="1762548807" name="Text 16"/>
          <p:cNvSpPr/>
          <p:nvPr/>
        </p:nvSpPr>
        <p:spPr bwMode="auto">
          <a:xfrm>
            <a:off x="8321039" y="1737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&lt; 0.1</a:t>
            </a:r>
            <a:endParaRPr lang="en-US" sz="3400"/>
          </a:p>
        </p:txBody>
      </p:sp>
      <p:sp>
        <p:nvSpPr>
          <p:cNvPr id="558848551" name="Text 17"/>
          <p:cNvSpPr/>
          <p:nvPr/>
        </p:nvSpPr>
        <p:spPr bwMode="auto">
          <a:xfrm>
            <a:off x="8321039" y="26060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CLS</a:t>
            </a:r>
            <a:endParaRPr lang="en-US" sz="1800"/>
          </a:p>
        </p:txBody>
      </p:sp>
      <p:sp>
        <p:nvSpPr>
          <p:cNvPr id="1217556328" name="Text 18"/>
          <p:cNvSpPr/>
          <p:nvPr/>
        </p:nvSpPr>
        <p:spPr bwMode="auto">
          <a:xfrm>
            <a:off x="8321039" y="3017519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Cumulative Layout Shift</a:t>
            </a:r>
            <a:endParaRPr lang="en-US" sz="1100"/>
          </a:p>
        </p:txBody>
      </p:sp>
      <p:sp>
        <p:nvSpPr>
          <p:cNvPr id="923985310" name="Shape 19"/>
          <p:cNvSpPr/>
          <p:nvPr/>
        </p:nvSpPr>
        <p:spPr bwMode="auto">
          <a:xfrm>
            <a:off x="8595360" y="3520440"/>
            <a:ext cx="2606040" cy="0"/>
          </a:xfrm>
          <a:prstGeom prst="line">
            <a:avLst/>
          </a:prstGeom>
          <a:noFill/>
          <a:ln w="12700">
            <a:solidFill>
              <a:srgbClr val="D7DCE1"/>
            </a:solidFill>
            <a:prstDash val="solid"/>
          </a:ln>
        </p:spPr>
      </p:sp>
      <p:sp>
        <p:nvSpPr>
          <p:cNvPr id="1477975852" name="Text 20"/>
          <p:cNvSpPr/>
          <p:nvPr/>
        </p:nvSpPr>
        <p:spPr bwMode="auto">
          <a:xfrm>
            <a:off x="8366760" y="37033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Beklenmedik yerleşim kaymalarını ölçerek görsel kararlılığı puanlar.</a:t>
            </a:r>
            <a:endParaRPr lang="en-US" sz="1200"/>
          </a:p>
        </p:txBody>
      </p:sp>
      <p:sp>
        <p:nvSpPr>
          <p:cNvPr id="335281079" name="Shape 21"/>
          <p:cNvSpPr/>
          <p:nvPr/>
        </p:nvSpPr>
        <p:spPr bwMode="auto">
          <a:xfrm>
            <a:off x="548640" y="585216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BEFE0"/>
          </a:solidFill>
          <a:ln/>
        </p:spPr>
      </p:sp>
      <p:sp>
        <p:nvSpPr>
          <p:cNvPr id="249735143" name="Text 22"/>
          <p:cNvSpPr/>
          <p:nvPr/>
        </p:nvSpPr>
        <p:spPr bwMode="auto">
          <a:xfrm>
            <a:off x="777240" y="5852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A4A12"/>
                </a:solidFill>
                <a:latin typeface="Calibri"/>
                <a:ea typeface="Calibri"/>
                <a:cs typeface="Calibri"/>
              </a:rPr>
              <a:t>Not: Google, FID metriğini INP ile 12 Mart 2024'te resmi olarak değiştirdi; bu değişiklik 2026 itibarıyla artık yerleşik standarttır.</a:t>
            </a:r>
            <a:endParaRPr lang="en-US" sz="1100"/>
          </a:p>
        </p:txBody>
      </p:sp>
      <p:sp>
        <p:nvSpPr>
          <p:cNvPr id="49136629" name="Text 23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12335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Hız Optimizasyonu, Sürecin Her Aşamasına Özel Müdahaleler Gerektirir</a:t>
            </a:r>
            <a:endParaRPr lang="en-US" sz="3000"/>
          </a:p>
        </p:txBody>
      </p:sp>
      <p:sp>
        <p:nvSpPr>
          <p:cNvPr id="1656640817" name="Shape 1"/>
          <p:cNvSpPr/>
          <p:nvPr/>
        </p:nvSpPr>
        <p:spPr bwMode="auto">
          <a:xfrm>
            <a:off x="548640" y="14173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274078826" name="Shape 2"/>
          <p:cNvSpPr/>
          <p:nvPr/>
        </p:nvSpPr>
        <p:spPr bwMode="auto">
          <a:xfrm>
            <a:off x="777240" y="16002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0E7C86"/>
          </a:solidFill>
          <a:ln/>
        </p:spPr>
      </p:sp>
      <p:sp>
        <p:nvSpPr>
          <p:cNvPr id="1239114940" name="Text 3"/>
          <p:cNvSpPr/>
          <p:nvPr/>
        </p:nvSpPr>
        <p:spPr bwMode="auto">
          <a:xfrm>
            <a:off x="1234440" y="1554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Ağ (Network)</a:t>
            </a:r>
            <a:endParaRPr lang="en-US" sz="1500"/>
          </a:p>
        </p:txBody>
      </p:sp>
      <p:sp>
        <p:nvSpPr>
          <p:cNvPr id="859887970" name="Text 4"/>
          <p:cNvSpPr/>
          <p:nvPr/>
        </p:nvSpPr>
        <p:spPr bwMode="auto">
          <a:xfrm>
            <a:off x="822960" y="20574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HTTP/3 kullanımına geçiş yapın.</a:t>
            </a:r>
            <a:endParaRPr lang="en-US" sz="1200"/>
          </a:p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Kritik kaynaklar için preconnect ve preload kullanın.</a:t>
            </a:r>
            <a:endParaRPr lang="en-US" sz="1200"/>
          </a:p>
        </p:txBody>
      </p:sp>
      <p:sp>
        <p:nvSpPr>
          <p:cNvPr id="788659047" name="Shape 5"/>
          <p:cNvSpPr/>
          <p:nvPr/>
        </p:nvSpPr>
        <p:spPr bwMode="auto">
          <a:xfrm>
            <a:off x="6245352" y="14173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19916769" name="Shape 6"/>
          <p:cNvSpPr/>
          <p:nvPr/>
        </p:nvSpPr>
        <p:spPr bwMode="auto">
          <a:xfrm>
            <a:off x="6473952" y="16002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541"/>
          </a:solidFill>
          <a:ln/>
        </p:spPr>
      </p:sp>
      <p:sp>
        <p:nvSpPr>
          <p:cNvPr id="70215923" name="Text 7"/>
          <p:cNvSpPr/>
          <p:nvPr/>
        </p:nvSpPr>
        <p:spPr bwMode="auto">
          <a:xfrm>
            <a:off x="6931152" y="1554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Ayrıştırma (Parse)</a:t>
            </a:r>
            <a:endParaRPr lang="en-US" sz="1500"/>
          </a:p>
        </p:txBody>
      </p:sp>
      <p:sp>
        <p:nvSpPr>
          <p:cNvPr id="649504743" name="Text 8"/>
          <p:cNvSpPr/>
          <p:nvPr/>
        </p:nvSpPr>
        <p:spPr bwMode="auto">
          <a:xfrm>
            <a:off x="6519672" y="20574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JS dosyaları için defer özelliğini aktif edin.</a:t>
            </a:r>
            <a:endParaRPr lang="en-US" sz="1200"/>
          </a:p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Ağır hesaplamaları Ana İş Parçacığından alıp Web Worker'lara devredin.</a:t>
            </a:r>
            <a:endParaRPr lang="en-US" sz="1200"/>
          </a:p>
        </p:txBody>
      </p:sp>
      <p:sp>
        <p:nvSpPr>
          <p:cNvPr id="230122781" name="Shape 9"/>
          <p:cNvSpPr/>
          <p:nvPr/>
        </p:nvSpPr>
        <p:spPr bwMode="auto">
          <a:xfrm>
            <a:off x="548640" y="36118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1882346213" name="Shape 10"/>
          <p:cNvSpPr/>
          <p:nvPr/>
        </p:nvSpPr>
        <p:spPr bwMode="auto">
          <a:xfrm>
            <a:off x="777240" y="379476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0B1F3A"/>
          </a:solidFill>
          <a:ln/>
        </p:spPr>
      </p:sp>
      <p:sp>
        <p:nvSpPr>
          <p:cNvPr id="1317605739" name="Text 11"/>
          <p:cNvSpPr/>
          <p:nvPr/>
        </p:nvSpPr>
        <p:spPr bwMode="auto">
          <a:xfrm>
            <a:off x="1234440" y="3749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Render</a:t>
            </a:r>
            <a:endParaRPr lang="en-US" sz="1500"/>
          </a:p>
        </p:txBody>
      </p:sp>
      <p:sp>
        <p:nvSpPr>
          <p:cNvPr id="1722349610" name="Text 12"/>
          <p:cNvSpPr/>
          <p:nvPr/>
        </p:nvSpPr>
        <p:spPr bwMode="auto">
          <a:xfrm>
            <a:off x="822960" y="42519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Kritik CSS'i doğrudan HTML içine (inline) gömün.</a:t>
            </a:r>
            <a:endParaRPr lang="en-US" sz="1200"/>
          </a:p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Ekran dışı içerikler için content-visibility: auto kullanın.</a:t>
            </a:r>
            <a:endParaRPr lang="en-US" sz="1200"/>
          </a:p>
        </p:txBody>
      </p:sp>
      <p:sp>
        <p:nvSpPr>
          <p:cNvPr id="1718441470" name="Shape 13"/>
          <p:cNvSpPr/>
          <p:nvPr/>
        </p:nvSpPr>
        <p:spPr bwMode="auto">
          <a:xfrm>
            <a:off x="6245352" y="36118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/>
        </p:spPr>
      </p:sp>
      <p:sp>
        <p:nvSpPr>
          <p:cNvPr id="1637541601" name="Shape 14"/>
          <p:cNvSpPr/>
          <p:nvPr/>
        </p:nvSpPr>
        <p:spPr bwMode="auto">
          <a:xfrm>
            <a:off x="6473952" y="379476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6D4C8C"/>
          </a:solidFill>
          <a:ln/>
        </p:spPr>
      </p:sp>
      <p:sp>
        <p:nvSpPr>
          <p:cNvPr id="844546040" name="Text 15"/>
          <p:cNvSpPr/>
          <p:nvPr/>
        </p:nvSpPr>
        <p:spPr bwMode="auto">
          <a:xfrm>
            <a:off x="6931152" y="3749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Assets</a:t>
            </a:r>
            <a:endParaRPr lang="en-US" sz="1500"/>
          </a:p>
        </p:txBody>
      </p:sp>
      <p:sp>
        <p:nvSpPr>
          <p:cNvPr id="2100378431" name="Text 16"/>
          <p:cNvSpPr/>
          <p:nvPr/>
        </p:nvSpPr>
        <p:spPr bwMode="auto">
          <a:xfrm>
            <a:off x="6519672" y="42519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Görsellerde JPEG/PNG yerine modern AVIF (ya da WebP) formatını tercih edin.</a:t>
            </a:r>
            <a:endParaRPr lang="en-US" sz="1200"/>
          </a:p>
          <a:p>
            <a:pPr marL="342900" indent="-342900">
              <a:lnSpc>
                <a:spcPct val="12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CLS kaymalarını önlemek için medyalar üzerinde kesin width/height rezervasyonu yapın.</a:t>
            </a:r>
            <a:endParaRPr lang="en-US" sz="1200"/>
          </a:p>
        </p:txBody>
      </p:sp>
      <p:sp>
        <p:nvSpPr>
          <p:cNvPr id="1452804843" name="Text 1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628013" name="Shape 10"/>
          <p:cNvSpPr/>
          <p:nvPr/>
        </p:nvSpPr>
        <p:spPr bwMode="auto">
          <a:xfrm>
            <a:off x="2404872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958404225" name="Shape 14"/>
          <p:cNvSpPr/>
          <p:nvPr/>
        </p:nvSpPr>
        <p:spPr bwMode="auto">
          <a:xfrm>
            <a:off x="9829800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454788316" name="Shape 13"/>
          <p:cNvSpPr/>
          <p:nvPr/>
        </p:nvSpPr>
        <p:spPr bwMode="auto">
          <a:xfrm>
            <a:off x="7973568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443014750" name="Shape 12"/>
          <p:cNvSpPr/>
          <p:nvPr/>
        </p:nvSpPr>
        <p:spPr bwMode="auto">
          <a:xfrm>
            <a:off x="6117336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888387432" name="Shape 11"/>
          <p:cNvSpPr/>
          <p:nvPr/>
        </p:nvSpPr>
        <p:spPr bwMode="auto">
          <a:xfrm>
            <a:off x="4261104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827297062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Hız Bir Özellik Değil, Sistematik Mimarinin Doğal Bir Sonucudur</a:t>
            </a:r>
            <a:endParaRPr lang="en-US" sz="3000"/>
          </a:p>
        </p:txBody>
      </p:sp>
      <p:sp>
        <p:nvSpPr>
          <p:cNvPr id="388021447" name="Text 1"/>
          <p:cNvSpPr/>
          <p:nvPr/>
        </p:nvSpPr>
        <p:spPr bwMode="auto"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0.0s (Kullanıcı Tıklaması)</a:t>
            </a:r>
            <a:endParaRPr lang="en-US" sz="1200"/>
          </a:p>
        </p:txBody>
      </p:sp>
      <p:sp>
        <p:nvSpPr>
          <p:cNvPr id="1122426044" name="Text 2"/>
          <p:cNvSpPr/>
          <p:nvPr/>
        </p:nvSpPr>
        <p:spPr bwMode="auto">
          <a:xfrm>
            <a:off x="850392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~2.0–2.5s (Tamamen Çizilmiş Ekran)</a:t>
            </a:r>
            <a:endParaRPr lang="en-US" sz="1200"/>
          </a:p>
        </p:txBody>
      </p:sp>
      <p:sp>
        <p:nvSpPr>
          <p:cNvPr id="1927230148" name="Shape 3"/>
          <p:cNvSpPr/>
          <p:nvPr/>
        </p:nvSpPr>
        <p:spPr bwMode="auto">
          <a:xfrm>
            <a:off x="548640" y="192024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0E7C86"/>
          </a:solidFill>
          <a:ln/>
        </p:spPr>
      </p:sp>
      <p:sp>
        <p:nvSpPr>
          <p:cNvPr id="953768528" name="Text 4"/>
          <p:cNvSpPr/>
          <p:nvPr/>
        </p:nvSpPr>
        <p:spPr bwMode="auto">
          <a:xfrm>
            <a:off x="548640" y="1920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Ağ (Network): DNS, TCP/QUIC, TLS</a:t>
            </a:r>
            <a:endParaRPr lang="en-US" sz="1100"/>
          </a:p>
        </p:txBody>
      </p:sp>
      <p:sp>
        <p:nvSpPr>
          <p:cNvPr id="1780820834" name="Shape 5"/>
          <p:cNvSpPr/>
          <p:nvPr/>
        </p:nvSpPr>
        <p:spPr bwMode="auto">
          <a:xfrm>
            <a:off x="2651760" y="260604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2A541"/>
          </a:solidFill>
          <a:ln/>
        </p:spPr>
      </p:sp>
      <p:sp>
        <p:nvSpPr>
          <p:cNvPr id="996300004" name="Text 6"/>
          <p:cNvSpPr/>
          <p:nvPr/>
        </p:nvSpPr>
        <p:spPr bwMode="auto">
          <a:xfrm>
            <a:off x="2651760" y="2606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Sunucu (Backend): Uygulama Mantığı, Veritabanı Sorguları</a:t>
            </a:r>
            <a:endParaRPr lang="en-US" sz="1100"/>
          </a:p>
        </p:txBody>
      </p:sp>
      <p:sp>
        <p:nvSpPr>
          <p:cNvPr id="696716363" name="Shape 7"/>
          <p:cNvSpPr/>
          <p:nvPr/>
        </p:nvSpPr>
        <p:spPr bwMode="auto">
          <a:xfrm>
            <a:off x="5257800" y="3291840"/>
            <a:ext cx="6382512" cy="594360"/>
          </a:xfrm>
          <a:prstGeom prst="roundRect">
            <a:avLst>
              <a:gd name="adj" fmla="val 9231"/>
            </a:avLst>
          </a:prstGeom>
          <a:solidFill>
            <a:srgbClr val="8E5FBF"/>
          </a:solidFill>
          <a:ln/>
        </p:spPr>
      </p:sp>
      <p:sp>
        <p:nvSpPr>
          <p:cNvPr id="158487158" name="Text 8"/>
          <p:cNvSpPr/>
          <p:nvPr/>
        </p:nvSpPr>
        <p:spPr bwMode="auto">
          <a:xfrm>
            <a:off x="5257800" y="3291840"/>
            <a:ext cx="6382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Tarayıcı (Frontend): DOM, CSSOM, JS Yürütme, Yerleşim, Boya</a:t>
            </a:r>
            <a:endParaRPr lang="en-US" sz="1100"/>
          </a:p>
        </p:txBody>
      </p:sp>
      <p:sp>
        <p:nvSpPr>
          <p:cNvPr id="610969012" name="Shape 9"/>
          <p:cNvSpPr/>
          <p:nvPr/>
        </p:nvSpPr>
        <p:spPr bwMode="auto">
          <a:xfrm>
            <a:off x="548640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318611013" name="Shape 15"/>
          <p:cNvSpPr/>
          <p:nvPr/>
        </p:nvSpPr>
        <p:spPr bwMode="auto">
          <a:xfrm>
            <a:off x="548640" y="43891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32A4C"/>
          </a:solidFill>
          <a:ln/>
        </p:spPr>
      </p:sp>
      <p:sp>
        <p:nvSpPr>
          <p:cNvPr id="813141597" name="Text 16"/>
          <p:cNvSpPr/>
          <p:nvPr/>
        </p:nvSpPr>
        <p:spPr bwMode="auto">
          <a:xfrm>
            <a:off x="822960" y="43891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Optimizasyon, karanlıkta tahminde bulunmak değildir; ölçülebilir bir boru hattındaki milisaniyelik sürtünmeleri ortadan kaldırma sanatıdır.</a:t>
            </a:r>
            <a:endParaRPr lang="en-US" sz="1400"/>
          </a:p>
        </p:txBody>
      </p:sp>
      <p:sp>
        <p:nvSpPr>
          <p:cNvPr id="1810478491" name="Shape 17"/>
          <p:cNvSpPr/>
          <p:nvPr/>
        </p:nvSpPr>
        <p:spPr bwMode="auto">
          <a:xfrm>
            <a:off x="548640" y="5623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D3A57"/>
          </a:solidFill>
          <a:ln/>
        </p:spPr>
      </p:sp>
      <p:sp>
        <p:nvSpPr>
          <p:cNvPr id="1777824772" name="Text 18"/>
          <p:cNvSpPr/>
          <p:nvPr/>
        </p:nvSpPr>
        <p:spPr bwMode="auto"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AFC2D9"/>
                </a:solidFill>
                <a:latin typeface="Calibri"/>
                <a:ea typeface="Calibri"/>
                <a:cs typeface="Calibri"/>
              </a:rPr>
              <a:t>Not: Bu şema kavramsal bir özet niteliğindedir; ağ, sunucu ve tarayıcı aşamaları büyük ölçüde art arda değil, HTTP/2-3 çoklu akış (multiplexing) ve tarayıcı streaming parse'ı sayesinde kısmen çakışarak ilerler.</a:t>
            </a:r>
            <a:endParaRPr lang="en-US" sz="1150"/>
          </a:p>
        </p:txBody>
      </p:sp>
      <p:sp>
        <p:nvSpPr>
          <p:cNvPr id="406944866" name="Text 19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862993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Kaynakça</a:t>
            </a:r>
            <a:endParaRPr lang="en-US" sz="3000"/>
          </a:p>
        </p:txBody>
      </p:sp>
      <p:sp>
        <p:nvSpPr>
          <p:cNvPr id="1205404248" name="Shape 1"/>
          <p:cNvSpPr/>
          <p:nvPr/>
        </p:nvSpPr>
        <p:spPr bwMode="auto">
          <a:xfrm>
            <a:off x="10607040" y="-1097280"/>
            <a:ext cx="3200400" cy="3200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06447238" name="Shape 2"/>
          <p:cNvSpPr/>
          <p:nvPr/>
        </p:nvSpPr>
        <p:spPr bwMode="auto">
          <a:xfrm>
            <a:off x="548640" y="1600200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0E7C86"/>
          </a:solidFill>
          <a:ln/>
        </p:spPr>
      </p:sp>
      <p:sp>
        <p:nvSpPr>
          <p:cNvPr id="998068195" name="Text 3"/>
          <p:cNvSpPr/>
          <p:nvPr/>
        </p:nvSpPr>
        <p:spPr bwMode="auto"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100"/>
          </a:p>
        </p:txBody>
      </p:sp>
      <p:sp>
        <p:nvSpPr>
          <p:cNvPr id="107828030" name="Text 4"/>
          <p:cNvSpPr/>
          <p:nvPr/>
        </p:nvSpPr>
        <p:spPr bwMode="auto">
          <a:xfrm>
            <a:off x="1005840" y="15544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MDN Web Docs — "HTTP Overview", "Populating the Page: How Browsers Work", "CSSOM / DOM". developer.mozilla.org</a:t>
            </a:r>
            <a:endParaRPr lang="en-US" sz="1200"/>
          </a:p>
        </p:txBody>
      </p:sp>
      <p:sp>
        <p:nvSpPr>
          <p:cNvPr id="1417856079" name="Shape 5"/>
          <p:cNvSpPr/>
          <p:nvPr/>
        </p:nvSpPr>
        <p:spPr bwMode="auto">
          <a:xfrm>
            <a:off x="548640" y="2203704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F2A541"/>
          </a:solidFill>
          <a:ln/>
        </p:spPr>
      </p:sp>
      <p:sp>
        <p:nvSpPr>
          <p:cNvPr id="1127857264" name="Text 6"/>
          <p:cNvSpPr/>
          <p:nvPr/>
        </p:nvSpPr>
        <p:spPr bwMode="auto">
          <a:xfrm>
            <a:off x="548640" y="2203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100"/>
          </a:p>
        </p:txBody>
      </p:sp>
      <p:sp>
        <p:nvSpPr>
          <p:cNvPr id="2043474569" name="Text 7"/>
          <p:cNvSpPr/>
          <p:nvPr/>
        </p:nvSpPr>
        <p:spPr bwMode="auto">
          <a:xfrm>
            <a:off x="1005840" y="215798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web.dev (Google) — "Core Web Vitals", "Interaction to Next Paint (INP)", "Rendering Performance". web.dev</a:t>
            </a:r>
            <a:endParaRPr lang="en-US" sz="1200"/>
          </a:p>
        </p:txBody>
      </p:sp>
      <p:sp>
        <p:nvSpPr>
          <p:cNvPr id="1871748918" name="Shape 8"/>
          <p:cNvSpPr/>
          <p:nvPr/>
        </p:nvSpPr>
        <p:spPr bwMode="auto">
          <a:xfrm>
            <a:off x="548640" y="2807208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0E7C86"/>
          </a:solidFill>
          <a:ln/>
        </p:spPr>
      </p:sp>
      <p:sp>
        <p:nvSpPr>
          <p:cNvPr id="1408442922" name="Text 9"/>
          <p:cNvSpPr/>
          <p:nvPr/>
        </p:nvSpPr>
        <p:spPr bwMode="auto">
          <a:xfrm>
            <a:off x="54864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100"/>
          </a:p>
        </p:txBody>
      </p:sp>
      <p:sp>
        <p:nvSpPr>
          <p:cNvPr id="1905670334" name="Text 10"/>
          <p:cNvSpPr/>
          <p:nvPr/>
        </p:nvSpPr>
        <p:spPr bwMode="auto">
          <a:xfrm>
            <a:off x="1005840" y="276148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IETF RFC 9114 — "HTTP/3" ve RFC 9000 — "QUIC: A UDP-Based Multiplexed and Secure Transport". datatracker.ietf.org</a:t>
            </a:r>
            <a:endParaRPr lang="en-US" sz="1200"/>
          </a:p>
        </p:txBody>
      </p:sp>
      <p:sp>
        <p:nvSpPr>
          <p:cNvPr id="1874603767" name="Shape 11"/>
          <p:cNvSpPr/>
          <p:nvPr/>
        </p:nvSpPr>
        <p:spPr bwMode="auto">
          <a:xfrm>
            <a:off x="548640" y="3410712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F2A541"/>
          </a:solidFill>
          <a:ln/>
        </p:spPr>
      </p:sp>
      <p:sp>
        <p:nvSpPr>
          <p:cNvPr id="1282880646" name="Text 12"/>
          <p:cNvSpPr/>
          <p:nvPr/>
        </p:nvSpPr>
        <p:spPr bwMode="auto">
          <a:xfrm>
            <a:off x="548640" y="3410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100"/>
          </a:p>
        </p:txBody>
      </p:sp>
      <p:sp>
        <p:nvSpPr>
          <p:cNvPr id="670049512" name="Text 13"/>
          <p:cNvSpPr/>
          <p:nvPr/>
        </p:nvSpPr>
        <p:spPr bwMode="auto">
          <a:xfrm>
            <a:off x="1005840" y="33649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V8 Blog (Google) — "Ignition", "Sparkplug", "Maglev" derleyici mimarisi yazıları. v8.dev/blog</a:t>
            </a:r>
            <a:endParaRPr lang="en-US" sz="1200"/>
          </a:p>
        </p:txBody>
      </p:sp>
      <p:sp>
        <p:nvSpPr>
          <p:cNvPr id="1967758685" name="Shape 14"/>
          <p:cNvSpPr/>
          <p:nvPr/>
        </p:nvSpPr>
        <p:spPr bwMode="auto">
          <a:xfrm>
            <a:off x="548640" y="4014216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0E7C86"/>
          </a:solidFill>
          <a:ln/>
        </p:spPr>
      </p:sp>
      <p:sp>
        <p:nvSpPr>
          <p:cNvPr id="1734490191" name="Text 15"/>
          <p:cNvSpPr/>
          <p:nvPr/>
        </p:nvSpPr>
        <p:spPr bwMode="auto">
          <a:xfrm>
            <a:off x="548640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100"/>
          </a:p>
        </p:txBody>
      </p:sp>
      <p:sp>
        <p:nvSpPr>
          <p:cNvPr id="1186639739" name="Text 16"/>
          <p:cNvSpPr/>
          <p:nvPr/>
        </p:nvSpPr>
        <p:spPr bwMode="auto">
          <a:xfrm>
            <a:off x="1005840" y="3968496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ASGI / WSGI Resmi Şartnameleri — asgi.readthedocs.io ve PEP 3333 (WSGI), python.org</a:t>
            </a:r>
            <a:endParaRPr lang="en-US" sz="1200"/>
          </a:p>
        </p:txBody>
      </p:sp>
      <p:sp>
        <p:nvSpPr>
          <p:cNvPr id="1113276104" name="Shape 17"/>
          <p:cNvSpPr/>
          <p:nvPr/>
        </p:nvSpPr>
        <p:spPr bwMode="auto">
          <a:xfrm>
            <a:off x="548640" y="4617720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F2A541"/>
          </a:solidFill>
          <a:ln/>
        </p:spPr>
      </p:sp>
      <p:sp>
        <p:nvSpPr>
          <p:cNvPr id="402079533" name="Text 18"/>
          <p:cNvSpPr/>
          <p:nvPr/>
        </p:nvSpPr>
        <p:spPr bwMode="auto">
          <a:xfrm>
            <a:off x="54864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100"/>
          </a:p>
        </p:txBody>
      </p:sp>
      <p:sp>
        <p:nvSpPr>
          <p:cNvPr id="1174121193" name="Text 19"/>
          <p:cNvSpPr/>
          <p:nvPr/>
        </p:nvSpPr>
        <p:spPr bwMode="auto">
          <a:xfrm>
            <a:off x="1005840" y="45720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Google Chrome Developers — "INP resmen FID'in yerini aldı" duyurusu (Mart 2024). developer.chrome.com</a:t>
            </a:r>
            <a:endParaRPr lang="en-US" sz="1200"/>
          </a:p>
        </p:txBody>
      </p:sp>
      <p:sp>
        <p:nvSpPr>
          <p:cNvPr id="1857603921" name="Shape 20"/>
          <p:cNvSpPr/>
          <p:nvPr/>
        </p:nvSpPr>
        <p:spPr bwMode="auto">
          <a:xfrm>
            <a:off x="548640" y="5221224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0E7C86"/>
          </a:solidFill>
          <a:ln/>
        </p:spPr>
      </p:sp>
      <p:sp>
        <p:nvSpPr>
          <p:cNvPr id="450877629" name="Text 21"/>
          <p:cNvSpPr/>
          <p:nvPr/>
        </p:nvSpPr>
        <p:spPr bwMode="auto">
          <a:xfrm>
            <a:off x="548640" y="5221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100"/>
          </a:p>
        </p:txBody>
      </p:sp>
      <p:sp>
        <p:nvSpPr>
          <p:cNvPr id="2097529862" name="Text 22"/>
          <p:cNvSpPr/>
          <p:nvPr/>
        </p:nvSpPr>
        <p:spPr bwMode="auto">
          <a:xfrm>
            <a:off x="1005840" y="517550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Cloudflare Learning Center — "What happens when you type a URL into your browser?", "TLS 1.3". cloudflare.com/learning</a:t>
            </a:r>
            <a:endParaRPr lang="en-US" sz="1200"/>
          </a:p>
        </p:txBody>
      </p:sp>
      <p:sp>
        <p:nvSpPr>
          <p:cNvPr id="1568233199" name="Shape 23"/>
          <p:cNvSpPr/>
          <p:nvPr/>
        </p:nvSpPr>
        <p:spPr bwMode="auto">
          <a:xfrm>
            <a:off x="548640" y="5824728"/>
            <a:ext cx="274320" cy="274320"/>
          </a:xfrm>
          <a:prstGeom prst="roundRect">
            <a:avLst>
              <a:gd name="adj" fmla="val 100000"/>
            </a:avLst>
          </a:prstGeom>
          <a:solidFill>
            <a:srgbClr val="F2A541"/>
          </a:solidFill>
          <a:ln/>
        </p:spPr>
      </p:sp>
      <p:sp>
        <p:nvSpPr>
          <p:cNvPr id="1603114497" name="Text 24"/>
          <p:cNvSpPr/>
          <p:nvPr/>
        </p:nvSpPr>
        <p:spPr bwMode="auto">
          <a:xfrm>
            <a:off x="548640" y="5824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100"/>
          </a:p>
        </p:txBody>
      </p:sp>
      <p:sp>
        <p:nvSpPr>
          <p:cNvPr id="1546226458" name="Text 25"/>
          <p:cNvSpPr/>
          <p:nvPr/>
        </p:nvSpPr>
        <p:spPr bwMode="auto">
          <a:xfrm>
            <a:off x="1005840" y="577900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NotebookLM (Google)</a:t>
            </a:r>
            <a:r>
              <a:rPr lang="tr-TR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Deep Research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tr-TR" sz="1200" b="0" i="0" u="none" strike="noStrike" cap="none" spc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1200" b="0" i="0" u="none" strike="noStrike" cap="none" spc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Modern İnternet Ekosisteminde Bir Web İsteğinin Uçtan Uca Teknik Anatomisi ve Sistem Mimarisi Raporu</a:t>
            </a:r>
            <a:r>
              <a:rPr lang="tr-TR" sz="1200"/>
              <a:t>”</a:t>
            </a:r>
            <a:endParaRPr lang="en-US" sz="1200"/>
          </a:p>
        </p:txBody>
      </p:sp>
      <p:sp>
        <p:nvSpPr>
          <p:cNvPr id="1942810015" name="Text 26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2026-07-13T23:04:26Z</dcterms:created>
  <dcterms:modified xsi:type="dcterms:W3CDTF">2026-07-14T11:01:53Z</dcterms:modified>
</cp:coreProperties>
</file>