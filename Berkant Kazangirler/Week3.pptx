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81532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26435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82743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7394173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8326436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444221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5678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83202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2844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0993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127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4863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4216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305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35270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0052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699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1846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2962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2525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329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2885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95618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9950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2537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7633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07546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B1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277553" name="Shape 0"/>
          <p:cNvSpPr/>
          <p:nvPr/>
        </p:nvSpPr>
        <p:spPr bwMode="auto">
          <a:xfrm>
            <a:off x="8869680" y="-1371600"/>
            <a:ext cx="4572000" cy="45720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326455457" name="Shape 1"/>
          <p:cNvSpPr/>
          <p:nvPr/>
        </p:nvSpPr>
        <p:spPr bwMode="auto">
          <a:xfrm>
            <a:off x="10332720" y="4297680"/>
            <a:ext cx="2926080" cy="2926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80367448" name="Text 2"/>
          <p:cNvSpPr/>
          <p:nvPr/>
        </p:nvSpPr>
        <p:spPr bwMode="auto"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 spc="300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İSTEK SIRALAMASI</a:t>
            </a:r>
            <a:endParaRPr lang="en-US" sz="1400"/>
          </a:p>
        </p:txBody>
      </p:sp>
      <p:sp>
        <p:nvSpPr>
          <p:cNvPr id="1848972688" name="Text 3"/>
          <p:cNvSpPr/>
          <p:nvPr/>
        </p:nvSpPr>
        <p:spPr bwMode="auto">
          <a:xfrm>
            <a:off x="640080" y="18745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Bir Web Sitesi Nasıl Çalışır?</a:t>
            </a:r>
            <a:endParaRPr lang="en-US" sz="4000"/>
          </a:p>
        </p:txBody>
      </p:sp>
      <p:sp>
        <p:nvSpPr>
          <p:cNvPr id="1417517441" name="Text 4"/>
          <p:cNvSpPr/>
          <p:nvPr/>
        </p:nvSpPr>
        <p:spPr bwMode="auto">
          <a:xfrm>
            <a:off x="640080" y="306324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600">
                <a:solidFill>
                  <a:srgbClr val="C7D4E3"/>
                </a:solidFill>
                <a:latin typeface="Calibri"/>
                <a:ea typeface="Calibri"/>
                <a:cs typeface="Calibri"/>
              </a:rPr>
              <a:t>Bir tıklamadan yanıta: isteğin önce nereye, sonra nasıl gittiğinin</a:t>
            </a:r>
            <a:endParaRPr lang="en-US" sz="1600"/>
          </a:p>
          <a:p>
            <a:pPr marL="0" indent="0">
              <a:lnSpc>
                <a:spcPct val="130000"/>
              </a:lnSpc>
              <a:buNone/>
              <a:defRPr/>
            </a:pPr>
            <a:r>
              <a:rPr lang="en-US" sz="1600">
                <a:solidFill>
                  <a:srgbClr val="C7D4E3"/>
                </a:solidFill>
                <a:latin typeface="Calibri"/>
                <a:ea typeface="Calibri"/>
                <a:cs typeface="Calibri"/>
              </a:rPr>
              <a:t>ağ ve sunucu katmanlarındaki yolculuğu.</a:t>
            </a:r>
            <a:endParaRPr lang="en-US" sz="1600"/>
          </a:p>
        </p:txBody>
      </p:sp>
      <p:sp>
        <p:nvSpPr>
          <p:cNvPr id="1098449581" name="Shape 5"/>
          <p:cNvSpPr/>
          <p:nvPr/>
        </p:nvSpPr>
        <p:spPr bwMode="auto">
          <a:xfrm>
            <a:off x="658368" y="4160519"/>
            <a:ext cx="201168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002389" name="Shape 2"/>
          <p:cNvSpPr/>
          <p:nvPr/>
        </p:nvSpPr>
        <p:spPr bwMode="auto">
          <a:xfrm>
            <a:off x="534924" y="1600200"/>
            <a:ext cx="11091672" cy="356616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/>
        </p:spPr>
      </p:sp>
      <p:sp>
        <p:nvSpPr>
          <p:cNvPr id="1444179798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Her İsteğin Bir Göndereni, Bir Alıcısı Vardır</a:t>
            </a:r>
            <a:endParaRPr lang="en-US" sz="2800"/>
          </a:p>
        </p:txBody>
      </p:sp>
      <p:sp>
        <p:nvSpPr>
          <p:cNvPr id="978197970" name="Text 1"/>
          <p:cNvSpPr/>
          <p:nvPr/>
        </p:nvSpPr>
        <p:spPr bwMode="auto"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İstemci - Sunucu modeli: isteklerin temel iş bölümü</a:t>
            </a:r>
            <a:endParaRPr lang="en-US" sz="1300"/>
          </a:p>
        </p:txBody>
      </p:sp>
      <p:sp>
        <p:nvSpPr>
          <p:cNvPr id="158208522" name="Shape 3"/>
          <p:cNvSpPr/>
          <p:nvPr/>
        </p:nvSpPr>
        <p:spPr bwMode="auto">
          <a:xfrm>
            <a:off x="5349240" y="27432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957413050" name="Text 4"/>
          <p:cNvSpPr/>
          <p:nvPr/>
        </p:nvSpPr>
        <p:spPr bwMode="auto">
          <a:xfrm>
            <a:off x="5349240" y="27432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SUNUCU</a:t>
            </a:r>
            <a:endParaRPr lang="en-US" sz="1200"/>
          </a:p>
        </p:txBody>
      </p:sp>
      <p:sp>
        <p:nvSpPr>
          <p:cNvPr id="1618553628" name="Shape 5"/>
          <p:cNvSpPr/>
          <p:nvPr/>
        </p:nvSpPr>
        <p:spPr bwMode="auto">
          <a:xfrm>
            <a:off x="1280160" y="21031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E7C86"/>
          </a:solidFill>
          <a:ln/>
        </p:spPr>
      </p:sp>
      <p:sp>
        <p:nvSpPr>
          <p:cNvPr id="1758927292" name="Shape 6"/>
          <p:cNvSpPr/>
          <p:nvPr/>
        </p:nvSpPr>
        <p:spPr bwMode="auto">
          <a:xfrm>
            <a:off x="9144000" y="21031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E7C86"/>
          </a:solidFill>
          <a:ln/>
        </p:spPr>
      </p:sp>
      <p:sp>
        <p:nvSpPr>
          <p:cNvPr id="1301790220" name="Shape 7"/>
          <p:cNvSpPr/>
          <p:nvPr/>
        </p:nvSpPr>
        <p:spPr bwMode="auto">
          <a:xfrm>
            <a:off x="1280160" y="40233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E7C86"/>
          </a:solidFill>
          <a:ln/>
        </p:spPr>
      </p:sp>
      <p:sp>
        <p:nvSpPr>
          <p:cNvPr id="1701777059" name="Shape 8"/>
          <p:cNvSpPr/>
          <p:nvPr/>
        </p:nvSpPr>
        <p:spPr bwMode="auto">
          <a:xfrm>
            <a:off x="9144000" y="40233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E7C86"/>
          </a:solidFill>
          <a:ln/>
        </p:spPr>
      </p:sp>
      <p:sp>
        <p:nvSpPr>
          <p:cNvPr id="616252009" name="Text 9"/>
          <p:cNvSpPr/>
          <p:nvPr/>
        </p:nvSpPr>
        <p:spPr bwMode="auto">
          <a:xfrm>
            <a:off x="1051560" y="2788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İstemci</a:t>
            </a:r>
            <a:endParaRPr lang="en-US" sz="950"/>
          </a:p>
          <a:p>
            <a:pPr marL="0" indent="0" algn="ctr">
              <a:buNone/>
              <a:defRPr/>
            </a:pPr>
            <a:r>
              <a:rPr lang="en-US" sz="9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(tarayıcı)</a:t>
            </a:r>
            <a:endParaRPr lang="en-US" sz="950"/>
          </a:p>
        </p:txBody>
      </p:sp>
      <p:sp>
        <p:nvSpPr>
          <p:cNvPr id="525755260" name="Shape 10"/>
          <p:cNvSpPr/>
          <p:nvPr/>
        </p:nvSpPr>
        <p:spPr bwMode="auto">
          <a:xfrm>
            <a:off x="1965960" y="2423160"/>
            <a:ext cx="3383280" cy="54864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1468317038" name="Shape 11"/>
          <p:cNvSpPr/>
          <p:nvPr/>
        </p:nvSpPr>
        <p:spPr bwMode="auto">
          <a:xfrm flipH="0" flipV="1">
            <a:off x="6812280" y="2490267"/>
            <a:ext cx="2331719" cy="481532"/>
          </a:xfrm>
          <a:prstGeom prst="line">
            <a:avLst/>
          </a:prstGeom>
          <a:noFill/>
          <a:ln w="22225">
            <a:solidFill>
              <a:srgbClr val="B23A48"/>
            </a:solidFill>
            <a:prstDash val="solid"/>
          </a:ln>
        </p:spPr>
      </p:sp>
      <p:sp>
        <p:nvSpPr>
          <p:cNvPr id="1570995402" name="Shape 12"/>
          <p:cNvSpPr/>
          <p:nvPr/>
        </p:nvSpPr>
        <p:spPr bwMode="auto">
          <a:xfrm flipH="0" flipV="1">
            <a:off x="1920240" y="3897451"/>
            <a:ext cx="3428999" cy="445948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600951448" name="Shape 13"/>
          <p:cNvSpPr/>
          <p:nvPr/>
        </p:nvSpPr>
        <p:spPr bwMode="auto">
          <a:xfrm flipH="0" flipV="0">
            <a:off x="6812280" y="3703320"/>
            <a:ext cx="2331719" cy="640080"/>
          </a:xfrm>
          <a:prstGeom prst="line">
            <a:avLst/>
          </a:prstGeom>
          <a:noFill/>
          <a:ln w="22225">
            <a:solidFill>
              <a:srgbClr val="B23A48"/>
            </a:solidFill>
            <a:prstDash val="solid"/>
          </a:ln>
        </p:spPr>
      </p:sp>
      <p:sp>
        <p:nvSpPr>
          <p:cNvPr id="1995601214" name="Text 15"/>
          <p:cNvSpPr/>
          <p:nvPr/>
        </p:nvSpPr>
        <p:spPr bwMode="auto">
          <a:xfrm rot="934021" flipH="0" flipV="0">
            <a:off x="7418599" y="3719922"/>
            <a:ext cx="111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B23A48"/>
                </a:solidFill>
                <a:latin typeface="Calibri"/>
                <a:ea typeface="Calibri"/>
                <a:cs typeface="Calibri"/>
              </a:rPr>
              <a:t>Yanıt (Response)</a:t>
            </a:r>
            <a:endParaRPr lang="en-US" sz="1000"/>
          </a:p>
        </p:txBody>
      </p:sp>
      <p:sp>
        <p:nvSpPr>
          <p:cNvPr id="1425587999" name="Text 16"/>
          <p:cNvSpPr/>
          <p:nvPr/>
        </p:nvSpPr>
        <p:spPr bwMode="auto">
          <a:xfrm flipH="0" flipV="0">
            <a:off x="548640" y="5096933"/>
            <a:ext cx="110002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Bir web sitesine her erişim, istemcinin (tarayıcınız) sunucuya bir istek göndermesi ve sunucunun bir yanıtla karşılık vermesiyle başlar. Bu sunum boyunca izleyeceğimiz sıralama, tam olarak bu isteğin yolculuğudur.</a:t>
            </a:r>
            <a:endParaRPr lang="en-US" sz="1250"/>
          </a:p>
        </p:txBody>
      </p:sp>
      <p:sp>
        <p:nvSpPr>
          <p:cNvPr id="660197759" name="Text 17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000"/>
          </a:p>
        </p:txBody>
      </p:sp>
      <p:sp>
        <p:nvSpPr>
          <p:cNvPr id="1545271337" name="Text 14"/>
          <p:cNvSpPr/>
          <p:nvPr/>
        </p:nvSpPr>
        <p:spPr bwMode="auto">
          <a:xfrm rot="541966" flipH="0" flipV="0">
            <a:off x="2868220" y="2353107"/>
            <a:ext cx="10397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İstek (Request)</a:t>
            </a:r>
            <a:endParaRPr sz="1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945166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İstek Yola Çıkmadan Önce Dört Görünmez Durak Vardır</a:t>
            </a:r>
            <a:endParaRPr lang="en-US" sz="2800"/>
          </a:p>
        </p:txBody>
      </p:sp>
      <p:sp>
        <p:nvSpPr>
          <p:cNvPr id="754655270" name="Text 1"/>
          <p:cNvSpPr/>
          <p:nvPr/>
        </p:nvSpPr>
        <p:spPr bwMode="auto"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Adres çubuğuna yazdığınız an, tıklamadan önce ağ arka planda çalışmaya başlar (DNS Resolution → TCP Handshake → TLS Handshake → HTTP Request)</a:t>
            </a:r>
            <a:endParaRPr lang="en-US" sz="1250"/>
          </a:p>
        </p:txBody>
      </p:sp>
      <p:sp>
        <p:nvSpPr>
          <p:cNvPr id="293264116" name="Shape 2"/>
          <p:cNvSpPr/>
          <p:nvPr/>
        </p:nvSpPr>
        <p:spPr bwMode="auto">
          <a:xfrm>
            <a:off x="548640" y="16916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</p:spPr>
      </p:sp>
      <p:sp>
        <p:nvSpPr>
          <p:cNvPr id="640957793" name="Shape 3"/>
          <p:cNvSpPr/>
          <p:nvPr/>
        </p:nvSpPr>
        <p:spPr bwMode="auto">
          <a:xfrm>
            <a:off x="548640" y="1691640"/>
            <a:ext cx="2606040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24564637" name="Text 4"/>
          <p:cNvSpPr/>
          <p:nvPr/>
        </p:nvSpPr>
        <p:spPr bwMode="auto">
          <a:xfrm>
            <a:off x="731520" y="2011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1. DNS Resolution</a:t>
            </a:r>
            <a:endParaRPr lang="en-US" sz="1400"/>
          </a:p>
        </p:txBody>
      </p:sp>
      <p:sp>
        <p:nvSpPr>
          <p:cNvPr id="1211600617" name="Text 5"/>
          <p:cNvSpPr/>
          <p:nvPr/>
        </p:nvSpPr>
        <p:spPr bwMode="auto">
          <a:xfrm>
            <a:off x="731520" y="26517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domain.com adresi,</a:t>
            </a:r>
            <a:endParaRPr lang="en-US" sz="115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192.0.2.172 gibi bir</a:t>
            </a:r>
            <a:endParaRPr lang="en-US" sz="115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IP adresine çevrilir.</a:t>
            </a:r>
            <a:endParaRPr lang="en-US" sz="1150"/>
          </a:p>
        </p:txBody>
      </p:sp>
      <p:sp>
        <p:nvSpPr>
          <p:cNvPr id="244746053" name="Text 6"/>
          <p:cNvSpPr/>
          <p:nvPr/>
        </p:nvSpPr>
        <p:spPr bwMode="auto">
          <a:xfrm>
            <a:off x="731520" y="4160519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E7C86"/>
                </a:solidFill>
                <a:latin typeface="Calibri"/>
                <a:ea typeface="Calibri"/>
                <a:cs typeface="Calibri"/>
              </a:rPr>
              <a:t>Süre: 20–120ms [3]</a:t>
            </a:r>
            <a:endParaRPr lang="en-US" sz="1100"/>
          </a:p>
        </p:txBody>
      </p:sp>
      <p:sp>
        <p:nvSpPr>
          <p:cNvPr id="1732719280" name="Text 7"/>
          <p:cNvSpPr/>
          <p:nvPr/>
        </p:nvSpPr>
        <p:spPr bwMode="auto">
          <a:xfrm>
            <a:off x="3067134" y="288036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2A541"/>
                </a:solidFill>
              </a:rPr>
              <a:t>→</a:t>
            </a:r>
            <a:endParaRPr lang="en-US" sz="2000"/>
          </a:p>
        </p:txBody>
      </p:sp>
      <p:sp>
        <p:nvSpPr>
          <p:cNvPr id="1530378946" name="Shape 8"/>
          <p:cNvSpPr/>
          <p:nvPr/>
        </p:nvSpPr>
        <p:spPr bwMode="auto">
          <a:xfrm>
            <a:off x="3383280" y="16916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</p:spPr>
      </p:sp>
      <p:sp>
        <p:nvSpPr>
          <p:cNvPr id="694986472" name="Shape 9"/>
          <p:cNvSpPr/>
          <p:nvPr/>
        </p:nvSpPr>
        <p:spPr bwMode="auto">
          <a:xfrm>
            <a:off x="3383280" y="1691640"/>
            <a:ext cx="2606040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008502682" name="Text 10"/>
          <p:cNvSpPr/>
          <p:nvPr/>
        </p:nvSpPr>
        <p:spPr bwMode="auto">
          <a:xfrm>
            <a:off x="3566160" y="2011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2. TCP Handshake</a:t>
            </a:r>
            <a:endParaRPr lang="en-US" sz="1400"/>
          </a:p>
        </p:txBody>
      </p:sp>
      <p:sp>
        <p:nvSpPr>
          <p:cNvPr id="1234366186" name="Text 11"/>
          <p:cNvSpPr/>
          <p:nvPr/>
        </p:nvSpPr>
        <p:spPr bwMode="auto">
          <a:xfrm>
            <a:off x="3566160" y="26517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İstemci ve sunucu</a:t>
            </a:r>
            <a:endParaRPr lang="en-US" sz="115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bağlantı için senkronize</a:t>
            </a:r>
            <a:endParaRPr lang="en-US" sz="115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olur (3 yönlü).</a:t>
            </a:r>
            <a:endParaRPr lang="en-US" sz="1150"/>
          </a:p>
        </p:txBody>
      </p:sp>
      <p:sp>
        <p:nvSpPr>
          <p:cNvPr id="1409673562" name="Text 12"/>
          <p:cNvSpPr/>
          <p:nvPr/>
        </p:nvSpPr>
        <p:spPr bwMode="auto">
          <a:xfrm>
            <a:off x="3566160" y="4160519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E7C86"/>
                </a:solidFill>
                <a:latin typeface="Calibri"/>
                <a:ea typeface="Calibri"/>
                <a:cs typeface="Calibri"/>
              </a:rPr>
              <a:t>SYN, SYN-ACK, ACK [3]</a:t>
            </a:r>
            <a:endParaRPr lang="en-US" sz="1100"/>
          </a:p>
        </p:txBody>
      </p:sp>
      <p:sp>
        <p:nvSpPr>
          <p:cNvPr id="721809867" name="Text 13"/>
          <p:cNvSpPr/>
          <p:nvPr/>
        </p:nvSpPr>
        <p:spPr bwMode="auto">
          <a:xfrm>
            <a:off x="5901774" y="288036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2A541"/>
                </a:solidFill>
              </a:rPr>
              <a:t>→</a:t>
            </a:r>
            <a:endParaRPr lang="en-US" sz="2000"/>
          </a:p>
        </p:txBody>
      </p:sp>
      <p:sp>
        <p:nvSpPr>
          <p:cNvPr id="950757695" name="Shape 14"/>
          <p:cNvSpPr/>
          <p:nvPr/>
        </p:nvSpPr>
        <p:spPr bwMode="auto">
          <a:xfrm>
            <a:off x="6217920" y="16916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</p:spPr>
      </p:sp>
      <p:sp>
        <p:nvSpPr>
          <p:cNvPr id="1594597206" name="Shape 15"/>
          <p:cNvSpPr/>
          <p:nvPr/>
        </p:nvSpPr>
        <p:spPr bwMode="auto">
          <a:xfrm>
            <a:off x="6217920" y="1691640"/>
            <a:ext cx="2606040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05881581" name="Text 16"/>
          <p:cNvSpPr/>
          <p:nvPr/>
        </p:nvSpPr>
        <p:spPr bwMode="auto">
          <a:xfrm>
            <a:off x="6400800" y="2011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3. TLS Handshake</a:t>
            </a:r>
            <a:endParaRPr lang="en-US" sz="1400"/>
          </a:p>
        </p:txBody>
      </p:sp>
      <p:sp>
        <p:nvSpPr>
          <p:cNvPr id="240193791" name="Text 17"/>
          <p:cNvSpPr/>
          <p:nvPr/>
        </p:nvSpPr>
        <p:spPr bwMode="auto">
          <a:xfrm>
            <a:off x="6400800" y="26517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Şifreleme anahtarları</a:t>
            </a:r>
            <a:endParaRPr lang="en-US" sz="115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oluşturulur; güvenli</a:t>
            </a:r>
            <a:endParaRPr lang="en-US" sz="115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katman kurulur.</a:t>
            </a:r>
            <a:endParaRPr lang="en-US" sz="1150"/>
          </a:p>
        </p:txBody>
      </p:sp>
      <p:sp>
        <p:nvSpPr>
          <p:cNvPr id="1977233231" name="Text 18"/>
          <p:cNvSpPr/>
          <p:nvPr/>
        </p:nvSpPr>
        <p:spPr bwMode="auto">
          <a:xfrm>
            <a:off x="6400800" y="4160519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E7C86"/>
                </a:solidFill>
                <a:latin typeface="Calibri"/>
                <a:ea typeface="Calibri"/>
                <a:cs typeface="Calibri"/>
              </a:rPr>
              <a:t>~1 RTT (TLS 1.3) [3]</a:t>
            </a:r>
            <a:endParaRPr lang="en-US" sz="1100"/>
          </a:p>
        </p:txBody>
      </p:sp>
      <p:sp>
        <p:nvSpPr>
          <p:cNvPr id="1238548349" name="Text 19"/>
          <p:cNvSpPr/>
          <p:nvPr/>
        </p:nvSpPr>
        <p:spPr bwMode="auto">
          <a:xfrm>
            <a:off x="8736414" y="288036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2A541"/>
                </a:solidFill>
              </a:rPr>
              <a:t>→</a:t>
            </a:r>
            <a:endParaRPr lang="en-US" sz="2000"/>
          </a:p>
        </p:txBody>
      </p:sp>
      <p:sp>
        <p:nvSpPr>
          <p:cNvPr id="1021823351" name="Shape 20"/>
          <p:cNvSpPr/>
          <p:nvPr/>
        </p:nvSpPr>
        <p:spPr bwMode="auto">
          <a:xfrm>
            <a:off x="9052560" y="16916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</p:spPr>
      </p:sp>
      <p:sp>
        <p:nvSpPr>
          <p:cNvPr id="220547348" name="Shape 21"/>
          <p:cNvSpPr/>
          <p:nvPr/>
        </p:nvSpPr>
        <p:spPr bwMode="auto">
          <a:xfrm>
            <a:off x="9052560" y="1691640"/>
            <a:ext cx="2606040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72503738" name="Text 22"/>
          <p:cNvSpPr/>
          <p:nvPr/>
        </p:nvSpPr>
        <p:spPr bwMode="auto">
          <a:xfrm>
            <a:off x="9235440" y="2011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4. HTTP Request</a:t>
            </a:r>
            <a:endParaRPr lang="en-US" sz="1400"/>
          </a:p>
        </p:txBody>
      </p:sp>
      <p:sp>
        <p:nvSpPr>
          <p:cNvPr id="170880953" name="Text 23"/>
          <p:cNvSpPr/>
          <p:nvPr/>
        </p:nvSpPr>
        <p:spPr bwMode="auto">
          <a:xfrm>
            <a:off x="9235440" y="26517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İstek nihayet kablo</a:t>
            </a:r>
            <a:endParaRPr lang="en-US" sz="115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üzerinden sunucuya</a:t>
            </a:r>
            <a:endParaRPr lang="en-US" sz="115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yola çıkar.</a:t>
            </a:r>
            <a:endParaRPr lang="en-US" sz="1150"/>
          </a:p>
        </p:txBody>
      </p:sp>
      <p:sp>
        <p:nvSpPr>
          <p:cNvPr id="1019723726" name="Text 24"/>
          <p:cNvSpPr/>
          <p:nvPr/>
        </p:nvSpPr>
        <p:spPr bwMode="auto">
          <a:xfrm>
            <a:off x="9235440" y="4160519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E7C86"/>
                </a:solidFill>
                <a:latin typeface="Calibri"/>
                <a:ea typeface="Calibri"/>
                <a:cs typeface="Calibri"/>
              </a:rPr>
              <a:t>GET /index.html [1]</a:t>
            </a:r>
            <a:endParaRPr lang="en-US" sz="1100"/>
          </a:p>
        </p:txBody>
      </p:sp>
      <p:sp>
        <p:nvSpPr>
          <p:cNvPr id="760588708" name="Shape 25"/>
          <p:cNvSpPr/>
          <p:nvPr/>
        </p:nvSpPr>
        <p:spPr bwMode="auto">
          <a:xfrm>
            <a:off x="548640" y="502920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0B1F3A"/>
          </a:solidFill>
          <a:ln/>
        </p:spPr>
      </p:sp>
      <p:sp>
        <p:nvSpPr>
          <p:cNvPr id="1090196161" name="Text 26"/>
          <p:cNvSpPr/>
          <p:nvPr/>
        </p:nvSpPr>
        <p:spPr bwMode="auto">
          <a:xfrm>
            <a:off x="822960" y="5029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Not: Bu, HTTP/1.1 ve HTTP/2'nin klasik TCP akışıdır. HTTP/3 (QUIC), UDP üzerinde çalıştığı için ayrı bir TCP Handshake adımına ihtiyaç duymaz</a:t>
            </a:r>
            <a:endParaRPr lang="en-US" sz="1250"/>
          </a:p>
        </p:txBody>
      </p:sp>
      <p:sp>
        <p:nvSpPr>
          <p:cNvPr id="499402832" name="Text 27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  <p:sp>
        <p:nvSpPr>
          <p:cNvPr id="113935883" name="Shape 28"/>
          <p:cNvSpPr/>
          <p:nvPr/>
        </p:nvSpPr>
        <p:spPr bwMode="auto">
          <a:xfrm>
            <a:off x="548640" y="6108192"/>
            <a:ext cx="11091672" cy="0"/>
          </a:xfrm>
          <a:prstGeom prst="line">
            <a:avLst/>
          </a:prstGeom>
          <a:noFill/>
          <a:ln w="9525">
            <a:solidFill>
              <a:srgbClr val="D7DCE1"/>
            </a:solidFill>
            <a:prstDash val="solid"/>
          </a:ln>
        </p:spPr>
      </p:sp>
      <p:sp>
        <p:nvSpPr>
          <p:cNvPr id="195785467" name="Text 29"/>
          <p:cNvSpPr/>
          <p:nvPr/>
        </p:nvSpPr>
        <p:spPr bwMode="auto">
          <a:xfrm>
            <a:off x="548640" y="614476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Kaynak: [1] MDN Web Docs — An overview of HTTP   ·   [3] Cloudflare Learning Center — What happens when you type a URL into your browser?, TLS 1.3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616861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Aynı İstek, Protokole Göre Farklı Sayıda Turda Yola Çıkar</a:t>
            </a:r>
            <a:endParaRPr lang="en-US" sz="2800"/>
          </a:p>
        </p:txBody>
      </p:sp>
      <p:graphicFrame>
        <p:nvGraphicFramePr>
          <p:cNvPr id="306220904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48640" y="1508759"/>
          <a:ext cx="11091672" cy="246888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108960"/>
                <a:gridCol w="2660904"/>
                <a:gridCol w="2660904"/>
                <a:gridCol w="2660904"/>
              </a:tblGrid>
              <a:tr h="6172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HTTP/1.1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HTTP/2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HTTP/3 (QUIC) [2]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6172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Transport Layer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TCP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TCP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UDP tabanlı QUIC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  <a:solidFill>
                      <a:srgbClr val="E4F2F1"/>
                    </a:solidFill>
                  </a:tcPr>
                </a:tc>
              </a:tr>
              <a:tr h="6172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Connection Setup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3 Tur (TCP + TLS ayrı)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2 Tur (TCP + TLS)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1 Tur (TCP adımı yok)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  <a:solidFill>
                      <a:srgbClr val="E4F2F1"/>
                    </a:solidFill>
                  </a:tcPr>
                </a:tc>
              </a:tr>
              <a:tr h="6172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Head-of-Line Blocking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Şiddetli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TCP katmanında mevcut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Akış bazında büyük ölçüde çözüldü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E2E6EA"/>
                      </a:solidFill>
                    </a:lnL>
                    <a:lnR w="12700" algn="ctr">
                      <a:solidFill>
                        <a:srgbClr val="E2E6EA"/>
                      </a:solidFill>
                    </a:lnR>
                    <a:lnT w="12700" algn="ctr">
                      <a:solidFill>
                        <a:srgbClr val="E2E6EA"/>
                      </a:solidFill>
                    </a:lnT>
                    <a:lnB w="12700" algn="ctr">
                      <a:solidFill>
                        <a:srgbClr val="E2E6EA"/>
                      </a:solidFill>
                    </a:lnB>
                    <a:solidFill>
                      <a:srgbClr val="E4F2F1"/>
                    </a:solidFill>
                  </a:tcPr>
                </a:tc>
              </a:tr>
            </a:tbl>
          </a:graphicData>
        </a:graphic>
      </p:graphicFrame>
      <p:sp>
        <p:nvSpPr>
          <p:cNvPr id="310891422" name="Shape 1"/>
          <p:cNvSpPr/>
          <p:nvPr/>
        </p:nvSpPr>
        <p:spPr bwMode="auto">
          <a:xfrm>
            <a:off x="548640" y="434340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798740270" name="Text 2"/>
          <p:cNvSpPr/>
          <p:nvPr/>
        </p:nvSpPr>
        <p:spPr bwMode="auto">
          <a:xfrm>
            <a:off x="822960" y="43434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350" i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Bunun isteğin yolculuğu için anlamı: aynı istek, HTTP/3 destekleyen bir sitede daha az turda (round trip) hedefine ulaşır — yani kullanıcı sayfayı daha erken görmeye başlar. [2][3]</a:t>
            </a:r>
            <a:endParaRPr lang="en-US" sz="1350"/>
          </a:p>
        </p:txBody>
      </p:sp>
      <p:sp>
        <p:nvSpPr>
          <p:cNvPr id="2006880706" name="Text 3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000"/>
          </a:p>
        </p:txBody>
      </p:sp>
      <p:sp>
        <p:nvSpPr>
          <p:cNvPr id="576517590" name="Shape 4"/>
          <p:cNvSpPr/>
          <p:nvPr/>
        </p:nvSpPr>
        <p:spPr bwMode="auto">
          <a:xfrm>
            <a:off x="548640" y="6108192"/>
            <a:ext cx="11091672" cy="0"/>
          </a:xfrm>
          <a:prstGeom prst="line">
            <a:avLst/>
          </a:prstGeom>
          <a:noFill/>
          <a:ln w="9525">
            <a:solidFill>
              <a:srgbClr val="D7DCE1"/>
            </a:solidFill>
            <a:prstDash val="solid"/>
          </a:ln>
        </p:spPr>
      </p:sp>
      <p:sp>
        <p:nvSpPr>
          <p:cNvPr id="92116053" name="Text 5"/>
          <p:cNvSpPr/>
          <p:nvPr/>
        </p:nvSpPr>
        <p:spPr bwMode="auto">
          <a:xfrm>
            <a:off x="548640" y="614476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Kaynak: [2] IETF RFC 9114 (HTTP/3) ve RFC 9000 (QUIC)   ·   [3] Cloudflare Learning Center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292127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İstek Sunucuya Ulaştığında Üç Durakta Yönlendirilebilir</a:t>
            </a:r>
            <a:endParaRPr lang="en-US" sz="2800"/>
          </a:p>
        </p:txBody>
      </p:sp>
      <p:sp>
        <p:nvSpPr>
          <p:cNvPr id="1489422451" name="Text 1"/>
          <p:cNvSpPr/>
          <p:nvPr/>
        </p:nvSpPr>
        <p:spPr bwMode="auto"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Nereye gider? İlk durak önbellek (CDN), sonra web sunucusu, gerekirse uygulama sunucusu</a:t>
            </a:r>
            <a:endParaRPr lang="en-US" sz="1300"/>
          </a:p>
        </p:txBody>
      </p:sp>
      <p:sp>
        <p:nvSpPr>
          <p:cNvPr id="1642052010" name="Shape 2"/>
          <p:cNvSpPr/>
          <p:nvPr/>
        </p:nvSpPr>
        <p:spPr bwMode="auto">
          <a:xfrm>
            <a:off x="548640" y="1874520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0E7C86"/>
          </a:solidFill>
          <a:ln/>
        </p:spPr>
      </p:sp>
      <p:sp>
        <p:nvSpPr>
          <p:cNvPr id="320404648" name="Text 3"/>
          <p:cNvSpPr/>
          <p:nvPr/>
        </p:nvSpPr>
        <p:spPr bwMode="auto">
          <a:xfrm>
            <a:off x="731520" y="2011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1. CDN Edge Node</a:t>
            </a:r>
            <a:endParaRPr lang="en-US" sz="1400"/>
          </a:p>
        </p:txBody>
      </p:sp>
      <p:sp>
        <p:nvSpPr>
          <p:cNvPr id="1452101353" name="Text 4"/>
          <p:cNvSpPr/>
          <p:nvPr/>
        </p:nvSpPr>
        <p:spPr bwMode="auto">
          <a:xfrm>
            <a:off x="731520" y="24231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E4F2F1"/>
                </a:solidFill>
                <a:latin typeface="Calibri"/>
                <a:ea typeface="Calibri"/>
                <a:cs typeface="Calibri"/>
              </a:rPr>
              <a:t>İstenen içerik daha önce</a:t>
            </a:r>
            <a:endParaRPr lang="en-US" sz="115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E4F2F1"/>
                </a:solidFill>
                <a:latin typeface="Calibri"/>
                <a:ea typeface="Calibri"/>
                <a:cs typeface="Calibri"/>
              </a:rPr>
              <a:t>önbelleğe alınmış mı diye</a:t>
            </a:r>
            <a:endParaRPr lang="en-US" sz="115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E4F2F1"/>
                </a:solidFill>
                <a:latin typeface="Calibri"/>
                <a:ea typeface="Calibri"/>
                <a:cs typeface="Calibri"/>
              </a:rPr>
              <a:t>kontrol eder.</a:t>
            </a:r>
            <a:endParaRPr lang="en-US" sz="1150"/>
          </a:p>
        </p:txBody>
      </p:sp>
      <p:sp>
        <p:nvSpPr>
          <p:cNvPr id="1566116452" name="Text 5"/>
          <p:cNvSpPr/>
          <p:nvPr/>
        </p:nvSpPr>
        <p:spPr bwMode="auto">
          <a:xfrm>
            <a:off x="731520" y="31089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i="1">
                <a:solidFill>
                  <a:srgbClr val="CDEDE8"/>
                </a:solidFill>
                <a:latin typeface="Calibri"/>
                <a:ea typeface="Calibri"/>
                <a:cs typeface="Calibri"/>
              </a:rPr>
              <a:t>HIT → burada biter (~15ms) [3]</a:t>
            </a:r>
            <a:endParaRPr lang="en-US" sz="950"/>
          </a:p>
        </p:txBody>
      </p:sp>
      <p:sp>
        <p:nvSpPr>
          <p:cNvPr id="1533773351" name="Text 6"/>
          <p:cNvSpPr/>
          <p:nvPr/>
        </p:nvSpPr>
        <p:spPr bwMode="auto">
          <a:xfrm>
            <a:off x="3447288" y="2423160"/>
            <a:ext cx="466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2A541"/>
                </a:solidFill>
              </a:rPr>
              <a:t>→</a:t>
            </a:r>
            <a:endParaRPr lang="en-US" sz="2000"/>
          </a:p>
        </p:txBody>
      </p:sp>
      <p:sp>
        <p:nvSpPr>
          <p:cNvPr id="12293412" name="Text 7"/>
          <p:cNvSpPr/>
          <p:nvPr/>
        </p:nvSpPr>
        <p:spPr bwMode="auto">
          <a:xfrm>
            <a:off x="3383280" y="29260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i="1">
                <a:solidFill>
                  <a:srgbClr val="5B6472"/>
                </a:solidFill>
              </a:rPr>
              <a:t>MISS ise</a:t>
            </a:r>
            <a:endParaRPr lang="en-US" sz="950"/>
          </a:p>
        </p:txBody>
      </p:sp>
      <p:sp>
        <p:nvSpPr>
          <p:cNvPr id="1694480392" name="Shape 8"/>
          <p:cNvSpPr/>
          <p:nvPr/>
        </p:nvSpPr>
        <p:spPr bwMode="auto">
          <a:xfrm>
            <a:off x="3931920" y="1874520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545267862" name="Text 9"/>
          <p:cNvSpPr/>
          <p:nvPr/>
        </p:nvSpPr>
        <p:spPr bwMode="auto">
          <a:xfrm>
            <a:off x="4114800" y="2011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2. Web Server</a:t>
            </a:r>
            <a:endParaRPr lang="en-US" sz="1400"/>
          </a:p>
        </p:txBody>
      </p:sp>
      <p:sp>
        <p:nvSpPr>
          <p:cNvPr id="100365922" name="Text 10"/>
          <p:cNvSpPr/>
          <p:nvPr/>
        </p:nvSpPr>
        <p:spPr bwMode="auto">
          <a:xfrm>
            <a:off x="4114800" y="24231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Örn: Nginx, Apache. İstek</a:t>
            </a:r>
            <a:endParaRPr lang="en-US" sz="115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burada karşılanır; statik</a:t>
            </a:r>
            <a:endParaRPr lang="en-US" sz="115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dosyalar direkt sunulur.</a:t>
            </a:r>
            <a:endParaRPr lang="en-US" sz="1150"/>
          </a:p>
        </p:txBody>
      </p:sp>
      <p:sp>
        <p:nvSpPr>
          <p:cNvPr id="433431355" name="Text 11"/>
          <p:cNvSpPr/>
          <p:nvPr/>
        </p:nvSpPr>
        <p:spPr bwMode="auto">
          <a:xfrm>
            <a:off x="6830568" y="2423160"/>
            <a:ext cx="466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2A541"/>
                </a:solidFill>
              </a:rPr>
              <a:t>→</a:t>
            </a:r>
            <a:endParaRPr lang="en-US" sz="2000"/>
          </a:p>
        </p:txBody>
      </p:sp>
      <p:sp>
        <p:nvSpPr>
          <p:cNvPr id="1709491456" name="Text 12"/>
          <p:cNvSpPr/>
          <p:nvPr/>
        </p:nvSpPr>
        <p:spPr bwMode="auto">
          <a:xfrm>
            <a:off x="6766560" y="29260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i="1">
                <a:solidFill>
                  <a:srgbClr val="5B6472"/>
                </a:solidFill>
              </a:rPr>
              <a:t>dinamikse</a:t>
            </a:r>
            <a:endParaRPr lang="en-US" sz="950"/>
          </a:p>
        </p:txBody>
      </p:sp>
      <p:sp>
        <p:nvSpPr>
          <p:cNvPr id="1678605750" name="Shape 13"/>
          <p:cNvSpPr/>
          <p:nvPr/>
        </p:nvSpPr>
        <p:spPr bwMode="auto">
          <a:xfrm>
            <a:off x="7315200" y="1874520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F2A541"/>
          </a:solidFill>
          <a:ln/>
        </p:spPr>
      </p:sp>
      <p:sp>
        <p:nvSpPr>
          <p:cNvPr id="1008928221" name="Text 14"/>
          <p:cNvSpPr/>
          <p:nvPr/>
        </p:nvSpPr>
        <p:spPr bwMode="auto">
          <a:xfrm>
            <a:off x="7498080" y="2011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3. Application Server</a:t>
            </a:r>
            <a:endParaRPr lang="en-US" sz="1400"/>
          </a:p>
        </p:txBody>
      </p:sp>
      <p:sp>
        <p:nvSpPr>
          <p:cNvPr id="960726919" name="Text 15"/>
          <p:cNvSpPr/>
          <p:nvPr/>
        </p:nvSpPr>
        <p:spPr bwMode="auto">
          <a:xfrm>
            <a:off x="7498080" y="24231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Örn: Node.js, Python.</a:t>
            </a:r>
            <a:endParaRPr lang="en-US" sz="115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Veritabanına bağlanır,</a:t>
            </a:r>
            <a:endParaRPr lang="en-US" sz="115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iş mantığını çalıştırır.</a:t>
            </a:r>
            <a:endParaRPr lang="en-US" sz="1150"/>
          </a:p>
        </p:txBody>
      </p:sp>
      <p:sp>
        <p:nvSpPr>
          <p:cNvPr id="304907106" name="Shape 16"/>
          <p:cNvSpPr/>
          <p:nvPr/>
        </p:nvSpPr>
        <p:spPr bwMode="auto">
          <a:xfrm>
            <a:off x="548640" y="411480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</p:spPr>
      </p:sp>
      <p:sp>
        <p:nvSpPr>
          <p:cNvPr id="406127305" name="Text 17"/>
          <p:cNvSpPr/>
          <p:nvPr/>
        </p:nvSpPr>
        <p:spPr bwMode="auto">
          <a:xfrm>
            <a:off x="822960" y="42245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İsteğin nereye gideceği, önbellek durumuna göre değişir:</a:t>
            </a:r>
            <a:endParaRPr lang="en-US" sz="1300"/>
          </a:p>
        </p:txBody>
      </p:sp>
      <p:sp>
        <p:nvSpPr>
          <p:cNvPr id="1051231636" name="Text 18"/>
          <p:cNvSpPr/>
          <p:nvPr/>
        </p:nvSpPr>
        <p:spPr bwMode="auto">
          <a:xfrm>
            <a:off x="822960" y="4526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 b="1">
                <a:solidFill>
                  <a:srgbClr val="0E7C86"/>
                </a:solidFill>
                <a:latin typeface="Calibri"/>
                <a:ea typeface="Calibri"/>
                <a:cs typeface="Calibri"/>
              </a:rPr>
              <a:t>Cache HIT: </a:t>
            </a: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CDN, sunucuya hiç gitmeden doğrudan yanıt verir — en kısa yol.</a:t>
            </a:r>
            <a:endParaRPr lang="en-US" sz="120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 b="1">
                <a:solidFill>
                  <a:srgbClr val="F2A541"/>
                </a:solidFill>
                <a:latin typeface="Calibri"/>
                <a:ea typeface="Calibri"/>
                <a:cs typeface="Calibri"/>
              </a:rPr>
              <a:t>Cache MISS: </a:t>
            </a: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istek sırasıyla web sunucusuna, gerekiyorsa uygulama sunucusuna ve veritabanına kadar ilerler.</a:t>
            </a:r>
            <a:endParaRPr lang="en-US" sz="1200"/>
          </a:p>
        </p:txBody>
      </p:sp>
      <p:sp>
        <p:nvSpPr>
          <p:cNvPr id="1709574344" name="Shape 19"/>
          <p:cNvSpPr/>
          <p:nvPr/>
        </p:nvSpPr>
        <p:spPr bwMode="auto">
          <a:xfrm>
            <a:off x="548640" y="548640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/>
        </p:spPr>
      </p:sp>
      <p:sp>
        <p:nvSpPr>
          <p:cNvPr id="1869957997" name="Text 20"/>
          <p:cNvSpPr/>
          <p:nvPr/>
        </p:nvSpPr>
        <p:spPr bwMode="auto"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DDEAF5"/>
                </a:solidFill>
                <a:latin typeface="Calibri"/>
                <a:ea typeface="Calibri"/>
                <a:cs typeface="Calibri"/>
              </a:rPr>
              <a:t>Sunucu tarafı işleme süresi tipik olarak ~100ms civarındadır. [3]</a:t>
            </a:r>
            <a:endParaRPr lang="en-US" sz="1100"/>
          </a:p>
        </p:txBody>
      </p:sp>
      <p:sp>
        <p:nvSpPr>
          <p:cNvPr id="2118530622" name="Text 21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000"/>
          </a:p>
        </p:txBody>
      </p:sp>
      <p:sp>
        <p:nvSpPr>
          <p:cNvPr id="152700618" name="Shape 22"/>
          <p:cNvSpPr/>
          <p:nvPr/>
        </p:nvSpPr>
        <p:spPr bwMode="auto">
          <a:xfrm>
            <a:off x="548640" y="6053328"/>
            <a:ext cx="11091672" cy="0"/>
          </a:xfrm>
          <a:prstGeom prst="line">
            <a:avLst/>
          </a:prstGeom>
          <a:noFill/>
          <a:ln w="9525">
            <a:solidFill>
              <a:srgbClr val="D7DCE1"/>
            </a:solidFill>
            <a:prstDash val="solid"/>
          </a:ln>
        </p:spPr>
      </p:sp>
      <p:sp>
        <p:nvSpPr>
          <p:cNvPr id="1371109905" name="Text 23"/>
          <p:cNvSpPr/>
          <p:nvPr/>
        </p:nvSpPr>
        <p:spPr bwMode="auto">
          <a:xfrm>
            <a:off x="548640" y="6089904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Kaynak: [3] Cloudflare Learning Center — CDN nedir?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047398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Yanıt, Parçalanmış Paketler Halinde Geri Döner</a:t>
            </a:r>
            <a:endParaRPr lang="en-US" sz="2800"/>
          </a:p>
        </p:txBody>
      </p:sp>
      <p:sp>
        <p:nvSpPr>
          <p:cNvPr id="318884535" name="Shape 1"/>
          <p:cNvSpPr/>
          <p:nvPr/>
        </p:nvSpPr>
        <p:spPr bwMode="auto">
          <a:xfrm>
            <a:off x="548640" y="155448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4F6F8"/>
          </a:solidFill>
          <a:ln/>
        </p:spPr>
      </p:sp>
      <p:sp>
        <p:nvSpPr>
          <p:cNvPr id="919181709" name="Text 2"/>
          <p:cNvSpPr/>
          <p:nvPr/>
        </p:nvSpPr>
        <p:spPr bwMode="auto"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Packet Structure</a:t>
            </a:r>
            <a:endParaRPr lang="en-US" sz="1500"/>
          </a:p>
        </p:txBody>
      </p:sp>
      <p:sp>
        <p:nvSpPr>
          <p:cNvPr id="1093323499" name="Shape 3"/>
          <p:cNvSpPr/>
          <p:nvPr/>
        </p:nvSpPr>
        <p:spPr bwMode="auto">
          <a:xfrm>
            <a:off x="1188720" y="2377440"/>
            <a:ext cx="4114800" cy="640080"/>
          </a:xfrm>
          <a:prstGeom prst="rect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3196902" name="Text 4"/>
          <p:cNvSpPr/>
          <p:nvPr/>
        </p:nvSpPr>
        <p:spPr bwMode="auto">
          <a:xfrm>
            <a:off x="1188720" y="23774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Header — IP ve Protokol verisi</a:t>
            </a:r>
            <a:endParaRPr lang="en-US" sz="1150"/>
          </a:p>
        </p:txBody>
      </p:sp>
      <p:sp>
        <p:nvSpPr>
          <p:cNvPr id="1130630268" name="Shape 5"/>
          <p:cNvSpPr/>
          <p:nvPr/>
        </p:nvSpPr>
        <p:spPr bwMode="auto">
          <a:xfrm>
            <a:off x="1188720" y="3108960"/>
            <a:ext cx="4114800" cy="1463040"/>
          </a:xfrm>
          <a:prstGeom prst="rect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24438946" name="Text 6"/>
          <p:cNvSpPr/>
          <p:nvPr/>
        </p:nvSpPr>
        <p:spPr bwMode="auto">
          <a:xfrm>
            <a:off x="1188720" y="310896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Payload — Verinin kendisi</a:t>
            </a:r>
            <a:endParaRPr lang="en-US" sz="1200"/>
          </a:p>
        </p:txBody>
      </p:sp>
      <p:sp>
        <p:nvSpPr>
          <p:cNvPr id="1104119122" name="Text 7"/>
          <p:cNvSpPr/>
          <p:nvPr/>
        </p:nvSpPr>
        <p:spPr bwMode="auto">
          <a:xfrm>
            <a:off x="822960" y="48006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00" i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Veri, verimlilik için küçük paketlere bölünür ve istemci tarafında başlık bilgisine göre doğru sırayla yeniden birleştirilir. [1]</a:t>
            </a:r>
            <a:endParaRPr lang="en-US" sz="1100"/>
          </a:p>
        </p:txBody>
      </p:sp>
      <p:sp>
        <p:nvSpPr>
          <p:cNvPr id="290088351" name="Shape 8"/>
          <p:cNvSpPr/>
          <p:nvPr/>
        </p:nvSpPr>
        <p:spPr bwMode="auto">
          <a:xfrm>
            <a:off x="6245352" y="155448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4F6F8"/>
          </a:solidFill>
          <a:ln/>
        </p:spPr>
      </p:sp>
      <p:sp>
        <p:nvSpPr>
          <p:cNvPr id="483792745" name="Text 9"/>
          <p:cNvSpPr/>
          <p:nvPr/>
        </p:nvSpPr>
        <p:spPr bwMode="auto">
          <a:xfrm>
            <a:off x="6519672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HTTP Response Anatomy</a:t>
            </a:r>
            <a:endParaRPr lang="en-US" sz="1500"/>
          </a:p>
        </p:txBody>
      </p:sp>
      <p:sp>
        <p:nvSpPr>
          <p:cNvPr id="842284923" name="Shape 10"/>
          <p:cNvSpPr/>
          <p:nvPr/>
        </p:nvSpPr>
        <p:spPr bwMode="auto">
          <a:xfrm>
            <a:off x="6519672" y="2286000"/>
            <a:ext cx="4846320" cy="2468880"/>
          </a:xfrm>
          <a:prstGeom prst="roundRect">
            <a:avLst>
              <a:gd name="adj" fmla="val 2222"/>
            </a:avLst>
          </a:prstGeom>
          <a:solidFill>
            <a:srgbClr val="1A1A2E"/>
          </a:solidFill>
          <a:ln/>
        </p:spPr>
      </p:sp>
      <p:sp>
        <p:nvSpPr>
          <p:cNvPr id="458821864" name="Text 11"/>
          <p:cNvSpPr/>
          <p:nvPr/>
        </p:nvSpPr>
        <p:spPr bwMode="auto">
          <a:xfrm>
            <a:off x="6766560" y="246888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sz="1250">
                <a:solidFill>
                  <a:srgbClr val="8FE3C7"/>
                </a:solidFill>
                <a:latin typeface="Courier New"/>
                <a:ea typeface="Courier New"/>
                <a:cs typeface="Courier New"/>
              </a:rPr>
              <a:t>HTTP/2 200 OK</a:t>
            </a:r>
            <a:endParaRPr lang="en-US" sz="125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250">
                <a:solidFill>
                  <a:srgbClr val="8FB8E3"/>
                </a:solidFill>
                <a:latin typeface="Courier New"/>
                <a:ea typeface="Courier New"/>
                <a:cs typeface="Courier New"/>
              </a:rPr>
              <a:t>content-type: text/html</a:t>
            </a:r>
            <a:endParaRPr lang="en-US" sz="125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600">
                <a:solidFill>
                  <a:srgbClr val="000000"/>
                </a:solidFill>
              </a:rPr>
              <a:t> </a:t>
            </a:r>
            <a:endParaRPr lang="en-US" sz="125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250">
                <a:solidFill>
                  <a:srgbClr val="E3D18F"/>
                </a:solidFill>
                <a:latin typeface="Courier New"/>
                <a:ea typeface="Courier New"/>
                <a:cs typeface="Courier New"/>
              </a:rPr>
              <a:t>&lt;!doctype html&gt;&lt;html&gt;...&lt;/html&gt;</a:t>
            </a:r>
            <a:endParaRPr lang="en-US" sz="1250"/>
          </a:p>
        </p:txBody>
      </p:sp>
      <p:sp>
        <p:nvSpPr>
          <p:cNvPr id="1755953782" name="Text 12"/>
          <p:cNvSpPr/>
          <p:nvPr/>
        </p:nvSpPr>
        <p:spPr bwMode="auto">
          <a:xfrm>
            <a:off x="6519672" y="4800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← Status Code     ← Headers     ← Body (HTML)</a:t>
            </a:r>
            <a:endParaRPr lang="en-US" sz="1050"/>
          </a:p>
        </p:txBody>
      </p:sp>
      <p:sp>
        <p:nvSpPr>
          <p:cNvPr id="1056262271" name="Text 13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000"/>
          </a:p>
        </p:txBody>
      </p:sp>
      <p:sp>
        <p:nvSpPr>
          <p:cNvPr id="640157605" name="Shape 14"/>
          <p:cNvSpPr/>
          <p:nvPr/>
        </p:nvSpPr>
        <p:spPr bwMode="auto">
          <a:xfrm>
            <a:off x="548640" y="6108192"/>
            <a:ext cx="11091672" cy="0"/>
          </a:xfrm>
          <a:prstGeom prst="line">
            <a:avLst/>
          </a:prstGeom>
          <a:noFill/>
          <a:ln w="9525">
            <a:solidFill>
              <a:srgbClr val="D7DCE1"/>
            </a:solidFill>
            <a:prstDash val="solid"/>
          </a:ln>
        </p:spPr>
      </p:sp>
      <p:sp>
        <p:nvSpPr>
          <p:cNvPr id="1436918996" name="Text 15"/>
          <p:cNvSpPr/>
          <p:nvPr/>
        </p:nvSpPr>
        <p:spPr bwMode="auto">
          <a:xfrm>
            <a:off x="548640" y="6144768"/>
            <a:ext cx="11000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Kaynak: [1] MDN Web Docs — An overview of HTTP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B1F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1107" name="Shape 12"/>
          <p:cNvSpPr/>
          <p:nvPr/>
        </p:nvSpPr>
        <p:spPr bwMode="auto">
          <a:xfrm>
            <a:off x="9829800" y="1783080"/>
            <a:ext cx="0" cy="2286000"/>
          </a:xfrm>
          <a:prstGeom prst="line">
            <a:avLst/>
          </a:prstGeom>
          <a:noFill/>
          <a:ln w="12700">
            <a:solidFill>
              <a:srgbClr val="2B3F5E"/>
            </a:solidFill>
            <a:prstDash val="solid"/>
          </a:ln>
        </p:spPr>
      </p:sp>
      <p:sp>
        <p:nvSpPr>
          <p:cNvPr id="1953636221" name="Shape 11"/>
          <p:cNvSpPr/>
          <p:nvPr/>
        </p:nvSpPr>
        <p:spPr bwMode="auto">
          <a:xfrm>
            <a:off x="7973568" y="1783080"/>
            <a:ext cx="0" cy="2286000"/>
          </a:xfrm>
          <a:prstGeom prst="line">
            <a:avLst/>
          </a:prstGeom>
          <a:noFill/>
          <a:ln w="12700">
            <a:solidFill>
              <a:srgbClr val="2B3F5E"/>
            </a:solidFill>
            <a:prstDash val="solid"/>
          </a:ln>
        </p:spPr>
      </p:sp>
      <p:sp>
        <p:nvSpPr>
          <p:cNvPr id="1703648762" name="Shape 10"/>
          <p:cNvSpPr/>
          <p:nvPr/>
        </p:nvSpPr>
        <p:spPr bwMode="auto">
          <a:xfrm>
            <a:off x="6117336" y="1783080"/>
            <a:ext cx="0" cy="2286000"/>
          </a:xfrm>
          <a:prstGeom prst="line">
            <a:avLst/>
          </a:prstGeom>
          <a:noFill/>
          <a:ln w="12700">
            <a:solidFill>
              <a:srgbClr val="2B3F5E"/>
            </a:solidFill>
            <a:prstDash val="solid"/>
          </a:ln>
        </p:spPr>
      </p:sp>
      <p:sp>
        <p:nvSpPr>
          <p:cNvPr id="1165340967" name="Shape 8"/>
          <p:cNvSpPr/>
          <p:nvPr/>
        </p:nvSpPr>
        <p:spPr bwMode="auto">
          <a:xfrm>
            <a:off x="2404872" y="1783080"/>
            <a:ext cx="0" cy="2286000"/>
          </a:xfrm>
          <a:prstGeom prst="line">
            <a:avLst/>
          </a:prstGeom>
          <a:noFill/>
          <a:ln w="12700">
            <a:solidFill>
              <a:srgbClr val="2B3F5E"/>
            </a:solidFill>
            <a:prstDash val="solid"/>
          </a:ln>
        </p:spPr>
      </p:sp>
      <p:sp>
        <p:nvSpPr>
          <p:cNvPr id="2139879556" name="Text 0"/>
          <p:cNvSpPr/>
          <p:nvPr/>
        </p:nvSpPr>
        <p:spPr bwMode="auto"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Baştan Sona: Bir İsteğin Tüm Sıralaması</a:t>
            </a:r>
            <a:endParaRPr lang="en-US" sz="2800"/>
          </a:p>
        </p:txBody>
      </p:sp>
      <p:sp>
        <p:nvSpPr>
          <p:cNvPr id="1148402108" name="Text 1"/>
          <p:cNvSpPr/>
          <p:nvPr/>
        </p:nvSpPr>
        <p:spPr bwMode="auto"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8FA3BE"/>
                </a:solidFill>
                <a:latin typeface="Calibri"/>
                <a:ea typeface="Calibri"/>
                <a:cs typeface="Calibri"/>
              </a:rPr>
              <a:t>0.0s (Kullanıcı Tıklaması)</a:t>
            </a:r>
            <a:endParaRPr lang="en-US" sz="1200"/>
          </a:p>
        </p:txBody>
      </p:sp>
      <p:sp>
        <p:nvSpPr>
          <p:cNvPr id="1035867697" name="Text 2"/>
          <p:cNvSpPr/>
          <p:nvPr/>
        </p:nvSpPr>
        <p:spPr bwMode="auto">
          <a:xfrm>
            <a:off x="8503920" y="1371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8FA3BE"/>
                </a:solidFill>
                <a:latin typeface="Calibri"/>
                <a:ea typeface="Calibri"/>
                <a:cs typeface="Calibri"/>
              </a:rPr>
              <a:t>~150–300ms (Yanıt Alındı)</a:t>
            </a:r>
            <a:endParaRPr lang="en-US" sz="1200"/>
          </a:p>
        </p:txBody>
      </p:sp>
      <p:sp>
        <p:nvSpPr>
          <p:cNvPr id="1683132640" name="Shape 3"/>
          <p:cNvSpPr/>
          <p:nvPr/>
        </p:nvSpPr>
        <p:spPr bwMode="auto">
          <a:xfrm>
            <a:off x="548640" y="210312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</p:spPr>
      </p:sp>
      <p:sp>
        <p:nvSpPr>
          <p:cNvPr id="569247066" name="Text 4"/>
          <p:cNvSpPr/>
          <p:nvPr/>
        </p:nvSpPr>
        <p:spPr bwMode="auto">
          <a:xfrm>
            <a:off x="548640" y="21031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Ağ: DNS → TCP/QUIC → TLS</a:t>
            </a:r>
            <a:endParaRPr lang="en-US" sz="1250"/>
          </a:p>
        </p:txBody>
      </p:sp>
      <p:sp>
        <p:nvSpPr>
          <p:cNvPr id="908995547" name="Shape 5"/>
          <p:cNvSpPr/>
          <p:nvPr/>
        </p:nvSpPr>
        <p:spPr bwMode="auto">
          <a:xfrm>
            <a:off x="4480560" y="2926080"/>
            <a:ext cx="7159752" cy="685800"/>
          </a:xfrm>
          <a:prstGeom prst="roundRect">
            <a:avLst>
              <a:gd name="adj" fmla="val 8000"/>
            </a:avLst>
          </a:prstGeom>
          <a:solidFill>
            <a:srgbClr val="F2A541"/>
          </a:solidFill>
          <a:ln/>
        </p:spPr>
      </p:sp>
      <p:sp>
        <p:nvSpPr>
          <p:cNvPr id="1322544621" name="Text 6"/>
          <p:cNvSpPr/>
          <p:nvPr/>
        </p:nvSpPr>
        <p:spPr bwMode="auto">
          <a:xfrm>
            <a:off x="4480560" y="2926080"/>
            <a:ext cx="7159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Yönlendirme: CDN → Web Server → Application Server</a:t>
            </a:r>
            <a:endParaRPr lang="en-US" sz="1250"/>
          </a:p>
        </p:txBody>
      </p:sp>
      <p:sp>
        <p:nvSpPr>
          <p:cNvPr id="1484708580" name="Shape 7"/>
          <p:cNvSpPr/>
          <p:nvPr/>
        </p:nvSpPr>
        <p:spPr bwMode="auto">
          <a:xfrm>
            <a:off x="548640" y="1783080"/>
            <a:ext cx="0" cy="2286000"/>
          </a:xfrm>
          <a:prstGeom prst="line">
            <a:avLst/>
          </a:prstGeom>
          <a:noFill/>
          <a:ln w="12700">
            <a:solidFill>
              <a:srgbClr val="2B3F5E"/>
            </a:solidFill>
            <a:prstDash val="solid"/>
          </a:ln>
        </p:spPr>
      </p:sp>
      <p:sp>
        <p:nvSpPr>
          <p:cNvPr id="1508802495" name="Shape 9"/>
          <p:cNvSpPr/>
          <p:nvPr/>
        </p:nvSpPr>
        <p:spPr bwMode="auto">
          <a:xfrm>
            <a:off x="4261104" y="1783080"/>
            <a:ext cx="0" cy="2286000"/>
          </a:xfrm>
          <a:prstGeom prst="line">
            <a:avLst/>
          </a:prstGeom>
          <a:noFill/>
          <a:ln w="12700">
            <a:solidFill>
              <a:srgbClr val="2B3F5E"/>
            </a:solidFill>
            <a:prstDash val="solid"/>
          </a:ln>
        </p:spPr>
      </p:sp>
      <p:sp>
        <p:nvSpPr>
          <p:cNvPr id="536819927" name="Shape 13"/>
          <p:cNvSpPr/>
          <p:nvPr/>
        </p:nvSpPr>
        <p:spPr bwMode="auto">
          <a:xfrm>
            <a:off x="548640" y="43891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32A4C"/>
          </a:solidFill>
          <a:ln/>
        </p:spPr>
      </p:sp>
      <p:sp>
        <p:nvSpPr>
          <p:cNvPr id="1702739394" name="Text 14"/>
          <p:cNvSpPr/>
          <p:nvPr/>
        </p:nvSpPr>
        <p:spPr bwMode="auto">
          <a:xfrm>
            <a:off x="822960" y="438912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İstek sıralaması özetle: önce ağda hedefini bulur, sonra doğru sunucuya yönlendirilir ve yanıt geri döner. Hız, bu sıralamadaki her durağın toplamıdır.</a:t>
            </a:r>
            <a:endParaRPr lang="en-US" sz="1400"/>
          </a:p>
        </p:txBody>
      </p:sp>
      <p:sp>
        <p:nvSpPr>
          <p:cNvPr id="1507925977" name="Shape 15"/>
          <p:cNvSpPr/>
          <p:nvPr/>
        </p:nvSpPr>
        <p:spPr bwMode="auto">
          <a:xfrm>
            <a:off x="548640" y="56235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D3A57"/>
          </a:solidFill>
          <a:ln/>
        </p:spPr>
      </p:sp>
      <p:sp>
        <p:nvSpPr>
          <p:cNvPr id="1626933034" name="Text 16"/>
          <p:cNvSpPr/>
          <p:nvPr/>
        </p:nvSpPr>
        <p:spPr bwMode="auto">
          <a:xfrm>
            <a:off x="822960" y="5623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 i="1">
                <a:solidFill>
                  <a:srgbClr val="AFC2D9"/>
                </a:solidFill>
                <a:latin typeface="Calibri"/>
                <a:ea typeface="Calibri"/>
                <a:cs typeface="Calibri"/>
              </a:rPr>
              <a:t>Not: Bu şema kavramsal bir özettir; ağ ve sunucu aşamaları art arda değil, HTTP/2-3 çoklu akış (multiplexing) sayesinde kısmen çakışarak ilerleyebilir.</a:t>
            </a:r>
            <a:endParaRPr lang="en-US" sz="1150"/>
          </a:p>
        </p:txBody>
      </p:sp>
      <p:sp>
        <p:nvSpPr>
          <p:cNvPr id="351856531" name="Text 17"/>
          <p:cNvSpPr/>
          <p:nvPr/>
        </p:nvSpPr>
        <p:spPr bwMode="auto"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FA3BE"/>
                </a:solidFill>
                <a:latin typeface="Calibri"/>
                <a:ea typeface="Calibri"/>
                <a:cs typeface="Calibri"/>
              </a:rPr>
              <a:t>7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ONLYOFFICE/9.3.0.140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3</cp:revision>
  <dcterms:created xsi:type="dcterms:W3CDTF">2026-07-20T21:28:21Z</dcterms:created>
  <dcterms:modified xsi:type="dcterms:W3CDTF">2026-07-21T11:21:11Z</dcterms:modified>
</cp:coreProperties>
</file>