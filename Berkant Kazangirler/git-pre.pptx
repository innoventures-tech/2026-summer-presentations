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8235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33883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666171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55375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420669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44289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27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920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79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181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080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6734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416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0076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9746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01AF9E-DBEC-703A-B047-80822058E3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012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543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291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872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684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1512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228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608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578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73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814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361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454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68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23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964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5247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1167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196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939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291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B1F2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61593" name="Shape 0"/>
          <p:cNvSpPr/>
          <p:nvPr/>
        </p:nvSpPr>
        <p:spPr bwMode="auto">
          <a:xfrm>
            <a:off x="7863840" y="3429000"/>
            <a:ext cx="1760220" cy="0"/>
          </a:xfrm>
          <a:prstGeom prst="line">
            <a:avLst/>
          </a:prstGeom>
          <a:noFill/>
          <a:ln w="104775">
            <a:solidFill>
              <a:srgbClr val="434A53"/>
            </a:solidFill>
            <a:prstDash val="solid"/>
          </a:ln>
        </p:spPr>
      </p:sp>
      <p:sp>
        <p:nvSpPr>
          <p:cNvPr id="2119081194" name="Shape 1"/>
          <p:cNvSpPr/>
          <p:nvPr/>
        </p:nvSpPr>
        <p:spPr bwMode="auto">
          <a:xfrm flipV="1">
            <a:off x="9624060" y="1668780"/>
            <a:ext cx="1760220" cy="1760220"/>
          </a:xfrm>
          <a:prstGeom prst="line">
            <a:avLst/>
          </a:prstGeom>
          <a:noFill/>
          <a:ln w="104775">
            <a:solidFill>
              <a:srgbClr val="434A53"/>
            </a:solidFill>
            <a:prstDash val="solid"/>
          </a:ln>
        </p:spPr>
      </p:sp>
      <p:sp>
        <p:nvSpPr>
          <p:cNvPr id="1472772154" name="Shape 2"/>
          <p:cNvSpPr/>
          <p:nvPr/>
        </p:nvSpPr>
        <p:spPr bwMode="auto">
          <a:xfrm>
            <a:off x="11384280" y="1668780"/>
            <a:ext cx="1760220" cy="0"/>
          </a:xfrm>
          <a:prstGeom prst="line">
            <a:avLst/>
          </a:prstGeom>
          <a:noFill/>
          <a:ln w="104775">
            <a:solidFill>
              <a:srgbClr val="434A53"/>
            </a:solidFill>
            <a:prstDash val="solid"/>
          </a:ln>
        </p:spPr>
      </p:sp>
      <p:sp>
        <p:nvSpPr>
          <p:cNvPr id="1293075285" name="Shape 3"/>
          <p:cNvSpPr/>
          <p:nvPr/>
        </p:nvSpPr>
        <p:spPr bwMode="auto">
          <a:xfrm>
            <a:off x="9624060" y="3429000"/>
            <a:ext cx="0" cy="1760220"/>
          </a:xfrm>
          <a:prstGeom prst="line">
            <a:avLst/>
          </a:prstGeom>
          <a:noFill/>
          <a:ln w="104775">
            <a:solidFill>
              <a:srgbClr val="434A53"/>
            </a:solidFill>
            <a:prstDash val="solid"/>
          </a:ln>
        </p:spPr>
      </p:sp>
      <p:sp>
        <p:nvSpPr>
          <p:cNvPr id="2129742048" name="Shape 4"/>
          <p:cNvSpPr/>
          <p:nvPr/>
        </p:nvSpPr>
        <p:spPr bwMode="auto">
          <a:xfrm>
            <a:off x="9624060" y="5189220"/>
            <a:ext cx="1760220" cy="0"/>
          </a:xfrm>
          <a:prstGeom prst="line">
            <a:avLst/>
          </a:prstGeom>
          <a:noFill/>
          <a:ln w="104775">
            <a:solidFill>
              <a:srgbClr val="434A53"/>
            </a:solidFill>
            <a:prstDash val="solid"/>
          </a:ln>
        </p:spPr>
      </p:sp>
      <p:sp>
        <p:nvSpPr>
          <p:cNvPr id="434403523" name="Shape 5"/>
          <p:cNvSpPr/>
          <p:nvPr/>
        </p:nvSpPr>
        <p:spPr bwMode="auto">
          <a:xfrm>
            <a:off x="7637526" y="3202686"/>
            <a:ext cx="452628" cy="452628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976051656" name="Shape 6"/>
          <p:cNvSpPr/>
          <p:nvPr/>
        </p:nvSpPr>
        <p:spPr bwMode="auto">
          <a:xfrm>
            <a:off x="9397746" y="3202686"/>
            <a:ext cx="452628" cy="452628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445678170" name="Shape 7"/>
          <p:cNvSpPr/>
          <p:nvPr/>
        </p:nvSpPr>
        <p:spPr bwMode="auto">
          <a:xfrm>
            <a:off x="11157965" y="1442466"/>
            <a:ext cx="452628" cy="452628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546401937" name="Shape 8"/>
          <p:cNvSpPr/>
          <p:nvPr/>
        </p:nvSpPr>
        <p:spPr bwMode="auto">
          <a:xfrm>
            <a:off x="12918186" y="1442466"/>
            <a:ext cx="452628" cy="452628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782610307" name="Shape 9"/>
          <p:cNvSpPr/>
          <p:nvPr/>
        </p:nvSpPr>
        <p:spPr bwMode="auto">
          <a:xfrm>
            <a:off x="9397746" y="4962906"/>
            <a:ext cx="452628" cy="452628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733518865" name="Shape 10"/>
          <p:cNvSpPr/>
          <p:nvPr/>
        </p:nvSpPr>
        <p:spPr bwMode="auto">
          <a:xfrm>
            <a:off x="8778240" y="4892039"/>
            <a:ext cx="1120140" cy="0"/>
          </a:xfrm>
          <a:prstGeom prst="line">
            <a:avLst/>
          </a:prstGeom>
          <a:noFill/>
          <a:ln w="66675">
            <a:solidFill>
              <a:srgbClr val="F05033"/>
            </a:solidFill>
            <a:prstDash val="solid"/>
          </a:ln>
        </p:spPr>
      </p:sp>
      <p:sp>
        <p:nvSpPr>
          <p:cNvPr id="1091417962" name="Shape 11"/>
          <p:cNvSpPr/>
          <p:nvPr/>
        </p:nvSpPr>
        <p:spPr bwMode="auto">
          <a:xfrm flipV="1">
            <a:off x="9898380" y="3771900"/>
            <a:ext cx="1120140" cy="1120140"/>
          </a:xfrm>
          <a:prstGeom prst="line">
            <a:avLst/>
          </a:prstGeom>
          <a:noFill/>
          <a:ln w="66675">
            <a:solidFill>
              <a:srgbClr val="F05033"/>
            </a:solidFill>
            <a:prstDash val="solid"/>
          </a:ln>
        </p:spPr>
      </p:sp>
      <p:sp>
        <p:nvSpPr>
          <p:cNvPr id="294822993" name="Shape 12"/>
          <p:cNvSpPr/>
          <p:nvPr/>
        </p:nvSpPr>
        <p:spPr bwMode="auto">
          <a:xfrm>
            <a:off x="11018520" y="3771900"/>
            <a:ext cx="1120140" cy="0"/>
          </a:xfrm>
          <a:prstGeom prst="line">
            <a:avLst/>
          </a:prstGeom>
          <a:noFill/>
          <a:ln w="66675">
            <a:solidFill>
              <a:srgbClr val="F05033"/>
            </a:solidFill>
            <a:prstDash val="solid"/>
          </a:ln>
        </p:spPr>
      </p:sp>
      <p:sp>
        <p:nvSpPr>
          <p:cNvPr id="1326737230" name="Shape 13"/>
          <p:cNvSpPr/>
          <p:nvPr/>
        </p:nvSpPr>
        <p:spPr bwMode="auto">
          <a:xfrm>
            <a:off x="9898380" y="4892039"/>
            <a:ext cx="0" cy="1120140"/>
          </a:xfrm>
          <a:prstGeom prst="line">
            <a:avLst/>
          </a:prstGeom>
          <a:noFill/>
          <a:ln w="66675">
            <a:solidFill>
              <a:srgbClr val="F05033"/>
            </a:solidFill>
            <a:prstDash val="solid"/>
          </a:ln>
        </p:spPr>
      </p:sp>
      <p:sp>
        <p:nvSpPr>
          <p:cNvPr id="948222973" name="Shape 14"/>
          <p:cNvSpPr/>
          <p:nvPr/>
        </p:nvSpPr>
        <p:spPr bwMode="auto">
          <a:xfrm>
            <a:off x="9898380" y="6012180"/>
            <a:ext cx="1120140" cy="0"/>
          </a:xfrm>
          <a:prstGeom prst="line">
            <a:avLst/>
          </a:prstGeom>
          <a:noFill/>
          <a:ln w="66675">
            <a:solidFill>
              <a:srgbClr val="F05033"/>
            </a:solidFill>
            <a:prstDash val="solid"/>
          </a:ln>
        </p:spPr>
      </p:sp>
      <p:sp>
        <p:nvSpPr>
          <p:cNvPr id="883315202" name="Shape 15"/>
          <p:cNvSpPr/>
          <p:nvPr/>
        </p:nvSpPr>
        <p:spPr bwMode="auto">
          <a:xfrm>
            <a:off x="8634222" y="4748022"/>
            <a:ext cx="288036" cy="28803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57453414" name="Shape 16"/>
          <p:cNvSpPr/>
          <p:nvPr/>
        </p:nvSpPr>
        <p:spPr bwMode="auto">
          <a:xfrm>
            <a:off x="9754362" y="4748022"/>
            <a:ext cx="288036" cy="28803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654416424" name="Shape 17"/>
          <p:cNvSpPr/>
          <p:nvPr/>
        </p:nvSpPr>
        <p:spPr bwMode="auto">
          <a:xfrm>
            <a:off x="10874502" y="3627882"/>
            <a:ext cx="288036" cy="28803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59997575" name="Shape 18"/>
          <p:cNvSpPr/>
          <p:nvPr/>
        </p:nvSpPr>
        <p:spPr bwMode="auto">
          <a:xfrm>
            <a:off x="11994642" y="3627882"/>
            <a:ext cx="288036" cy="28803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24090337" name="Shape 19"/>
          <p:cNvSpPr/>
          <p:nvPr/>
        </p:nvSpPr>
        <p:spPr bwMode="auto">
          <a:xfrm>
            <a:off x="9754362" y="5868162"/>
            <a:ext cx="288036" cy="28803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99141752" name="Text 20"/>
          <p:cNvSpPr/>
          <p:nvPr/>
        </p:nvSpPr>
        <p:spPr bwMode="auto">
          <a:xfrm>
            <a:off x="731520" y="21488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GIT</a:t>
            </a:r>
            <a:endParaRPr lang="en-US" sz="7200"/>
          </a:p>
        </p:txBody>
      </p:sp>
      <p:sp>
        <p:nvSpPr>
          <p:cNvPr id="710914942" name="Text 21"/>
          <p:cNvSpPr/>
          <p:nvPr/>
        </p:nvSpPr>
        <p:spPr bwMode="auto">
          <a:xfrm>
            <a:off x="731520" y="35661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A Beginner's Guide to Version Control:</a:t>
            </a:r>
            <a:endParaRPr lang="en-US" sz="200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Commands, Git vs. GitHub, and Alternative Tools</a:t>
            </a:r>
            <a:endParaRPr lang="en-US" sz="2000"/>
          </a:p>
        </p:txBody>
      </p:sp>
      <p:sp>
        <p:nvSpPr>
          <p:cNvPr id="391997817" name="Text 22"/>
          <p:cNvSpPr/>
          <p:nvPr/>
        </p:nvSpPr>
        <p:spPr bwMode="auto">
          <a:xfrm>
            <a:off x="731520" y="603503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Berkant  •  </a:t>
            </a:r>
            <a:r>
              <a:rPr lang="tr-TR" sz="14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28.07 – Week 4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21340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What Is Git?</a:t>
            </a:r>
            <a:endParaRPr lang="en-US" sz="3200"/>
          </a:p>
        </p:txBody>
      </p:sp>
      <p:sp>
        <p:nvSpPr>
          <p:cNvPr id="335145221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597738295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437511921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503853494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830592720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381752554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06424004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955629324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43160883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94317715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47745502" name="Shape 11"/>
          <p:cNvSpPr/>
          <p:nvPr/>
        </p:nvSpPr>
        <p:spPr bwMode="auto">
          <a:xfrm>
            <a:off x="548640" y="1554480"/>
            <a:ext cx="365760" cy="3657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25266851" name="Text 12"/>
          <p:cNvSpPr/>
          <p:nvPr/>
        </p:nvSpPr>
        <p:spPr bwMode="auto"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863867558" name="Text 13"/>
          <p:cNvSpPr/>
          <p:nvPr/>
        </p:nvSpPr>
        <p:spPr bwMode="auto">
          <a:xfrm>
            <a:off x="1097280" y="1463040"/>
            <a:ext cx="6035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Git is a tool that tracks changes to files over time</a:t>
            </a:r>
            <a:endParaRPr lang="en-US" sz="1450"/>
          </a:p>
        </p:txBody>
      </p:sp>
      <p:sp>
        <p:nvSpPr>
          <p:cNvPr id="1348326936" name="Text 14"/>
          <p:cNvSpPr/>
          <p:nvPr/>
        </p:nvSpPr>
        <p:spPr bwMode="auto">
          <a:xfrm>
            <a:off x="1097280" y="1801367"/>
            <a:ext cx="6035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It's free, open-source software you install on your computer.</a:t>
            </a:r>
            <a:endParaRPr lang="en-US" sz="1250"/>
          </a:p>
        </p:txBody>
      </p:sp>
      <p:sp>
        <p:nvSpPr>
          <p:cNvPr id="819590941" name="Shape 15"/>
          <p:cNvSpPr/>
          <p:nvPr/>
        </p:nvSpPr>
        <p:spPr bwMode="auto">
          <a:xfrm>
            <a:off x="548640" y="2606040"/>
            <a:ext cx="365760" cy="3657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85994442" name="Text 16"/>
          <p:cNvSpPr/>
          <p:nvPr/>
        </p:nvSpPr>
        <p:spPr bwMode="auto"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434302886" name="Text 17"/>
          <p:cNvSpPr/>
          <p:nvPr/>
        </p:nvSpPr>
        <p:spPr bwMode="auto">
          <a:xfrm>
            <a:off x="1097280" y="2514600"/>
            <a:ext cx="6035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Created in 2005 by Linus Torvalds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[1]</a:t>
            </a:r>
            <a:endParaRPr lang="en-US" sz="1450"/>
          </a:p>
        </p:txBody>
      </p:sp>
      <p:sp>
        <p:nvSpPr>
          <p:cNvPr id="302920715" name="Text 18"/>
          <p:cNvSpPr/>
          <p:nvPr/>
        </p:nvSpPr>
        <p:spPr bwMode="auto">
          <a:xfrm>
            <a:off x="1097280" y="2852928"/>
            <a:ext cx="6035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He also created Linux, and needed a fast way to manage its source code.</a:t>
            </a:r>
            <a:endParaRPr lang="en-US" sz="1250"/>
          </a:p>
        </p:txBody>
      </p:sp>
      <p:sp>
        <p:nvSpPr>
          <p:cNvPr id="1781593021" name="Shape 19"/>
          <p:cNvSpPr/>
          <p:nvPr/>
        </p:nvSpPr>
        <p:spPr bwMode="auto">
          <a:xfrm>
            <a:off x="548640" y="3657600"/>
            <a:ext cx="365760" cy="3657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14002286" name="Text 20"/>
          <p:cNvSpPr/>
          <p:nvPr/>
        </p:nvSpPr>
        <p:spPr bwMode="auto"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41753334" name="Text 21"/>
          <p:cNvSpPr/>
          <p:nvPr/>
        </p:nvSpPr>
        <p:spPr bwMode="auto">
          <a:xfrm>
            <a:off x="1097280" y="3566160"/>
            <a:ext cx="6035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It saves a snapshot of your project every time you "commit"</a:t>
            </a:r>
            <a:endParaRPr lang="en-US" sz="1450"/>
          </a:p>
        </p:txBody>
      </p:sp>
      <p:sp>
        <p:nvSpPr>
          <p:cNvPr id="776674013" name="Text 22"/>
          <p:cNvSpPr/>
          <p:nvPr/>
        </p:nvSpPr>
        <p:spPr bwMode="auto">
          <a:xfrm>
            <a:off x="1097280" y="3904488"/>
            <a:ext cx="6035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Think of each commit as a save point you can always go back to.</a:t>
            </a:r>
            <a:endParaRPr lang="en-US" sz="1250"/>
          </a:p>
        </p:txBody>
      </p:sp>
      <p:sp>
        <p:nvSpPr>
          <p:cNvPr id="1511442631" name="Shape 23"/>
          <p:cNvSpPr/>
          <p:nvPr/>
        </p:nvSpPr>
        <p:spPr bwMode="auto">
          <a:xfrm>
            <a:off x="548640" y="4709160"/>
            <a:ext cx="365760" cy="36576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85051731" name="Text 24"/>
          <p:cNvSpPr/>
          <p:nvPr/>
        </p:nvSpPr>
        <p:spPr bwMode="auto"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/>
          </a:p>
        </p:txBody>
      </p:sp>
      <p:sp>
        <p:nvSpPr>
          <p:cNvPr id="636260746" name="Text 25"/>
          <p:cNvSpPr/>
          <p:nvPr/>
        </p:nvSpPr>
        <p:spPr bwMode="auto">
          <a:xfrm>
            <a:off x="1097280" y="4617720"/>
            <a:ext cx="6035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It works with a local copy and a remote copy of a project</a:t>
            </a:r>
            <a:endParaRPr lang="en-US" sz="1450"/>
          </a:p>
        </p:txBody>
      </p:sp>
      <p:sp>
        <p:nvSpPr>
          <p:cNvPr id="1914342996" name="Text 26"/>
          <p:cNvSpPr/>
          <p:nvPr/>
        </p:nvSpPr>
        <p:spPr bwMode="auto">
          <a:xfrm>
            <a:off x="1097280" y="4956048"/>
            <a:ext cx="60350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You can work offline, then sync your changes later.</a:t>
            </a:r>
            <a:endParaRPr lang="en-US" sz="1250"/>
          </a:p>
        </p:txBody>
      </p:sp>
      <p:sp>
        <p:nvSpPr>
          <p:cNvPr id="767600461" name="Shape 27"/>
          <p:cNvSpPr/>
          <p:nvPr/>
        </p:nvSpPr>
        <p:spPr bwMode="auto">
          <a:xfrm>
            <a:off x="78638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68019657" name="Text 28"/>
          <p:cNvSpPr/>
          <p:nvPr/>
        </p:nvSpPr>
        <p:spPr bwMode="auto">
          <a:xfrm>
            <a:off x="8092440" y="1737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rgbClr val="000000"/>
                </a:solidFill>
              </a:rPr>
              <a:t>💻</a:t>
            </a:r>
            <a:endParaRPr lang="en-US" sz="2600"/>
          </a:p>
        </p:txBody>
      </p:sp>
      <p:sp>
        <p:nvSpPr>
          <p:cNvPr id="1436927772" name="Text 29"/>
          <p:cNvSpPr/>
          <p:nvPr/>
        </p:nvSpPr>
        <p:spPr bwMode="auto">
          <a:xfrm>
            <a:off x="8778240" y="1783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Your Computer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(local copy)</a:t>
            </a:r>
            <a:endParaRPr lang="en-US" sz="1300"/>
          </a:p>
        </p:txBody>
      </p:sp>
      <p:sp>
        <p:nvSpPr>
          <p:cNvPr id="1775811339" name="Shape 30"/>
          <p:cNvSpPr/>
          <p:nvPr/>
        </p:nvSpPr>
        <p:spPr bwMode="auto">
          <a:xfrm>
            <a:off x="9720072" y="2926080"/>
            <a:ext cx="0" cy="822960"/>
          </a:xfrm>
          <a:prstGeom prst="line">
            <a:avLst/>
          </a:prstGeom>
          <a:noFill/>
          <a:ln w="25400">
            <a:solidFill>
              <a:srgbClr val="F05033"/>
            </a:solidFill>
            <a:prstDash val="dash"/>
          </a:ln>
        </p:spPr>
      </p:sp>
      <p:sp>
        <p:nvSpPr>
          <p:cNvPr id="951189567" name="Text 31"/>
          <p:cNvSpPr/>
          <p:nvPr/>
        </p:nvSpPr>
        <p:spPr bwMode="auto">
          <a:xfrm>
            <a:off x="987552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push / pull</a:t>
            </a:r>
            <a:endParaRPr lang="en-US" sz="1100"/>
          </a:p>
        </p:txBody>
      </p:sp>
      <p:sp>
        <p:nvSpPr>
          <p:cNvPr id="953789865" name="Shape 32"/>
          <p:cNvSpPr/>
          <p:nvPr/>
        </p:nvSpPr>
        <p:spPr bwMode="auto">
          <a:xfrm>
            <a:off x="7863840" y="3749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257402411" name="Text 33"/>
          <p:cNvSpPr/>
          <p:nvPr/>
        </p:nvSpPr>
        <p:spPr bwMode="auto">
          <a:xfrm>
            <a:off x="8092440" y="3931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>
                <a:solidFill>
                  <a:schemeClr val="bg1"/>
                </a:solidFill>
              </a:rPr>
              <a:t>☁️</a:t>
            </a:r>
            <a:endParaRPr sz="2600">
              <a:solidFill>
                <a:schemeClr val="bg1"/>
              </a:solidFill>
            </a:endParaRPr>
          </a:p>
        </p:txBody>
      </p:sp>
      <p:sp>
        <p:nvSpPr>
          <p:cNvPr id="747203161" name="Text 34"/>
          <p:cNvSpPr/>
          <p:nvPr/>
        </p:nvSpPr>
        <p:spPr bwMode="auto">
          <a:xfrm>
            <a:off x="8778240" y="3977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(remote copy)</a:t>
            </a:r>
            <a:endParaRPr lang="en-US" sz="1300"/>
          </a:p>
        </p:txBody>
      </p:sp>
      <p:sp>
        <p:nvSpPr>
          <p:cNvPr id="1277142860" name="Text 35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git-scm.com/book, github.blog ("Git turns 20")</a:t>
            </a:r>
            <a:endParaRPr lang="en-US" sz="900"/>
          </a:p>
        </p:txBody>
      </p:sp>
      <p:sp>
        <p:nvSpPr>
          <p:cNvPr id="720944978" name="Text 37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339283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Basic Git Commands</a:t>
            </a:r>
            <a:r>
              <a:rPr lang="en-US" sz="1600" b="1">
                <a:solidFill>
                  <a:srgbClr val="F05033"/>
                </a:solidFill>
                <a:latin typeface="Cambria"/>
                <a:ea typeface="Cambria"/>
                <a:cs typeface="Cambria"/>
              </a:rPr>
              <a:t> [1]</a:t>
            </a:r>
            <a:endParaRPr lang="en-US" sz="3200"/>
          </a:p>
        </p:txBody>
      </p:sp>
      <p:sp>
        <p:nvSpPr>
          <p:cNvPr id="494994978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870057159" name="Shape 2"/>
          <p:cNvSpPr/>
          <p:nvPr/>
        </p:nvSpPr>
        <p:spPr bwMode="auto">
          <a:xfrm flipV="1">
            <a:off x="10812780" y="708659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784212817" name="Shape 3"/>
          <p:cNvSpPr/>
          <p:nvPr/>
        </p:nvSpPr>
        <p:spPr bwMode="auto">
          <a:xfrm>
            <a:off x="11292840" y="708659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202048214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580215708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2002409000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13638044" name="Shape 7"/>
          <p:cNvSpPr/>
          <p:nvPr/>
        </p:nvSpPr>
        <p:spPr bwMode="auto">
          <a:xfrm>
            <a:off x="10751057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26726018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83039355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70176387" name="Shape 10"/>
          <p:cNvSpPr/>
          <p:nvPr/>
        </p:nvSpPr>
        <p:spPr bwMode="auto">
          <a:xfrm>
            <a:off x="10751057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46168372" name="Shape 11"/>
          <p:cNvSpPr/>
          <p:nvPr/>
        </p:nvSpPr>
        <p:spPr bwMode="auto">
          <a:xfrm>
            <a:off x="548640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04859131" name="Shape 12"/>
          <p:cNvSpPr/>
          <p:nvPr/>
        </p:nvSpPr>
        <p:spPr bwMode="auto">
          <a:xfrm>
            <a:off x="713232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696374051" name="Text 13"/>
          <p:cNvSpPr/>
          <p:nvPr/>
        </p:nvSpPr>
        <p:spPr bwMode="auto">
          <a:xfrm>
            <a:off x="914400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init</a:t>
            </a:r>
            <a:endParaRPr lang="en-US" sz="1500"/>
          </a:p>
        </p:txBody>
      </p:sp>
      <p:sp>
        <p:nvSpPr>
          <p:cNvPr id="1558674341" name="Text 14"/>
          <p:cNvSpPr/>
          <p:nvPr/>
        </p:nvSpPr>
        <p:spPr bwMode="auto">
          <a:xfrm>
            <a:off x="713232" y="233172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Starts tracking a project with Git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4533983" name="Shape 15"/>
          <p:cNvSpPr/>
          <p:nvPr/>
        </p:nvSpPr>
        <p:spPr bwMode="auto">
          <a:xfrm>
            <a:off x="3378708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98326125" name="Shape 16"/>
          <p:cNvSpPr/>
          <p:nvPr/>
        </p:nvSpPr>
        <p:spPr bwMode="auto">
          <a:xfrm>
            <a:off x="3543300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54600503" name="Text 17"/>
          <p:cNvSpPr/>
          <p:nvPr/>
        </p:nvSpPr>
        <p:spPr bwMode="auto">
          <a:xfrm>
            <a:off x="3744468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clone</a:t>
            </a:r>
            <a:endParaRPr lang="en-US" sz="1500"/>
          </a:p>
        </p:txBody>
      </p:sp>
      <p:sp>
        <p:nvSpPr>
          <p:cNvPr id="1898703509" name="Text 18"/>
          <p:cNvSpPr/>
          <p:nvPr/>
        </p:nvSpPr>
        <p:spPr bwMode="auto">
          <a:xfrm flipH="0" flipV="0">
            <a:off x="3427475" y="2331720"/>
            <a:ext cx="25526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Downloads a copy of a project from the internet</a:t>
            </a: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 and creates a local backup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6433867" name="Shape 19"/>
          <p:cNvSpPr/>
          <p:nvPr/>
        </p:nvSpPr>
        <p:spPr bwMode="auto">
          <a:xfrm>
            <a:off x="6208776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49880319" name="Shape 20"/>
          <p:cNvSpPr/>
          <p:nvPr/>
        </p:nvSpPr>
        <p:spPr bwMode="auto">
          <a:xfrm>
            <a:off x="6373368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44067513" name="Text 21"/>
          <p:cNvSpPr/>
          <p:nvPr/>
        </p:nvSpPr>
        <p:spPr bwMode="auto">
          <a:xfrm>
            <a:off x="6574536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add</a:t>
            </a:r>
            <a:endParaRPr lang="en-US" sz="1500"/>
          </a:p>
        </p:txBody>
      </p:sp>
      <p:sp>
        <p:nvSpPr>
          <p:cNvPr id="759478333" name="Text 22"/>
          <p:cNvSpPr/>
          <p:nvPr/>
        </p:nvSpPr>
        <p:spPr bwMode="auto">
          <a:xfrm>
            <a:off x="6373368" y="233172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Marks a change as ready to be saved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5866270" name="Shape 23"/>
          <p:cNvSpPr/>
          <p:nvPr/>
        </p:nvSpPr>
        <p:spPr bwMode="auto">
          <a:xfrm>
            <a:off x="9038844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90751587" name="Shape 24"/>
          <p:cNvSpPr/>
          <p:nvPr/>
        </p:nvSpPr>
        <p:spPr bwMode="auto">
          <a:xfrm>
            <a:off x="9203436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19581814" name="Text 25"/>
          <p:cNvSpPr/>
          <p:nvPr/>
        </p:nvSpPr>
        <p:spPr bwMode="auto">
          <a:xfrm>
            <a:off x="9404603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commit</a:t>
            </a:r>
            <a:endParaRPr lang="en-US" sz="1500"/>
          </a:p>
        </p:txBody>
      </p:sp>
      <p:sp>
        <p:nvSpPr>
          <p:cNvPr id="1310677714" name="Text 26"/>
          <p:cNvSpPr/>
          <p:nvPr/>
        </p:nvSpPr>
        <p:spPr bwMode="auto">
          <a:xfrm>
            <a:off x="9203436" y="233172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Saves the marked changes with a message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96366" name="Shape 27"/>
          <p:cNvSpPr/>
          <p:nvPr/>
        </p:nvSpPr>
        <p:spPr bwMode="auto">
          <a:xfrm>
            <a:off x="548640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6019259" name="Shape 28"/>
          <p:cNvSpPr/>
          <p:nvPr/>
        </p:nvSpPr>
        <p:spPr bwMode="auto">
          <a:xfrm>
            <a:off x="713232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94633088" name="Text 29"/>
          <p:cNvSpPr/>
          <p:nvPr/>
        </p:nvSpPr>
        <p:spPr bwMode="auto">
          <a:xfrm>
            <a:off x="914400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push</a:t>
            </a:r>
            <a:endParaRPr lang="en-US" sz="1500"/>
          </a:p>
        </p:txBody>
      </p:sp>
      <p:sp>
        <p:nvSpPr>
          <p:cNvPr id="1358476956" name="Text 30"/>
          <p:cNvSpPr/>
          <p:nvPr/>
        </p:nvSpPr>
        <p:spPr bwMode="auto">
          <a:xfrm>
            <a:off x="713232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Uploads your saved changes to the server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124419" name="Shape 31"/>
          <p:cNvSpPr/>
          <p:nvPr/>
        </p:nvSpPr>
        <p:spPr bwMode="auto">
          <a:xfrm>
            <a:off x="3378708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17738456" name="Shape 32"/>
          <p:cNvSpPr/>
          <p:nvPr/>
        </p:nvSpPr>
        <p:spPr bwMode="auto">
          <a:xfrm>
            <a:off x="3543300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06708026" name="Text 33"/>
          <p:cNvSpPr/>
          <p:nvPr/>
        </p:nvSpPr>
        <p:spPr bwMode="auto">
          <a:xfrm>
            <a:off x="3744468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pull</a:t>
            </a:r>
            <a:endParaRPr lang="en-US" sz="1500"/>
          </a:p>
        </p:txBody>
      </p:sp>
      <p:sp>
        <p:nvSpPr>
          <p:cNvPr id="962508701" name="Text 34"/>
          <p:cNvSpPr/>
          <p:nvPr/>
        </p:nvSpPr>
        <p:spPr bwMode="auto">
          <a:xfrm>
            <a:off x="3543300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Downloads the latest changes from the server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1170844" name="Shape 35"/>
          <p:cNvSpPr/>
          <p:nvPr/>
        </p:nvSpPr>
        <p:spPr bwMode="auto">
          <a:xfrm>
            <a:off x="6208776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21638108" name="Shape 36"/>
          <p:cNvSpPr/>
          <p:nvPr/>
        </p:nvSpPr>
        <p:spPr bwMode="auto">
          <a:xfrm>
            <a:off x="6373368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17352746" name="Text 37"/>
          <p:cNvSpPr/>
          <p:nvPr/>
        </p:nvSpPr>
        <p:spPr bwMode="auto">
          <a:xfrm>
            <a:off x="6574536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branch</a:t>
            </a:r>
            <a:endParaRPr lang="en-US" sz="1500"/>
          </a:p>
        </p:txBody>
      </p:sp>
      <p:sp>
        <p:nvSpPr>
          <p:cNvPr id="746039011" name="Text 38"/>
          <p:cNvSpPr/>
          <p:nvPr/>
        </p:nvSpPr>
        <p:spPr bwMode="auto">
          <a:xfrm>
            <a:off x="6373368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Splits the project into branches</a:t>
            </a:r>
            <a:endParaRPr lang="en-US" sz="1200"/>
          </a:p>
        </p:txBody>
      </p:sp>
      <p:sp>
        <p:nvSpPr>
          <p:cNvPr id="1564632730" name="Shape 39"/>
          <p:cNvSpPr/>
          <p:nvPr/>
        </p:nvSpPr>
        <p:spPr bwMode="auto">
          <a:xfrm>
            <a:off x="9038844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61715959" name="Shape 40"/>
          <p:cNvSpPr/>
          <p:nvPr/>
        </p:nvSpPr>
        <p:spPr bwMode="auto">
          <a:xfrm>
            <a:off x="9203436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02173691" name="Text 41"/>
          <p:cNvSpPr/>
          <p:nvPr/>
        </p:nvSpPr>
        <p:spPr bwMode="auto">
          <a:xfrm>
            <a:off x="9404603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merge</a:t>
            </a:r>
            <a:endParaRPr lang="en-US" sz="1500"/>
          </a:p>
        </p:txBody>
      </p:sp>
      <p:sp>
        <p:nvSpPr>
          <p:cNvPr id="356193135" name="Text 42"/>
          <p:cNvSpPr/>
          <p:nvPr/>
        </p:nvSpPr>
        <p:spPr bwMode="auto">
          <a:xfrm>
            <a:off x="9203436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Combines two lines of work back together</a:t>
            </a:r>
            <a:endParaRPr lang="en-US" sz="1200"/>
          </a:p>
        </p:txBody>
      </p:sp>
      <p:sp>
        <p:nvSpPr>
          <p:cNvPr id="876896749" name="Text 43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git-scm.com/docs</a:t>
            </a:r>
            <a:endParaRPr lang="en-US" sz="900"/>
          </a:p>
        </p:txBody>
      </p:sp>
      <p:sp>
        <p:nvSpPr>
          <p:cNvPr id="809128945" name="Text 45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327830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Basic Git Comman</a:t>
            </a:r>
            <a:r>
              <a:rPr lang="tr-TR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d Examples </a:t>
            </a:r>
            <a:r>
              <a:rPr lang="en-US" sz="1600" b="1">
                <a:solidFill>
                  <a:srgbClr val="F05033"/>
                </a:solidFill>
                <a:latin typeface="Cambria"/>
                <a:ea typeface="Cambria"/>
                <a:cs typeface="Cambria"/>
              </a:rPr>
              <a:t>[1]</a:t>
            </a:r>
            <a:endParaRPr lang="en-US" sz="3200"/>
          </a:p>
        </p:txBody>
      </p:sp>
      <p:sp>
        <p:nvSpPr>
          <p:cNvPr id="1893711632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466232840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781370597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730479842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495733486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136191298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96596252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086809650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65001616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49358089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68027565" name="Shape 11"/>
          <p:cNvSpPr/>
          <p:nvPr/>
        </p:nvSpPr>
        <p:spPr bwMode="auto">
          <a:xfrm>
            <a:off x="548640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81565762" name="Shape 12"/>
          <p:cNvSpPr/>
          <p:nvPr/>
        </p:nvSpPr>
        <p:spPr bwMode="auto">
          <a:xfrm>
            <a:off x="713232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44615632" name="Text 13"/>
          <p:cNvSpPr/>
          <p:nvPr/>
        </p:nvSpPr>
        <p:spPr bwMode="auto">
          <a:xfrm>
            <a:off x="914400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init</a:t>
            </a:r>
            <a:endParaRPr lang="en-US" sz="1500"/>
          </a:p>
        </p:txBody>
      </p:sp>
      <p:sp>
        <p:nvSpPr>
          <p:cNvPr id="2136331837" name="Text 14"/>
          <p:cNvSpPr/>
          <p:nvPr/>
        </p:nvSpPr>
        <p:spPr bwMode="auto">
          <a:xfrm>
            <a:off x="713232" y="233172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init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6558918" name="Shape 15"/>
          <p:cNvSpPr/>
          <p:nvPr/>
        </p:nvSpPr>
        <p:spPr bwMode="auto">
          <a:xfrm>
            <a:off x="3378708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4773235" name="Shape 16"/>
          <p:cNvSpPr/>
          <p:nvPr/>
        </p:nvSpPr>
        <p:spPr bwMode="auto">
          <a:xfrm>
            <a:off x="3543300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25505307" name="Text 17"/>
          <p:cNvSpPr/>
          <p:nvPr/>
        </p:nvSpPr>
        <p:spPr bwMode="auto">
          <a:xfrm>
            <a:off x="3744468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clone</a:t>
            </a:r>
            <a:endParaRPr lang="en-US" sz="1500"/>
          </a:p>
        </p:txBody>
      </p:sp>
      <p:sp>
        <p:nvSpPr>
          <p:cNvPr id="1852289626" name="Text 18"/>
          <p:cNvSpPr/>
          <p:nvPr/>
        </p:nvSpPr>
        <p:spPr bwMode="auto">
          <a:xfrm flipH="0" flipV="0">
            <a:off x="3427475" y="2331720"/>
            <a:ext cx="25526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clone </a:t>
            </a: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github.com/InnoVentures-Tech/2026-summer-presentations.git</a:t>
            </a:r>
            <a:endParaRPr sz="1200"/>
          </a:p>
        </p:txBody>
      </p:sp>
      <p:sp>
        <p:nvSpPr>
          <p:cNvPr id="2006137632" name="Shape 19"/>
          <p:cNvSpPr/>
          <p:nvPr/>
        </p:nvSpPr>
        <p:spPr bwMode="auto">
          <a:xfrm>
            <a:off x="6208776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70331145" name="Shape 20"/>
          <p:cNvSpPr/>
          <p:nvPr/>
        </p:nvSpPr>
        <p:spPr bwMode="auto">
          <a:xfrm>
            <a:off x="6373368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056273905" name="Text 21"/>
          <p:cNvSpPr/>
          <p:nvPr/>
        </p:nvSpPr>
        <p:spPr bwMode="auto">
          <a:xfrm>
            <a:off x="6574536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add</a:t>
            </a:r>
            <a:endParaRPr lang="en-US" sz="1500"/>
          </a:p>
        </p:txBody>
      </p:sp>
      <p:sp>
        <p:nvSpPr>
          <p:cNvPr id="513272305" name="Text 22"/>
          <p:cNvSpPr/>
          <p:nvPr/>
        </p:nvSpPr>
        <p:spPr bwMode="auto">
          <a:xfrm>
            <a:off x="6373368" y="233172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add .</a:t>
            </a:r>
            <a:endParaRPr lang="tr-TR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endParaRPr lang="en-US" sz="1200"/>
          </a:p>
          <a:p>
            <a:pPr marL="0" indent="0">
              <a:buNone/>
              <a:defRPr/>
            </a:pP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add file.txt</a:t>
            </a:r>
            <a:endParaRPr lang="en-US" sz="1200"/>
          </a:p>
        </p:txBody>
      </p:sp>
      <p:sp>
        <p:nvSpPr>
          <p:cNvPr id="1338680042" name="Shape 23"/>
          <p:cNvSpPr/>
          <p:nvPr/>
        </p:nvSpPr>
        <p:spPr bwMode="auto">
          <a:xfrm>
            <a:off x="9038844" y="160020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31267213" name="Shape 24"/>
          <p:cNvSpPr/>
          <p:nvPr/>
        </p:nvSpPr>
        <p:spPr bwMode="auto">
          <a:xfrm>
            <a:off x="9203436" y="178308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673222558" name="Text 25"/>
          <p:cNvSpPr/>
          <p:nvPr/>
        </p:nvSpPr>
        <p:spPr bwMode="auto">
          <a:xfrm>
            <a:off x="9404604" y="18562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commit</a:t>
            </a:r>
            <a:endParaRPr lang="en-US" sz="1500"/>
          </a:p>
        </p:txBody>
      </p:sp>
      <p:sp>
        <p:nvSpPr>
          <p:cNvPr id="906142909" name="Text 26"/>
          <p:cNvSpPr/>
          <p:nvPr/>
        </p:nvSpPr>
        <p:spPr bwMode="auto">
          <a:xfrm>
            <a:off x="9203436" y="233172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commit -m "initial commit"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7267571" name="Shape 27"/>
          <p:cNvSpPr/>
          <p:nvPr/>
        </p:nvSpPr>
        <p:spPr bwMode="auto">
          <a:xfrm>
            <a:off x="548640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32089276" name="Shape 28"/>
          <p:cNvSpPr/>
          <p:nvPr/>
        </p:nvSpPr>
        <p:spPr bwMode="auto">
          <a:xfrm>
            <a:off x="713232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932156123" name="Text 29"/>
          <p:cNvSpPr/>
          <p:nvPr/>
        </p:nvSpPr>
        <p:spPr bwMode="auto">
          <a:xfrm>
            <a:off x="914400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push</a:t>
            </a:r>
            <a:endParaRPr lang="en-US" sz="1500"/>
          </a:p>
        </p:txBody>
      </p:sp>
      <p:sp>
        <p:nvSpPr>
          <p:cNvPr id="894606959" name="Text 30"/>
          <p:cNvSpPr/>
          <p:nvPr/>
        </p:nvSpPr>
        <p:spPr bwMode="auto">
          <a:xfrm>
            <a:off x="713232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push origin main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21683" name="Shape 31"/>
          <p:cNvSpPr/>
          <p:nvPr/>
        </p:nvSpPr>
        <p:spPr bwMode="auto">
          <a:xfrm>
            <a:off x="3378708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86398765" name="Shape 32"/>
          <p:cNvSpPr/>
          <p:nvPr/>
        </p:nvSpPr>
        <p:spPr bwMode="auto">
          <a:xfrm>
            <a:off x="3543300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76847953" name="Text 33"/>
          <p:cNvSpPr/>
          <p:nvPr/>
        </p:nvSpPr>
        <p:spPr bwMode="auto">
          <a:xfrm>
            <a:off x="3744468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pull</a:t>
            </a:r>
            <a:endParaRPr lang="en-US" sz="1500"/>
          </a:p>
        </p:txBody>
      </p:sp>
      <p:sp>
        <p:nvSpPr>
          <p:cNvPr id="1475012405" name="Text 34"/>
          <p:cNvSpPr/>
          <p:nvPr/>
        </p:nvSpPr>
        <p:spPr bwMode="auto">
          <a:xfrm>
            <a:off x="3543300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pull</a:t>
            </a:r>
            <a:endParaRPr lang="en-US" sz="120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4587136" name="Shape 35"/>
          <p:cNvSpPr/>
          <p:nvPr/>
        </p:nvSpPr>
        <p:spPr bwMode="auto">
          <a:xfrm>
            <a:off x="6208776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01371624" name="Shape 36"/>
          <p:cNvSpPr/>
          <p:nvPr/>
        </p:nvSpPr>
        <p:spPr bwMode="auto">
          <a:xfrm>
            <a:off x="6373368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71527202" name="Text 37"/>
          <p:cNvSpPr/>
          <p:nvPr/>
        </p:nvSpPr>
        <p:spPr bwMode="auto">
          <a:xfrm>
            <a:off x="6574536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branch</a:t>
            </a:r>
            <a:endParaRPr lang="en-US" sz="1500"/>
          </a:p>
        </p:txBody>
      </p:sp>
      <p:sp>
        <p:nvSpPr>
          <p:cNvPr id="253042833" name="Text 38"/>
          <p:cNvSpPr/>
          <p:nvPr/>
        </p:nvSpPr>
        <p:spPr bwMode="auto">
          <a:xfrm>
            <a:off x="6373368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branch </a:t>
            </a: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new-branch </a:t>
            </a:r>
            <a:endParaRPr lang="tr-TR" sz="1200" b="0" i="0" u="none" strike="noStrike" cap="none" spc="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&amp;</a:t>
            </a:r>
            <a:endParaRPr lang="tr-TR" sz="1200" b="0" i="0" u="none" strike="noStrike" cap="none" spc="0">
              <a:solidFill>
                <a:srgbClr val="57606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checkout -b </a:t>
            </a: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new-branch </a:t>
            </a:r>
            <a:endParaRPr lang="en-US" sz="1200"/>
          </a:p>
        </p:txBody>
      </p:sp>
      <p:sp>
        <p:nvSpPr>
          <p:cNvPr id="2047940575" name="Shape 39"/>
          <p:cNvSpPr/>
          <p:nvPr/>
        </p:nvSpPr>
        <p:spPr bwMode="auto">
          <a:xfrm>
            <a:off x="9038844" y="3611880"/>
            <a:ext cx="2601468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24402152" name="Shape 40"/>
          <p:cNvSpPr/>
          <p:nvPr/>
        </p:nvSpPr>
        <p:spPr bwMode="auto">
          <a:xfrm>
            <a:off x="9203436" y="3794760"/>
            <a:ext cx="128016" cy="128016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196925319" name="Text 41"/>
          <p:cNvSpPr/>
          <p:nvPr/>
        </p:nvSpPr>
        <p:spPr bwMode="auto">
          <a:xfrm>
            <a:off x="9404604" y="3867911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merge</a:t>
            </a:r>
            <a:endParaRPr lang="en-US" sz="1500"/>
          </a:p>
        </p:txBody>
      </p:sp>
      <p:sp>
        <p:nvSpPr>
          <p:cNvPr id="725707448" name="Text 42"/>
          <p:cNvSpPr/>
          <p:nvPr/>
        </p:nvSpPr>
        <p:spPr bwMode="auto">
          <a:xfrm>
            <a:off x="9203436" y="4343400"/>
            <a:ext cx="2272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git merge </a:t>
            </a:r>
            <a:r>
              <a:rPr lang="tr-TR" sz="1200" b="0" i="0" u="none" strike="noStrike" cap="none" spc="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new-branch </a:t>
            </a:r>
            <a:r>
              <a:rPr lang="tr-TR" sz="12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200"/>
          </a:p>
        </p:txBody>
      </p:sp>
      <p:sp>
        <p:nvSpPr>
          <p:cNvPr id="197042869" name="Text 43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git-scm.com/docs</a:t>
            </a:r>
            <a:endParaRPr lang="en-US" sz="900"/>
          </a:p>
        </p:txBody>
      </p:sp>
      <p:sp>
        <p:nvSpPr>
          <p:cNvPr id="1203061681" name="Text 45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tr-TR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32020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More Advanced Commands</a:t>
            </a:r>
            <a:r>
              <a:rPr lang="en-US" sz="1600" b="1">
                <a:solidFill>
                  <a:srgbClr val="F05033"/>
                </a:solidFill>
                <a:latin typeface="Cambria"/>
                <a:ea typeface="Cambria"/>
                <a:cs typeface="Cambria"/>
              </a:rPr>
              <a:t> [1]</a:t>
            </a:r>
            <a:endParaRPr lang="en-US" sz="3200"/>
          </a:p>
        </p:txBody>
      </p:sp>
      <p:sp>
        <p:nvSpPr>
          <p:cNvPr id="1295502900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435325277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884735033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20731846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755600923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248898773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09200139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716336046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68942864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63695037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202798846" name="Shape 11"/>
          <p:cNvSpPr/>
          <p:nvPr/>
        </p:nvSpPr>
        <p:spPr bwMode="auto">
          <a:xfrm>
            <a:off x="548640" y="1508759"/>
            <a:ext cx="3514344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38159707" name="Text 12"/>
          <p:cNvSpPr/>
          <p:nvPr/>
        </p:nvSpPr>
        <p:spPr bwMode="auto">
          <a:xfrm>
            <a:off x="713232" y="1645920"/>
            <a:ext cx="3185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cherry-pick</a:t>
            </a:r>
            <a:endParaRPr lang="en-US" sz="1400"/>
          </a:p>
        </p:txBody>
      </p:sp>
      <p:sp>
        <p:nvSpPr>
          <p:cNvPr id="1174523494" name="Text 13"/>
          <p:cNvSpPr/>
          <p:nvPr/>
        </p:nvSpPr>
        <p:spPr bwMode="auto">
          <a:xfrm>
            <a:off x="713232" y="2057400"/>
            <a:ext cx="318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Copies one specific change from another branch</a:t>
            </a:r>
            <a:endParaRPr lang="en-US" sz="1150"/>
          </a:p>
        </p:txBody>
      </p:sp>
      <p:sp>
        <p:nvSpPr>
          <p:cNvPr id="975692360" name="Shape 14"/>
          <p:cNvSpPr/>
          <p:nvPr/>
        </p:nvSpPr>
        <p:spPr bwMode="auto">
          <a:xfrm>
            <a:off x="4337304" y="1508759"/>
            <a:ext cx="3514344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07490449" name="Text 15"/>
          <p:cNvSpPr/>
          <p:nvPr/>
        </p:nvSpPr>
        <p:spPr bwMode="auto">
          <a:xfrm>
            <a:off x="4501896" y="1645920"/>
            <a:ext cx="3185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rebase</a:t>
            </a:r>
            <a:endParaRPr lang="en-US" sz="1400"/>
          </a:p>
        </p:txBody>
      </p:sp>
      <p:sp>
        <p:nvSpPr>
          <p:cNvPr id="498681273" name="Text 16"/>
          <p:cNvSpPr/>
          <p:nvPr/>
        </p:nvSpPr>
        <p:spPr bwMode="auto">
          <a:xfrm>
            <a:off x="4501896" y="2057400"/>
            <a:ext cx="318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Rewrites history to make it cleaner or move changes</a:t>
            </a:r>
            <a:endParaRPr lang="en-US" sz="1150"/>
          </a:p>
        </p:txBody>
      </p:sp>
      <p:sp>
        <p:nvSpPr>
          <p:cNvPr id="780899215" name="Shape 17"/>
          <p:cNvSpPr/>
          <p:nvPr/>
        </p:nvSpPr>
        <p:spPr bwMode="auto">
          <a:xfrm>
            <a:off x="8125967" y="1508759"/>
            <a:ext cx="3514344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40629068" name="Text 18"/>
          <p:cNvSpPr/>
          <p:nvPr/>
        </p:nvSpPr>
        <p:spPr bwMode="auto">
          <a:xfrm>
            <a:off x="8290560" y="1645920"/>
            <a:ext cx="3185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reset</a:t>
            </a:r>
            <a:endParaRPr lang="en-US" sz="1400"/>
          </a:p>
        </p:txBody>
      </p:sp>
      <p:sp>
        <p:nvSpPr>
          <p:cNvPr id="1272137155" name="Text 19"/>
          <p:cNvSpPr/>
          <p:nvPr/>
        </p:nvSpPr>
        <p:spPr bwMode="auto">
          <a:xfrm>
            <a:off x="8290560" y="2057400"/>
            <a:ext cx="318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Undoes commits, moving the project back in time</a:t>
            </a:r>
            <a:endParaRPr lang="en-US" sz="1150"/>
          </a:p>
        </p:txBody>
      </p:sp>
      <p:sp>
        <p:nvSpPr>
          <p:cNvPr id="693033785" name="Shape 20"/>
          <p:cNvSpPr/>
          <p:nvPr/>
        </p:nvSpPr>
        <p:spPr bwMode="auto">
          <a:xfrm>
            <a:off x="548640" y="3200400"/>
            <a:ext cx="3514344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46486028" name="Text 21"/>
          <p:cNvSpPr/>
          <p:nvPr/>
        </p:nvSpPr>
        <p:spPr bwMode="auto">
          <a:xfrm>
            <a:off x="713232" y="3337560"/>
            <a:ext cx="3185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stash</a:t>
            </a:r>
            <a:endParaRPr lang="en-US" sz="1400"/>
          </a:p>
        </p:txBody>
      </p:sp>
      <p:sp>
        <p:nvSpPr>
          <p:cNvPr id="66863038" name="Text 22"/>
          <p:cNvSpPr/>
          <p:nvPr/>
        </p:nvSpPr>
        <p:spPr bwMode="auto">
          <a:xfrm>
            <a:off x="713232" y="3749040"/>
            <a:ext cx="318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Temporarily sets aside unfinished changes</a:t>
            </a:r>
            <a:endParaRPr lang="en-US" sz="1150"/>
          </a:p>
        </p:txBody>
      </p:sp>
      <p:sp>
        <p:nvSpPr>
          <p:cNvPr id="1558194148" name="Shape 23"/>
          <p:cNvSpPr/>
          <p:nvPr/>
        </p:nvSpPr>
        <p:spPr bwMode="auto">
          <a:xfrm>
            <a:off x="4337304" y="3200400"/>
            <a:ext cx="3514344" cy="1417320"/>
          </a:xfrm>
          <a:prstGeom prst="roundRect">
            <a:avLst>
              <a:gd name="adj" fmla="val 451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24642019" name="Text 24"/>
          <p:cNvSpPr/>
          <p:nvPr/>
        </p:nvSpPr>
        <p:spPr bwMode="auto">
          <a:xfrm>
            <a:off x="4501896" y="3337560"/>
            <a:ext cx="3185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ourier New"/>
                <a:ea typeface="Courier New"/>
                <a:cs typeface="Courier New"/>
              </a:rPr>
              <a:t>git revert</a:t>
            </a:r>
            <a:endParaRPr lang="en-US" sz="1400"/>
          </a:p>
        </p:txBody>
      </p:sp>
      <p:sp>
        <p:nvSpPr>
          <p:cNvPr id="485595486" name="Text 25"/>
          <p:cNvSpPr/>
          <p:nvPr/>
        </p:nvSpPr>
        <p:spPr bwMode="auto">
          <a:xfrm>
            <a:off x="4501896" y="3749040"/>
            <a:ext cx="318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Safely undoes a change by adding a new commit</a:t>
            </a:r>
            <a:endParaRPr lang="en-US" sz="1150"/>
          </a:p>
        </p:txBody>
      </p:sp>
      <p:sp>
        <p:nvSpPr>
          <p:cNvPr id="326708123" name="Shape 26"/>
          <p:cNvSpPr/>
          <p:nvPr/>
        </p:nvSpPr>
        <p:spPr bwMode="auto">
          <a:xfrm>
            <a:off x="8125967" y="3200400"/>
            <a:ext cx="3514344" cy="1417320"/>
          </a:xfrm>
          <a:prstGeom prst="roundRect">
            <a:avLst>
              <a:gd name="adj" fmla="val 4516"/>
            </a:avLst>
          </a:prstGeom>
          <a:solidFill>
            <a:srgbClr val="FFF1EE"/>
          </a:solidFill>
          <a:ln w="19050">
            <a:solidFill>
              <a:srgbClr val="F05033"/>
            </a:solidFill>
            <a:prstDash val="solid"/>
          </a:ln>
        </p:spPr>
      </p:sp>
      <p:sp>
        <p:nvSpPr>
          <p:cNvPr id="874237672" name="Text 27"/>
          <p:cNvSpPr/>
          <p:nvPr/>
        </p:nvSpPr>
        <p:spPr bwMode="auto">
          <a:xfrm>
            <a:off x="8263128" y="331012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05033"/>
                </a:solidFill>
              </a:rPr>
              <a:t>⚠</a:t>
            </a:r>
            <a:endParaRPr lang="en-US" sz="1600"/>
          </a:p>
        </p:txBody>
      </p:sp>
      <p:sp>
        <p:nvSpPr>
          <p:cNvPr id="1608099122" name="Text 28"/>
          <p:cNvSpPr/>
          <p:nvPr/>
        </p:nvSpPr>
        <p:spPr bwMode="auto">
          <a:xfrm>
            <a:off x="8628888" y="3319272"/>
            <a:ext cx="2874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05033"/>
                </a:solidFill>
                <a:latin typeface="Courier New"/>
                <a:ea typeface="Courier New"/>
                <a:cs typeface="Courier New"/>
              </a:rPr>
              <a:t>--force</a:t>
            </a:r>
            <a:endParaRPr lang="en-US" sz="1400"/>
          </a:p>
        </p:txBody>
      </p:sp>
      <p:sp>
        <p:nvSpPr>
          <p:cNvPr id="291911287" name="Text 29"/>
          <p:cNvSpPr/>
          <p:nvPr/>
        </p:nvSpPr>
        <p:spPr bwMode="auto">
          <a:xfrm>
            <a:off x="8290560" y="3749040"/>
            <a:ext cx="3185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A3324"/>
                </a:solidFill>
                <a:latin typeface="Calibri"/>
                <a:ea typeface="Calibri"/>
                <a:cs typeface="Calibri"/>
              </a:rPr>
              <a:t>Overwrites the remote history — use with caution, it can permanently delete teammates' work.</a:t>
            </a:r>
            <a:endParaRPr lang="en-US" sz="1100"/>
          </a:p>
        </p:txBody>
      </p:sp>
      <p:sp>
        <p:nvSpPr>
          <p:cNvPr id="465331157" name="Text 30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git-scm.com/docs</a:t>
            </a:r>
            <a:endParaRPr lang="en-US" sz="900"/>
          </a:p>
        </p:txBody>
      </p:sp>
      <p:sp>
        <p:nvSpPr>
          <p:cNvPr id="524004398" name="Text 32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tr-TR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489313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Git vs. GitHub: What's the Difference?</a:t>
            </a:r>
            <a:endParaRPr lang="en-US" sz="3200"/>
          </a:p>
        </p:txBody>
      </p:sp>
      <p:sp>
        <p:nvSpPr>
          <p:cNvPr id="2123464659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384829840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550379566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780990263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742954331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464741554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60033908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23448414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35400280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85183502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914332812" name="Shape 11"/>
          <p:cNvSpPr/>
          <p:nvPr/>
        </p:nvSpPr>
        <p:spPr bwMode="auto">
          <a:xfrm>
            <a:off x="548640" y="128016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523988755" name="Text 12"/>
          <p:cNvSpPr/>
          <p:nvPr/>
        </p:nvSpPr>
        <p:spPr bwMode="auto">
          <a:xfrm>
            <a:off x="548640" y="12801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GIT</a:t>
            </a:r>
            <a:endParaRPr lang="en-US" sz="2000"/>
          </a:p>
        </p:txBody>
      </p:sp>
      <p:sp>
        <p:nvSpPr>
          <p:cNvPr id="1414369161" name="Shape 13"/>
          <p:cNvSpPr/>
          <p:nvPr/>
        </p:nvSpPr>
        <p:spPr bwMode="auto">
          <a:xfrm>
            <a:off x="6400800" y="128016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341559482" name="Text 14"/>
          <p:cNvSpPr/>
          <p:nvPr/>
        </p:nvSpPr>
        <p:spPr bwMode="auto">
          <a:xfrm>
            <a:off x="6400800" y="12801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GITHUB</a:t>
            </a:r>
            <a:endParaRPr lang="en-US" sz="2000"/>
          </a:p>
        </p:txBody>
      </p:sp>
      <p:sp>
        <p:nvSpPr>
          <p:cNvPr id="1447533550" name="Shape 15"/>
          <p:cNvSpPr/>
          <p:nvPr/>
        </p:nvSpPr>
        <p:spPr bwMode="auto">
          <a:xfrm>
            <a:off x="548640" y="1965960"/>
            <a:ext cx="5212080" cy="7772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67947891" name="Shape 16"/>
          <p:cNvSpPr/>
          <p:nvPr/>
        </p:nvSpPr>
        <p:spPr bwMode="auto">
          <a:xfrm>
            <a:off x="6400800" y="1965960"/>
            <a:ext cx="5212080" cy="7772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88521415" name="Text 17"/>
          <p:cNvSpPr/>
          <p:nvPr/>
        </p:nvSpPr>
        <p:spPr bwMode="auto">
          <a:xfrm>
            <a:off x="731520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What it is</a:t>
            </a:r>
            <a:endParaRPr lang="en-US" sz="1150"/>
          </a:p>
        </p:txBody>
      </p:sp>
      <p:sp>
        <p:nvSpPr>
          <p:cNvPr id="1214877977" name="Text 18"/>
          <p:cNvSpPr/>
          <p:nvPr/>
        </p:nvSpPr>
        <p:spPr bwMode="auto">
          <a:xfrm>
            <a:off x="731520" y="2258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A version control tool that runs on your computer</a:t>
            </a: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[2]</a:t>
            </a:r>
            <a:endParaRPr lang="en-US" sz="1250"/>
          </a:p>
        </p:txBody>
      </p:sp>
      <p:sp>
        <p:nvSpPr>
          <p:cNvPr id="928593779" name="Text 19"/>
          <p:cNvSpPr/>
          <p:nvPr/>
        </p:nvSpPr>
        <p:spPr bwMode="auto">
          <a:xfrm>
            <a:off x="6583680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8957E5"/>
                </a:solidFill>
                <a:latin typeface="Calibri"/>
                <a:ea typeface="Calibri"/>
                <a:cs typeface="Calibri"/>
              </a:rPr>
              <a:t>What it is</a:t>
            </a:r>
            <a:endParaRPr lang="en-US" sz="1150"/>
          </a:p>
        </p:txBody>
      </p:sp>
      <p:sp>
        <p:nvSpPr>
          <p:cNvPr id="1168949137" name="Text 20"/>
          <p:cNvSpPr/>
          <p:nvPr/>
        </p:nvSpPr>
        <p:spPr bwMode="auto">
          <a:xfrm>
            <a:off x="6583680" y="2258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A website that hosts Git projects online</a:t>
            </a:r>
            <a:endParaRPr lang="en-US" sz="1250"/>
          </a:p>
        </p:txBody>
      </p:sp>
      <p:sp>
        <p:nvSpPr>
          <p:cNvPr id="1572734238" name="Shape 21"/>
          <p:cNvSpPr/>
          <p:nvPr/>
        </p:nvSpPr>
        <p:spPr bwMode="auto">
          <a:xfrm>
            <a:off x="548640" y="2743200"/>
            <a:ext cx="5212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93725578" name="Shape 22"/>
          <p:cNvSpPr/>
          <p:nvPr/>
        </p:nvSpPr>
        <p:spPr bwMode="auto">
          <a:xfrm>
            <a:off x="6400800" y="2743200"/>
            <a:ext cx="5212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68077712" name="Text 23"/>
          <p:cNvSpPr/>
          <p:nvPr/>
        </p:nvSpPr>
        <p:spPr bwMode="auto">
          <a:xfrm>
            <a:off x="731520" y="27797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Installation</a:t>
            </a:r>
            <a:endParaRPr lang="en-US" sz="1150"/>
          </a:p>
        </p:txBody>
      </p:sp>
      <p:sp>
        <p:nvSpPr>
          <p:cNvPr id="826775257" name="Text 24"/>
          <p:cNvSpPr/>
          <p:nvPr/>
        </p:nvSpPr>
        <p:spPr bwMode="auto">
          <a:xfrm>
            <a:off x="731520" y="30358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Installed locally, works without internet</a:t>
            </a:r>
            <a:endParaRPr lang="en-US" sz="1250"/>
          </a:p>
        </p:txBody>
      </p:sp>
      <p:sp>
        <p:nvSpPr>
          <p:cNvPr id="969753354" name="Text 25"/>
          <p:cNvSpPr/>
          <p:nvPr/>
        </p:nvSpPr>
        <p:spPr bwMode="auto">
          <a:xfrm>
            <a:off x="6583680" y="27797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8957E5"/>
                </a:solidFill>
                <a:latin typeface="Calibri"/>
                <a:ea typeface="Calibri"/>
                <a:cs typeface="Calibri"/>
              </a:rPr>
              <a:t>Installation</a:t>
            </a:r>
            <a:endParaRPr lang="en-US" sz="1150"/>
          </a:p>
        </p:txBody>
      </p:sp>
      <p:sp>
        <p:nvSpPr>
          <p:cNvPr id="659326603" name="Text 26"/>
          <p:cNvSpPr/>
          <p:nvPr/>
        </p:nvSpPr>
        <p:spPr bwMode="auto">
          <a:xfrm>
            <a:off x="6583680" y="30358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Web-based, requires an account</a:t>
            </a:r>
            <a:endParaRPr lang="en-US" sz="1250"/>
          </a:p>
        </p:txBody>
      </p:sp>
      <p:sp>
        <p:nvSpPr>
          <p:cNvPr id="895897289" name="Shape 27"/>
          <p:cNvSpPr/>
          <p:nvPr/>
        </p:nvSpPr>
        <p:spPr bwMode="auto">
          <a:xfrm>
            <a:off x="548640" y="3520440"/>
            <a:ext cx="5212080" cy="7772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48869193" name="Shape 28"/>
          <p:cNvSpPr/>
          <p:nvPr/>
        </p:nvSpPr>
        <p:spPr bwMode="auto">
          <a:xfrm>
            <a:off x="6400800" y="3520440"/>
            <a:ext cx="5212080" cy="7772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60326783" name="Text 29"/>
          <p:cNvSpPr/>
          <p:nvPr/>
        </p:nvSpPr>
        <p:spPr bwMode="auto">
          <a:xfrm>
            <a:off x="731520" y="35570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Owned by</a:t>
            </a:r>
            <a:endParaRPr lang="en-US" sz="1150"/>
          </a:p>
        </p:txBody>
      </p:sp>
      <p:sp>
        <p:nvSpPr>
          <p:cNvPr id="1699059361" name="Text 30"/>
          <p:cNvSpPr/>
          <p:nvPr/>
        </p:nvSpPr>
        <p:spPr bwMode="auto">
          <a:xfrm>
            <a:off x="731520" y="38130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Open source — not owned by any company</a:t>
            </a:r>
            <a:r>
              <a:rPr lang="tr-TR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b="1" i="0" u="none" strike="noStrike" cap="none" spc="0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tr-TR" sz="1250" b="1" i="0" u="none" strike="noStrike" cap="none" spc="0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3</a:t>
            </a:r>
            <a:r>
              <a:rPr lang="en-US" sz="1250" b="1" i="0" u="none" strike="noStrike" cap="none" spc="0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250">
              <a:solidFill>
                <a:srgbClr val="1B1F2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4875360" name="Text 31"/>
          <p:cNvSpPr/>
          <p:nvPr/>
        </p:nvSpPr>
        <p:spPr bwMode="auto">
          <a:xfrm>
            <a:off x="6583680" y="35570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8957E5"/>
                </a:solidFill>
                <a:latin typeface="Calibri"/>
                <a:ea typeface="Calibri"/>
                <a:cs typeface="Calibri"/>
              </a:rPr>
              <a:t>Owned by</a:t>
            </a:r>
            <a:endParaRPr lang="en-US" sz="1150"/>
          </a:p>
        </p:txBody>
      </p:sp>
      <p:sp>
        <p:nvSpPr>
          <p:cNvPr id="1289939622" name="Text 32"/>
          <p:cNvSpPr/>
          <p:nvPr/>
        </p:nvSpPr>
        <p:spPr bwMode="auto">
          <a:xfrm>
            <a:off x="6583680" y="38130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Owned by Microsoft (since 2018)</a:t>
            </a: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[1]</a:t>
            </a:r>
            <a:endParaRPr lang="en-US" sz="1250"/>
          </a:p>
        </p:txBody>
      </p:sp>
      <p:sp>
        <p:nvSpPr>
          <p:cNvPr id="1514839166" name="Shape 33"/>
          <p:cNvSpPr/>
          <p:nvPr/>
        </p:nvSpPr>
        <p:spPr bwMode="auto">
          <a:xfrm>
            <a:off x="548640" y="4297680"/>
            <a:ext cx="5212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71500156" name="Shape 34"/>
          <p:cNvSpPr/>
          <p:nvPr/>
        </p:nvSpPr>
        <p:spPr bwMode="auto">
          <a:xfrm>
            <a:off x="6400800" y="4297680"/>
            <a:ext cx="5212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55789843" name="Text 35"/>
          <p:cNvSpPr/>
          <p:nvPr/>
        </p:nvSpPr>
        <p:spPr bwMode="auto">
          <a:xfrm>
            <a:off x="731520" y="43342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Extra features</a:t>
            </a:r>
            <a:endParaRPr lang="en-US" sz="1150"/>
          </a:p>
        </p:txBody>
      </p:sp>
      <p:sp>
        <p:nvSpPr>
          <p:cNvPr id="1244588084" name="Text 36"/>
          <p:cNvSpPr/>
          <p:nvPr/>
        </p:nvSpPr>
        <p:spPr bwMode="auto">
          <a:xfrm>
            <a:off x="731520" y="45902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Only tracks versions of your code</a:t>
            </a:r>
            <a:endParaRPr lang="en-US" sz="1250"/>
          </a:p>
        </p:txBody>
      </p:sp>
      <p:sp>
        <p:nvSpPr>
          <p:cNvPr id="1328220261" name="Text 37"/>
          <p:cNvSpPr/>
          <p:nvPr/>
        </p:nvSpPr>
        <p:spPr bwMode="auto">
          <a:xfrm>
            <a:off x="6583680" y="43342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8957E5"/>
                </a:solidFill>
                <a:latin typeface="Calibri"/>
                <a:ea typeface="Calibri"/>
                <a:cs typeface="Calibri"/>
              </a:rPr>
              <a:t>Extra features</a:t>
            </a:r>
            <a:endParaRPr lang="en-US" sz="1150"/>
          </a:p>
        </p:txBody>
      </p:sp>
      <p:sp>
        <p:nvSpPr>
          <p:cNvPr id="1903709456" name="Text 38"/>
          <p:cNvSpPr/>
          <p:nvPr/>
        </p:nvSpPr>
        <p:spPr bwMode="auto">
          <a:xfrm>
            <a:off x="6583680" y="45902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Adds pull requests, issues, wikis</a:t>
            </a:r>
            <a:endParaRPr lang="en-US" sz="1250"/>
          </a:p>
        </p:txBody>
      </p:sp>
      <p:sp>
        <p:nvSpPr>
          <p:cNvPr id="1529864828" name="Shape 39"/>
          <p:cNvSpPr/>
          <p:nvPr/>
        </p:nvSpPr>
        <p:spPr bwMode="auto">
          <a:xfrm>
            <a:off x="548640" y="5074920"/>
            <a:ext cx="5212080" cy="7772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97928049" name="Shape 40"/>
          <p:cNvSpPr/>
          <p:nvPr/>
        </p:nvSpPr>
        <p:spPr bwMode="auto">
          <a:xfrm>
            <a:off x="6400800" y="5074920"/>
            <a:ext cx="5212080" cy="7772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362185255" name="Text 41"/>
          <p:cNvSpPr/>
          <p:nvPr/>
        </p:nvSpPr>
        <p:spPr bwMode="auto">
          <a:xfrm>
            <a:off x="731520" y="51114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Any alternatives?</a:t>
            </a:r>
            <a:endParaRPr lang="en-US" sz="1150"/>
          </a:p>
        </p:txBody>
      </p:sp>
      <p:sp>
        <p:nvSpPr>
          <p:cNvPr id="1505073319" name="Text 42"/>
          <p:cNvSpPr/>
          <p:nvPr/>
        </p:nvSpPr>
        <p:spPr bwMode="auto">
          <a:xfrm>
            <a:off x="731520" y="53675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Yes — Mercurial, SVN, and others</a:t>
            </a:r>
            <a:endParaRPr lang="en-US" sz="1250"/>
          </a:p>
        </p:txBody>
      </p:sp>
      <p:sp>
        <p:nvSpPr>
          <p:cNvPr id="160357956" name="Text 43"/>
          <p:cNvSpPr/>
          <p:nvPr/>
        </p:nvSpPr>
        <p:spPr bwMode="auto">
          <a:xfrm>
            <a:off x="6583680" y="51114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8957E5"/>
                </a:solidFill>
                <a:latin typeface="Calibri"/>
                <a:ea typeface="Calibri"/>
                <a:cs typeface="Calibri"/>
              </a:rPr>
              <a:t>Any alternatives?</a:t>
            </a:r>
            <a:endParaRPr lang="en-US" sz="1150"/>
          </a:p>
        </p:txBody>
      </p:sp>
      <p:sp>
        <p:nvSpPr>
          <p:cNvPr id="745961002" name="Text 44"/>
          <p:cNvSpPr/>
          <p:nvPr/>
        </p:nvSpPr>
        <p:spPr bwMode="auto">
          <a:xfrm>
            <a:off x="6583680" y="53675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Yes — GitLab, Bitbucket, and others</a:t>
            </a:r>
            <a:endParaRPr lang="en-US" sz="1250"/>
          </a:p>
        </p:txBody>
      </p:sp>
      <p:sp>
        <p:nvSpPr>
          <p:cNvPr id="1132929398" name="Text 45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blogs.microsoft.com (GitHub acquisition)   [2] git-scm.com</a:t>
            </a:r>
            <a:r>
              <a:rPr lang="tr-TR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 [3] </a:t>
            </a:r>
            <a:r>
              <a:rPr lang="tr-TR" sz="900" b="0" i="1" u="none" strike="noStrike" cap="none" spc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https://github.com/git/git</a:t>
            </a:r>
            <a:endParaRPr lang="en-US" sz="900"/>
          </a:p>
        </p:txBody>
      </p:sp>
      <p:sp>
        <p:nvSpPr>
          <p:cNvPr id="1742770085" name="Text 47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tr-TR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473712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Git Platforms &amp; Client Apps</a:t>
            </a:r>
            <a:endParaRPr lang="en-US" sz="3200"/>
          </a:p>
        </p:txBody>
      </p:sp>
      <p:sp>
        <p:nvSpPr>
          <p:cNvPr id="467538750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623106751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860940053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958535719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494350165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560974641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85915963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028297320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19644746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16140753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48118309" name="Shape 11"/>
          <p:cNvSpPr/>
          <p:nvPr/>
        </p:nvSpPr>
        <p:spPr bwMode="auto">
          <a:xfrm>
            <a:off x="548640" y="16002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11283539" name="Shape 12"/>
          <p:cNvSpPr/>
          <p:nvPr/>
        </p:nvSpPr>
        <p:spPr bwMode="auto">
          <a:xfrm>
            <a:off x="731520" y="1783080"/>
            <a:ext cx="457200" cy="45720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724017141" name="Text 13"/>
          <p:cNvSpPr/>
          <p:nvPr/>
        </p:nvSpPr>
        <p:spPr bwMode="auto"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1102953920" name="Text 14"/>
          <p:cNvSpPr/>
          <p:nvPr/>
        </p:nvSpPr>
        <p:spPr bwMode="auto">
          <a:xfrm>
            <a:off x="1325880" y="1819656"/>
            <a:ext cx="2599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[1]</a:t>
            </a:r>
            <a:endParaRPr lang="en-US" sz="1450"/>
          </a:p>
        </p:txBody>
      </p:sp>
      <p:sp>
        <p:nvSpPr>
          <p:cNvPr id="1679073391" name="Text 15"/>
          <p:cNvSpPr/>
          <p:nvPr/>
        </p:nvSpPr>
        <p:spPr bwMode="auto">
          <a:xfrm>
            <a:off x="731520" y="2377440"/>
            <a:ext cx="3148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The most popular place to host Git projects, with a huge community</a:t>
            </a:r>
            <a:endParaRPr lang="en-US" sz="1150"/>
          </a:p>
        </p:txBody>
      </p:sp>
      <p:sp>
        <p:nvSpPr>
          <p:cNvPr id="2028674435" name="Shape 16"/>
          <p:cNvSpPr/>
          <p:nvPr/>
        </p:nvSpPr>
        <p:spPr bwMode="auto">
          <a:xfrm>
            <a:off x="4337304" y="16002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92650959" name="Shape 17"/>
          <p:cNvSpPr/>
          <p:nvPr/>
        </p:nvSpPr>
        <p:spPr bwMode="auto">
          <a:xfrm>
            <a:off x="4520184" y="178308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115599047" name="Text 18"/>
          <p:cNvSpPr/>
          <p:nvPr/>
        </p:nvSpPr>
        <p:spPr bwMode="auto">
          <a:xfrm>
            <a:off x="4520184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1274306694" name="Text 19"/>
          <p:cNvSpPr/>
          <p:nvPr/>
        </p:nvSpPr>
        <p:spPr bwMode="auto">
          <a:xfrm>
            <a:off x="5114543" y="1819656"/>
            <a:ext cx="2599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GitLab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[2]</a:t>
            </a:r>
            <a:endParaRPr lang="en-US" sz="1450"/>
          </a:p>
        </p:txBody>
      </p:sp>
      <p:sp>
        <p:nvSpPr>
          <p:cNvPr id="687089637" name="Text 20"/>
          <p:cNvSpPr/>
          <p:nvPr/>
        </p:nvSpPr>
        <p:spPr bwMode="auto">
          <a:xfrm>
            <a:off x="4520184" y="2377440"/>
            <a:ext cx="3148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Popular with companies; focused on CI/CD, can also run on your own server</a:t>
            </a:r>
            <a:endParaRPr lang="en-US" sz="1150"/>
          </a:p>
        </p:txBody>
      </p:sp>
      <p:sp>
        <p:nvSpPr>
          <p:cNvPr id="1349572357" name="Shape 21"/>
          <p:cNvSpPr/>
          <p:nvPr/>
        </p:nvSpPr>
        <p:spPr bwMode="auto">
          <a:xfrm>
            <a:off x="8125967" y="160020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94359268" name="Shape 22"/>
          <p:cNvSpPr/>
          <p:nvPr/>
        </p:nvSpPr>
        <p:spPr bwMode="auto">
          <a:xfrm>
            <a:off x="8308848" y="1783080"/>
            <a:ext cx="457200" cy="45720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81923580" name="Text 23"/>
          <p:cNvSpPr/>
          <p:nvPr/>
        </p:nvSpPr>
        <p:spPr bwMode="auto">
          <a:xfrm>
            <a:off x="830884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1023500514" name="Text 24"/>
          <p:cNvSpPr/>
          <p:nvPr/>
        </p:nvSpPr>
        <p:spPr bwMode="auto">
          <a:xfrm>
            <a:off x="8903208" y="1819656"/>
            <a:ext cx="2599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Bitbucket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[3]</a:t>
            </a:r>
            <a:endParaRPr lang="en-US" sz="1450"/>
          </a:p>
        </p:txBody>
      </p:sp>
      <p:sp>
        <p:nvSpPr>
          <p:cNvPr id="1027148367" name="Text 25"/>
          <p:cNvSpPr/>
          <p:nvPr/>
        </p:nvSpPr>
        <p:spPr bwMode="auto">
          <a:xfrm>
            <a:off x="8308848" y="2377440"/>
            <a:ext cx="3148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Integrates well with other Atlassian tools like Jira and Trello</a:t>
            </a:r>
            <a:endParaRPr lang="en-US" sz="1150"/>
          </a:p>
        </p:txBody>
      </p:sp>
      <p:sp>
        <p:nvSpPr>
          <p:cNvPr id="201966967" name="Shape 26"/>
          <p:cNvSpPr/>
          <p:nvPr/>
        </p:nvSpPr>
        <p:spPr bwMode="auto">
          <a:xfrm>
            <a:off x="548640" y="374904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19072367" name="Shape 27"/>
          <p:cNvSpPr/>
          <p:nvPr/>
        </p:nvSpPr>
        <p:spPr bwMode="auto">
          <a:xfrm>
            <a:off x="731520" y="393192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45336174" name="Text 28"/>
          <p:cNvSpPr/>
          <p:nvPr/>
        </p:nvSpPr>
        <p:spPr bwMode="auto"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/>
          </a:p>
        </p:txBody>
      </p:sp>
      <p:sp>
        <p:nvSpPr>
          <p:cNvPr id="1725922100" name="Text 29"/>
          <p:cNvSpPr/>
          <p:nvPr/>
        </p:nvSpPr>
        <p:spPr bwMode="auto">
          <a:xfrm>
            <a:off x="1325880" y="3968496"/>
            <a:ext cx="2599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GitHub Desktop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[4]</a:t>
            </a:r>
            <a:endParaRPr lang="en-US" sz="1450"/>
          </a:p>
        </p:txBody>
      </p:sp>
      <p:sp>
        <p:nvSpPr>
          <p:cNvPr id="320007920" name="Text 30"/>
          <p:cNvSpPr/>
          <p:nvPr/>
        </p:nvSpPr>
        <p:spPr bwMode="auto">
          <a:xfrm>
            <a:off x="731520" y="4526280"/>
            <a:ext cx="3148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A visual app that lets you use Git without typing commands</a:t>
            </a:r>
            <a:endParaRPr lang="en-US" sz="1150"/>
          </a:p>
        </p:txBody>
      </p:sp>
      <p:sp>
        <p:nvSpPr>
          <p:cNvPr id="2107891698" name="Shape 31"/>
          <p:cNvSpPr/>
          <p:nvPr/>
        </p:nvSpPr>
        <p:spPr bwMode="auto">
          <a:xfrm>
            <a:off x="4337304" y="374904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34588855" name="Shape 32"/>
          <p:cNvSpPr/>
          <p:nvPr/>
        </p:nvSpPr>
        <p:spPr bwMode="auto">
          <a:xfrm>
            <a:off x="4520184" y="3931920"/>
            <a:ext cx="457200" cy="45720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87616549" name="Text 33"/>
          <p:cNvSpPr/>
          <p:nvPr/>
        </p:nvSpPr>
        <p:spPr bwMode="auto">
          <a:xfrm>
            <a:off x="4520184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600"/>
          </a:p>
        </p:txBody>
      </p:sp>
      <p:sp>
        <p:nvSpPr>
          <p:cNvPr id="1758404696" name="Text 34"/>
          <p:cNvSpPr/>
          <p:nvPr/>
        </p:nvSpPr>
        <p:spPr bwMode="auto">
          <a:xfrm>
            <a:off x="5114543" y="3968496"/>
            <a:ext cx="2599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Sourcetree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[5]</a:t>
            </a:r>
            <a:endParaRPr lang="en-US" sz="1450"/>
          </a:p>
        </p:txBody>
      </p:sp>
      <p:sp>
        <p:nvSpPr>
          <p:cNvPr id="56706739" name="Text 35"/>
          <p:cNvSpPr/>
          <p:nvPr/>
        </p:nvSpPr>
        <p:spPr bwMode="auto">
          <a:xfrm>
            <a:off x="4520184" y="4526280"/>
            <a:ext cx="3148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A free visual Git client made by Atlassian</a:t>
            </a:r>
            <a:endParaRPr lang="en-US" sz="1150"/>
          </a:p>
        </p:txBody>
      </p:sp>
      <p:sp>
        <p:nvSpPr>
          <p:cNvPr id="745448005" name="Shape 36"/>
          <p:cNvSpPr/>
          <p:nvPr/>
        </p:nvSpPr>
        <p:spPr bwMode="auto">
          <a:xfrm>
            <a:off x="8125967" y="3749040"/>
            <a:ext cx="3514344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41070167" name="Shape 37"/>
          <p:cNvSpPr/>
          <p:nvPr/>
        </p:nvSpPr>
        <p:spPr bwMode="auto">
          <a:xfrm>
            <a:off x="8308848" y="3931920"/>
            <a:ext cx="457200" cy="457200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668391145" name="Text 38"/>
          <p:cNvSpPr/>
          <p:nvPr/>
        </p:nvSpPr>
        <p:spPr bwMode="auto">
          <a:xfrm>
            <a:off x="830884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600"/>
          </a:p>
        </p:txBody>
      </p:sp>
      <p:sp>
        <p:nvSpPr>
          <p:cNvPr id="365256201" name="Text 39"/>
          <p:cNvSpPr/>
          <p:nvPr/>
        </p:nvSpPr>
        <p:spPr bwMode="auto">
          <a:xfrm>
            <a:off x="8903208" y="3968496"/>
            <a:ext cx="2599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GitKraken</a:t>
            </a:r>
            <a:r>
              <a:rPr lang="en-US" sz="135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[6]</a:t>
            </a:r>
            <a:endParaRPr lang="en-US" sz="1450"/>
          </a:p>
        </p:txBody>
      </p:sp>
      <p:sp>
        <p:nvSpPr>
          <p:cNvPr id="1847352585" name="Text 40"/>
          <p:cNvSpPr/>
          <p:nvPr/>
        </p:nvSpPr>
        <p:spPr bwMode="auto">
          <a:xfrm>
            <a:off x="8308848" y="4526280"/>
            <a:ext cx="3148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A popular Git client known for its clear visual history view</a:t>
            </a:r>
            <a:endParaRPr lang="en-US" sz="1150"/>
          </a:p>
        </p:txBody>
      </p:sp>
      <p:sp>
        <p:nvSpPr>
          <p:cNvPr id="1067219137" name="Text 41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github.com  [2] gitlab.com  [3] bitbucket.org  [4] desktop.github.com  [5] atlassian.com/sourcetree  [6] gitkraken.com</a:t>
            </a:r>
            <a:endParaRPr lang="en-US" sz="900"/>
          </a:p>
        </p:txBody>
      </p:sp>
      <p:sp>
        <p:nvSpPr>
          <p:cNvPr id="1528856655" name="Text 43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tr-TR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B1F2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350754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Why Big Companies Build Their Own Tools</a:t>
            </a:r>
            <a:endParaRPr lang="en-US" sz="3200"/>
          </a:p>
        </p:txBody>
      </p:sp>
      <p:sp>
        <p:nvSpPr>
          <p:cNvPr id="1643709039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6E7681"/>
            </a:solidFill>
            <a:prstDash val="solid"/>
          </a:ln>
        </p:spPr>
      </p:sp>
      <p:sp>
        <p:nvSpPr>
          <p:cNvPr id="849802954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6E7681"/>
            </a:solidFill>
            <a:prstDash val="solid"/>
          </a:ln>
        </p:spPr>
      </p:sp>
      <p:sp>
        <p:nvSpPr>
          <p:cNvPr id="853271746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6E7681"/>
            </a:solidFill>
            <a:prstDash val="solid"/>
          </a:ln>
        </p:spPr>
      </p:sp>
      <p:sp>
        <p:nvSpPr>
          <p:cNvPr id="338327536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6E7681"/>
            </a:solidFill>
            <a:prstDash val="solid"/>
          </a:ln>
        </p:spPr>
      </p:sp>
      <p:sp>
        <p:nvSpPr>
          <p:cNvPr id="75854216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6E7681"/>
            </a:solidFill>
            <a:prstDash val="solid"/>
          </a:ln>
        </p:spPr>
      </p:sp>
      <p:sp>
        <p:nvSpPr>
          <p:cNvPr id="707816390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707262119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1789921701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1107426859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1490008562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554826929" name="Shape 11"/>
          <p:cNvSpPr/>
          <p:nvPr/>
        </p:nvSpPr>
        <p:spPr bwMode="auto">
          <a:xfrm>
            <a:off x="548640" y="137160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2133928927" name="Shape 12"/>
          <p:cNvSpPr/>
          <p:nvPr/>
        </p:nvSpPr>
        <p:spPr bwMode="auto">
          <a:xfrm>
            <a:off x="731520" y="1586484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339976064" name="Text 13"/>
          <p:cNvSpPr/>
          <p:nvPr/>
        </p:nvSpPr>
        <p:spPr bwMode="auto">
          <a:xfrm>
            <a:off x="731520" y="158648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Meta (Facebook)</a:t>
            </a:r>
            <a:endParaRPr lang="en-US" sz="1250"/>
          </a:p>
        </p:txBody>
      </p:sp>
      <p:sp>
        <p:nvSpPr>
          <p:cNvPr id="443834934" name="Text 14"/>
          <p:cNvSpPr/>
          <p:nvPr/>
        </p:nvSpPr>
        <p:spPr bwMode="auto">
          <a:xfrm>
            <a:off x="2743200" y="146304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5C0AF"/>
                </a:solidFill>
                <a:latin typeface="Courier New"/>
                <a:ea typeface="Courier New"/>
                <a:cs typeface="Courier New"/>
              </a:rPr>
              <a:t>Sapling</a:t>
            </a:r>
            <a:r>
              <a:rPr lang="en-US" sz="1400" b="1">
                <a:solidFill>
                  <a:srgbClr val="F05033"/>
                </a:solidFill>
                <a:latin typeface="Courier New"/>
                <a:ea typeface="Courier New"/>
                <a:cs typeface="Courier New"/>
              </a:rPr>
              <a:t> [1]</a:t>
            </a:r>
            <a:endParaRPr lang="en-US" sz="1500"/>
          </a:p>
        </p:txBody>
      </p:sp>
      <p:sp>
        <p:nvSpPr>
          <p:cNvPr id="1831140796" name="Text 15"/>
          <p:cNvSpPr/>
          <p:nvPr/>
        </p:nvSpPr>
        <p:spPr bwMode="auto">
          <a:xfrm>
            <a:off x="5257800" y="1444752"/>
            <a:ext cx="61996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Compatible with Git, built to handle Meta's massive codebase more quickly.</a:t>
            </a:r>
            <a:endParaRPr lang="en-US" sz="1200"/>
          </a:p>
        </p:txBody>
      </p:sp>
      <p:sp>
        <p:nvSpPr>
          <p:cNvPr id="1637831819" name="Shape 16"/>
          <p:cNvSpPr/>
          <p:nvPr/>
        </p:nvSpPr>
        <p:spPr bwMode="auto">
          <a:xfrm>
            <a:off x="548640" y="265176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846223450" name="Shape 17"/>
          <p:cNvSpPr/>
          <p:nvPr/>
        </p:nvSpPr>
        <p:spPr bwMode="auto">
          <a:xfrm>
            <a:off x="731520" y="2866644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972427564" name="Text 18"/>
          <p:cNvSpPr/>
          <p:nvPr/>
        </p:nvSpPr>
        <p:spPr bwMode="auto">
          <a:xfrm>
            <a:off x="731520" y="286664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Google</a:t>
            </a:r>
            <a:endParaRPr lang="en-US" sz="1250"/>
          </a:p>
        </p:txBody>
      </p:sp>
      <p:sp>
        <p:nvSpPr>
          <p:cNvPr id="1231342152" name="Text 19"/>
          <p:cNvSpPr/>
          <p:nvPr/>
        </p:nvSpPr>
        <p:spPr bwMode="auto">
          <a:xfrm>
            <a:off x="2743200" y="27432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5C0AF"/>
                </a:solidFill>
                <a:latin typeface="Courier New"/>
                <a:ea typeface="Courier New"/>
                <a:cs typeface="Courier New"/>
              </a:rPr>
              <a:t>Piper</a:t>
            </a:r>
            <a:r>
              <a:rPr lang="en-US" sz="1400" b="1">
                <a:solidFill>
                  <a:srgbClr val="F05033"/>
                </a:solidFill>
                <a:latin typeface="Courier New"/>
                <a:ea typeface="Courier New"/>
                <a:cs typeface="Courier New"/>
              </a:rPr>
              <a:t> [2]</a:t>
            </a:r>
            <a:endParaRPr lang="en-US" sz="1500"/>
          </a:p>
        </p:txBody>
      </p:sp>
      <p:sp>
        <p:nvSpPr>
          <p:cNvPr id="333213492" name="Text 20"/>
          <p:cNvSpPr/>
          <p:nvPr/>
        </p:nvSpPr>
        <p:spPr bwMode="auto">
          <a:xfrm>
            <a:off x="5257800" y="2724911"/>
            <a:ext cx="61996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Started on Perforce, now runs on Google's own infrastructure (Spanner) at huge scale.</a:t>
            </a:r>
            <a:endParaRPr lang="en-US" sz="1200"/>
          </a:p>
        </p:txBody>
      </p:sp>
      <p:sp>
        <p:nvSpPr>
          <p:cNvPr id="1779629944" name="Shape 21"/>
          <p:cNvSpPr/>
          <p:nvPr/>
        </p:nvSpPr>
        <p:spPr bwMode="auto">
          <a:xfrm>
            <a:off x="548640" y="393192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68606576" name="Shape 22"/>
          <p:cNvSpPr/>
          <p:nvPr/>
        </p:nvSpPr>
        <p:spPr bwMode="auto">
          <a:xfrm>
            <a:off x="731520" y="4146803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13331038" name="Text 23"/>
          <p:cNvSpPr/>
          <p:nvPr/>
        </p:nvSpPr>
        <p:spPr bwMode="auto">
          <a:xfrm>
            <a:off x="731520" y="4146803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Microsoft</a:t>
            </a:r>
            <a:endParaRPr lang="en-US" sz="1250"/>
          </a:p>
        </p:txBody>
      </p:sp>
      <p:sp>
        <p:nvSpPr>
          <p:cNvPr id="1702238279" name="Text 24"/>
          <p:cNvSpPr/>
          <p:nvPr/>
        </p:nvSpPr>
        <p:spPr bwMode="auto">
          <a:xfrm>
            <a:off x="2743200" y="40233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5C0AF"/>
                </a:solidFill>
                <a:latin typeface="Courier New"/>
                <a:ea typeface="Courier New"/>
                <a:cs typeface="Courier New"/>
              </a:rPr>
              <a:t>VFS for Git / Scalar</a:t>
            </a:r>
            <a:r>
              <a:rPr lang="en-US" sz="1400" b="1">
                <a:solidFill>
                  <a:srgbClr val="F05033"/>
                </a:solidFill>
                <a:latin typeface="Courier New"/>
                <a:ea typeface="Courier New"/>
                <a:cs typeface="Courier New"/>
              </a:rPr>
              <a:t> [3]</a:t>
            </a:r>
            <a:endParaRPr lang="en-US" sz="1500"/>
          </a:p>
        </p:txBody>
      </p:sp>
      <p:sp>
        <p:nvSpPr>
          <p:cNvPr id="1441645204" name="Text 25"/>
          <p:cNvSpPr/>
          <p:nvPr/>
        </p:nvSpPr>
        <p:spPr bwMode="auto">
          <a:xfrm>
            <a:off x="5257800" y="4005072"/>
            <a:ext cx="61996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A layer built on top of Git itself to manage Windows' enormous codebase.</a:t>
            </a:r>
            <a:endParaRPr lang="en-US" sz="1200"/>
          </a:p>
        </p:txBody>
      </p:sp>
      <p:sp>
        <p:nvSpPr>
          <p:cNvPr id="857715427" name="Shape 26"/>
          <p:cNvSpPr/>
          <p:nvPr/>
        </p:nvSpPr>
        <p:spPr bwMode="auto">
          <a:xfrm>
            <a:off x="548640" y="521208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916388931" name="Shape 27"/>
          <p:cNvSpPr/>
          <p:nvPr/>
        </p:nvSpPr>
        <p:spPr bwMode="auto">
          <a:xfrm>
            <a:off x="731520" y="5426964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36101746" name="Text 28"/>
          <p:cNvSpPr/>
          <p:nvPr/>
        </p:nvSpPr>
        <p:spPr bwMode="auto">
          <a:xfrm>
            <a:off x="731520" y="542696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(Twitter)</a:t>
            </a:r>
            <a:endParaRPr lang="en-US" sz="1250"/>
          </a:p>
        </p:txBody>
      </p:sp>
      <p:sp>
        <p:nvSpPr>
          <p:cNvPr id="523021840" name="Text 29"/>
          <p:cNvSpPr/>
          <p:nvPr/>
        </p:nvSpPr>
        <p:spPr bwMode="auto">
          <a:xfrm>
            <a:off x="2743200" y="53035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5C0AF"/>
                </a:solidFill>
                <a:latin typeface="Courier New"/>
                <a:ea typeface="Courier New"/>
                <a:cs typeface="Courier New"/>
              </a:rPr>
              <a:t>Customized Git</a:t>
            </a:r>
            <a:r>
              <a:rPr lang="en-US" sz="1400" b="1">
                <a:solidFill>
                  <a:srgbClr val="F05033"/>
                </a:solidFill>
                <a:latin typeface="Courier New"/>
                <a:ea typeface="Courier New"/>
                <a:cs typeface="Courier New"/>
              </a:rPr>
              <a:t> [4]</a:t>
            </a:r>
            <a:endParaRPr lang="en-US" sz="1500"/>
          </a:p>
        </p:txBody>
      </p:sp>
      <p:sp>
        <p:nvSpPr>
          <p:cNvPr id="1302687084" name="Text 30"/>
          <p:cNvSpPr/>
          <p:nvPr/>
        </p:nvSpPr>
        <p:spPr bwMode="auto">
          <a:xfrm>
            <a:off x="5257800" y="5285232"/>
            <a:ext cx="61996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Instead of a new tool, they use Git with custom scaling add-ons for one giant repo.</a:t>
            </a:r>
            <a:endParaRPr lang="en-US" sz="1200"/>
          </a:p>
        </p:txBody>
      </p:sp>
      <p:sp>
        <p:nvSpPr>
          <p:cNvPr id="282924012" name="Text 31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Sources: [1] engineering.fb.com   [2] cacm.acm.org   [3] devblogs.microsoft.com &amp; github.blog   [4] github.blog (monorepo scaling)</a:t>
            </a:r>
            <a:endParaRPr lang="en-US" sz="900"/>
          </a:p>
        </p:txBody>
      </p:sp>
      <p:sp>
        <p:nvSpPr>
          <p:cNvPr id="1586378502" name="Text 33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tr-TR" sz="10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419776" name="Text 0"/>
          <p:cNvSpPr/>
          <p:nvPr/>
        </p:nvSpPr>
        <p:spPr bwMode="auto">
          <a:xfrm>
            <a:off x="548640" y="411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1B1F23"/>
                </a:solidFill>
                <a:latin typeface="Cambria"/>
                <a:ea typeface="Cambria"/>
                <a:cs typeface="Cambria"/>
              </a:rPr>
              <a:t>Other Alternatives to Git</a:t>
            </a:r>
            <a:endParaRPr lang="en-US" sz="3200"/>
          </a:p>
        </p:txBody>
      </p:sp>
      <p:sp>
        <p:nvSpPr>
          <p:cNvPr id="793449901" name="Shape 1"/>
          <p:cNvSpPr/>
          <p:nvPr/>
        </p:nvSpPr>
        <p:spPr bwMode="auto">
          <a:xfrm>
            <a:off x="10332720" y="118872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151037217" name="Shape 2"/>
          <p:cNvSpPr/>
          <p:nvPr/>
        </p:nvSpPr>
        <p:spPr bwMode="auto">
          <a:xfrm flipV="1">
            <a:off x="10812780" y="708660"/>
            <a:ext cx="48006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2033323816" name="Shape 3"/>
          <p:cNvSpPr/>
          <p:nvPr/>
        </p:nvSpPr>
        <p:spPr bwMode="auto">
          <a:xfrm>
            <a:off x="11292840" y="70866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350234539" name="Shape 4"/>
          <p:cNvSpPr/>
          <p:nvPr/>
        </p:nvSpPr>
        <p:spPr bwMode="auto">
          <a:xfrm>
            <a:off x="10812780" y="1188720"/>
            <a:ext cx="0" cy="48006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377890754" name="Shape 5"/>
          <p:cNvSpPr/>
          <p:nvPr/>
        </p:nvSpPr>
        <p:spPr bwMode="auto">
          <a:xfrm>
            <a:off x="10812780" y="1668780"/>
            <a:ext cx="480060" cy="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2106032566" name="Shape 6"/>
          <p:cNvSpPr/>
          <p:nvPr/>
        </p:nvSpPr>
        <p:spPr bwMode="auto">
          <a:xfrm>
            <a:off x="1027099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015115557" name="Shape 7"/>
          <p:cNvSpPr/>
          <p:nvPr/>
        </p:nvSpPr>
        <p:spPr bwMode="auto">
          <a:xfrm>
            <a:off x="10751058" y="112699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68179812" name="Shape 8"/>
          <p:cNvSpPr/>
          <p:nvPr/>
        </p:nvSpPr>
        <p:spPr bwMode="auto">
          <a:xfrm>
            <a:off x="1123111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87489738" name="Shape 9"/>
          <p:cNvSpPr/>
          <p:nvPr/>
        </p:nvSpPr>
        <p:spPr bwMode="auto">
          <a:xfrm>
            <a:off x="11711178" y="64693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0487910" name="Shape 10"/>
          <p:cNvSpPr/>
          <p:nvPr/>
        </p:nvSpPr>
        <p:spPr bwMode="auto">
          <a:xfrm>
            <a:off x="10751058" y="1607058"/>
            <a:ext cx="123444" cy="123444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553150551" name="Shape 11"/>
          <p:cNvSpPr/>
          <p:nvPr/>
        </p:nvSpPr>
        <p:spPr bwMode="auto">
          <a:xfrm>
            <a:off x="548640" y="1554480"/>
            <a:ext cx="3514344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24384954" name="Shape 12"/>
          <p:cNvSpPr/>
          <p:nvPr/>
        </p:nvSpPr>
        <p:spPr bwMode="auto">
          <a:xfrm>
            <a:off x="713232" y="1810512"/>
            <a:ext cx="128016" cy="128016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819319053" name="Text 13"/>
          <p:cNvSpPr/>
          <p:nvPr/>
        </p:nvSpPr>
        <p:spPr bwMode="auto">
          <a:xfrm>
            <a:off x="914400" y="1755648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Mercurial </a:t>
            </a:r>
            <a:r>
              <a:rPr lang="en-US" sz="130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[1]</a:t>
            </a:r>
            <a:endParaRPr lang="en-US" sz="1400"/>
          </a:p>
        </p:txBody>
      </p:sp>
      <p:sp>
        <p:nvSpPr>
          <p:cNvPr id="1682058507" name="Text 14"/>
          <p:cNvSpPr/>
          <p:nvPr/>
        </p:nvSpPr>
        <p:spPr bwMode="auto">
          <a:xfrm>
            <a:off x="713232" y="2331720"/>
            <a:ext cx="3185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Similar distributed design to Git, known for simpler commands</a:t>
            </a:r>
            <a:endParaRPr lang="en-US" sz="1150"/>
          </a:p>
        </p:txBody>
      </p:sp>
      <p:sp>
        <p:nvSpPr>
          <p:cNvPr id="1559822866" name="Shape 15"/>
          <p:cNvSpPr/>
          <p:nvPr/>
        </p:nvSpPr>
        <p:spPr bwMode="auto">
          <a:xfrm>
            <a:off x="4337304" y="1554480"/>
            <a:ext cx="3514344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47097572" name="Shape 16"/>
          <p:cNvSpPr/>
          <p:nvPr/>
        </p:nvSpPr>
        <p:spPr bwMode="auto">
          <a:xfrm>
            <a:off x="4501896" y="1810512"/>
            <a:ext cx="128016" cy="128016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505095777" name="Text 17"/>
          <p:cNvSpPr/>
          <p:nvPr/>
        </p:nvSpPr>
        <p:spPr bwMode="auto">
          <a:xfrm>
            <a:off x="4703064" y="1755648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Subversion (SVN)</a:t>
            </a:r>
            <a:r>
              <a:rPr lang="en-US" sz="130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[2]</a:t>
            </a:r>
            <a:endParaRPr lang="en-US" sz="1400"/>
          </a:p>
        </p:txBody>
      </p:sp>
      <p:sp>
        <p:nvSpPr>
          <p:cNvPr id="1321130802" name="Text 18"/>
          <p:cNvSpPr/>
          <p:nvPr/>
        </p:nvSpPr>
        <p:spPr bwMode="auto">
          <a:xfrm>
            <a:off x="4501896" y="2331720"/>
            <a:ext cx="3185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An older, centralized system — one main server holds the history</a:t>
            </a:r>
            <a:endParaRPr lang="en-US" sz="1150"/>
          </a:p>
        </p:txBody>
      </p:sp>
      <p:sp>
        <p:nvSpPr>
          <p:cNvPr id="1259515724" name="Shape 19"/>
          <p:cNvSpPr/>
          <p:nvPr/>
        </p:nvSpPr>
        <p:spPr bwMode="auto">
          <a:xfrm>
            <a:off x="8125967" y="1554480"/>
            <a:ext cx="3514344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37009523" name="Shape 20"/>
          <p:cNvSpPr/>
          <p:nvPr/>
        </p:nvSpPr>
        <p:spPr bwMode="auto">
          <a:xfrm>
            <a:off x="8290560" y="1810512"/>
            <a:ext cx="128016" cy="128016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20539002" name="Text 21"/>
          <p:cNvSpPr/>
          <p:nvPr/>
        </p:nvSpPr>
        <p:spPr bwMode="auto">
          <a:xfrm>
            <a:off x="8491728" y="1755648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Perforce (Helix Core)</a:t>
            </a:r>
            <a:r>
              <a:rPr lang="en-US" sz="130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[3]</a:t>
            </a:r>
            <a:endParaRPr lang="en-US" sz="1400"/>
          </a:p>
        </p:txBody>
      </p:sp>
      <p:sp>
        <p:nvSpPr>
          <p:cNvPr id="208383078" name="Text 22"/>
          <p:cNvSpPr/>
          <p:nvPr/>
        </p:nvSpPr>
        <p:spPr bwMode="auto">
          <a:xfrm>
            <a:off x="8290560" y="2331720"/>
            <a:ext cx="3185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Popular for large binary files, often used in game development</a:t>
            </a:r>
            <a:endParaRPr lang="en-US" sz="1150"/>
          </a:p>
        </p:txBody>
      </p:sp>
      <p:sp>
        <p:nvSpPr>
          <p:cNvPr id="613453208" name="Shape 23"/>
          <p:cNvSpPr/>
          <p:nvPr/>
        </p:nvSpPr>
        <p:spPr bwMode="auto">
          <a:xfrm>
            <a:off x="548640" y="3566160"/>
            <a:ext cx="3514344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55679291" name="Shape 24"/>
          <p:cNvSpPr/>
          <p:nvPr/>
        </p:nvSpPr>
        <p:spPr bwMode="auto">
          <a:xfrm>
            <a:off x="713232" y="3822192"/>
            <a:ext cx="128016" cy="128016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859178933" name="Text 25"/>
          <p:cNvSpPr/>
          <p:nvPr/>
        </p:nvSpPr>
        <p:spPr bwMode="auto">
          <a:xfrm>
            <a:off x="914400" y="3767328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Plastic SCM</a:t>
            </a:r>
            <a:r>
              <a:rPr lang="en-US" sz="130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[4]</a:t>
            </a:r>
            <a:endParaRPr lang="en-US" sz="1400"/>
          </a:p>
        </p:txBody>
      </p:sp>
      <p:sp>
        <p:nvSpPr>
          <p:cNvPr id="751722322" name="Text 26"/>
          <p:cNvSpPr/>
          <p:nvPr/>
        </p:nvSpPr>
        <p:spPr bwMode="auto">
          <a:xfrm>
            <a:off x="713232" y="4343400"/>
            <a:ext cx="3185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A commercial tool known for its visual branch management</a:t>
            </a:r>
            <a:endParaRPr lang="en-US" sz="1150"/>
          </a:p>
        </p:txBody>
      </p:sp>
      <p:sp>
        <p:nvSpPr>
          <p:cNvPr id="225607814" name="Shape 27"/>
          <p:cNvSpPr/>
          <p:nvPr/>
        </p:nvSpPr>
        <p:spPr bwMode="auto">
          <a:xfrm>
            <a:off x="4337304" y="3566160"/>
            <a:ext cx="3514344" cy="1737360"/>
          </a:xfrm>
          <a:prstGeom prst="roundRect">
            <a:avLst>
              <a:gd name="adj" fmla="val 36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62089073" name="Shape 28"/>
          <p:cNvSpPr/>
          <p:nvPr/>
        </p:nvSpPr>
        <p:spPr bwMode="auto">
          <a:xfrm>
            <a:off x="4501896" y="3822192"/>
            <a:ext cx="128016" cy="128016"/>
          </a:xfrm>
          <a:prstGeom prst="ellipse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023822024" name="Text 29"/>
          <p:cNvSpPr/>
          <p:nvPr/>
        </p:nvSpPr>
        <p:spPr bwMode="auto">
          <a:xfrm>
            <a:off x="4703064" y="3767328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3"/>
                </a:solidFill>
                <a:latin typeface="Calibri"/>
                <a:ea typeface="Calibri"/>
                <a:cs typeface="Calibri"/>
              </a:rPr>
              <a:t>Fossil</a:t>
            </a:r>
            <a:r>
              <a:rPr lang="en-US" sz="1300" b="1">
                <a:solidFill>
                  <a:srgbClr val="F05033"/>
                </a:solidFill>
                <a:latin typeface="Calibri"/>
                <a:ea typeface="Calibri"/>
                <a:cs typeface="Calibri"/>
              </a:rPr>
              <a:t> [5]</a:t>
            </a:r>
            <a:endParaRPr lang="en-US" sz="1400"/>
          </a:p>
        </p:txBody>
      </p:sp>
      <p:sp>
        <p:nvSpPr>
          <p:cNvPr id="319149897" name="Text 30"/>
          <p:cNvSpPr/>
          <p:nvPr/>
        </p:nvSpPr>
        <p:spPr bwMode="auto">
          <a:xfrm>
            <a:off x="4501896" y="4343400"/>
            <a:ext cx="3185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A lightweight tool by SQLite's creator, includes a wiki and bug tracker</a:t>
            </a:r>
            <a:endParaRPr lang="en-US" sz="1150"/>
          </a:p>
        </p:txBody>
      </p:sp>
      <p:sp>
        <p:nvSpPr>
          <p:cNvPr id="896963689" name="Text 31"/>
          <p:cNvSpPr/>
          <p:nvPr/>
        </p:nvSpPr>
        <p:spPr bwMode="auto">
          <a:xfrm>
            <a:off x="548640" y="650176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Sources: [1] mercurial-scm.org  [2] subversion.apache.org  [3] perforce.com  [4] plasticscm.com  [5] fossil-scm.org</a:t>
            </a:r>
            <a:endParaRPr lang="en-US" sz="900"/>
          </a:p>
        </p:txBody>
      </p:sp>
      <p:sp>
        <p:nvSpPr>
          <p:cNvPr id="637403054" name="Text 33"/>
          <p:cNvSpPr/>
          <p:nvPr/>
        </p:nvSpPr>
        <p:spPr bwMode="auto"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tr-TR" sz="1000">
                <a:solidFill>
                  <a:srgbClr val="57606A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B1F2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892899" name="Shape 0"/>
          <p:cNvSpPr/>
          <p:nvPr/>
        </p:nvSpPr>
        <p:spPr bwMode="auto">
          <a:xfrm>
            <a:off x="8778240" y="3154680"/>
            <a:ext cx="1440180" cy="0"/>
          </a:xfrm>
          <a:prstGeom prst="line">
            <a:avLst/>
          </a:prstGeom>
          <a:noFill/>
          <a:ln w="85725">
            <a:solidFill>
              <a:srgbClr val="434A53"/>
            </a:solidFill>
            <a:prstDash val="solid"/>
          </a:ln>
        </p:spPr>
      </p:sp>
      <p:sp>
        <p:nvSpPr>
          <p:cNvPr id="209870200" name="Shape 1"/>
          <p:cNvSpPr/>
          <p:nvPr/>
        </p:nvSpPr>
        <p:spPr bwMode="auto">
          <a:xfrm flipV="1">
            <a:off x="10218420" y="1714500"/>
            <a:ext cx="1440180" cy="1440180"/>
          </a:xfrm>
          <a:prstGeom prst="line">
            <a:avLst/>
          </a:prstGeom>
          <a:noFill/>
          <a:ln w="85725">
            <a:solidFill>
              <a:srgbClr val="434A53"/>
            </a:solidFill>
            <a:prstDash val="solid"/>
          </a:ln>
        </p:spPr>
      </p:sp>
      <p:sp>
        <p:nvSpPr>
          <p:cNvPr id="650419820" name="Shape 2"/>
          <p:cNvSpPr/>
          <p:nvPr/>
        </p:nvSpPr>
        <p:spPr bwMode="auto">
          <a:xfrm>
            <a:off x="11658600" y="1714500"/>
            <a:ext cx="1440180" cy="0"/>
          </a:xfrm>
          <a:prstGeom prst="line">
            <a:avLst/>
          </a:prstGeom>
          <a:noFill/>
          <a:ln w="85725">
            <a:solidFill>
              <a:srgbClr val="434A53"/>
            </a:solidFill>
            <a:prstDash val="solid"/>
          </a:ln>
        </p:spPr>
      </p:sp>
      <p:sp>
        <p:nvSpPr>
          <p:cNvPr id="1795734628" name="Shape 3"/>
          <p:cNvSpPr/>
          <p:nvPr/>
        </p:nvSpPr>
        <p:spPr bwMode="auto">
          <a:xfrm>
            <a:off x="10218420" y="3154680"/>
            <a:ext cx="0" cy="1440180"/>
          </a:xfrm>
          <a:prstGeom prst="line">
            <a:avLst/>
          </a:prstGeom>
          <a:noFill/>
          <a:ln w="85725">
            <a:solidFill>
              <a:srgbClr val="434A53"/>
            </a:solidFill>
            <a:prstDash val="solid"/>
          </a:ln>
        </p:spPr>
      </p:sp>
      <p:sp>
        <p:nvSpPr>
          <p:cNvPr id="565730879" name="Shape 4"/>
          <p:cNvSpPr/>
          <p:nvPr/>
        </p:nvSpPr>
        <p:spPr bwMode="auto">
          <a:xfrm>
            <a:off x="10218420" y="4594860"/>
            <a:ext cx="1440180" cy="0"/>
          </a:xfrm>
          <a:prstGeom prst="line">
            <a:avLst/>
          </a:prstGeom>
          <a:noFill/>
          <a:ln w="85725">
            <a:solidFill>
              <a:srgbClr val="434A53"/>
            </a:solidFill>
            <a:prstDash val="solid"/>
          </a:ln>
        </p:spPr>
      </p:sp>
      <p:sp>
        <p:nvSpPr>
          <p:cNvPr id="1201877889" name="Shape 5"/>
          <p:cNvSpPr/>
          <p:nvPr/>
        </p:nvSpPr>
        <p:spPr bwMode="auto">
          <a:xfrm>
            <a:off x="8593074" y="2969514"/>
            <a:ext cx="370332" cy="370332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339106138" name="Shape 6"/>
          <p:cNvSpPr/>
          <p:nvPr/>
        </p:nvSpPr>
        <p:spPr bwMode="auto">
          <a:xfrm>
            <a:off x="10033254" y="2969514"/>
            <a:ext cx="370332" cy="370332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28379297" name="Shape 7"/>
          <p:cNvSpPr/>
          <p:nvPr/>
        </p:nvSpPr>
        <p:spPr bwMode="auto">
          <a:xfrm>
            <a:off x="11473434" y="1529334"/>
            <a:ext cx="370332" cy="370332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343989326" name="Shape 8"/>
          <p:cNvSpPr/>
          <p:nvPr/>
        </p:nvSpPr>
        <p:spPr bwMode="auto">
          <a:xfrm>
            <a:off x="12913614" y="1529334"/>
            <a:ext cx="370332" cy="370332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53873980" name="Shape 9"/>
          <p:cNvSpPr/>
          <p:nvPr/>
        </p:nvSpPr>
        <p:spPr bwMode="auto">
          <a:xfrm>
            <a:off x="10033254" y="4409694"/>
            <a:ext cx="370332" cy="370332"/>
          </a:xfrm>
          <a:prstGeom prst="ellipse">
            <a:avLst/>
          </a:prstGeom>
          <a:solidFill>
            <a:srgbClr val="434A53"/>
          </a:solidFill>
          <a:ln w="12700">
            <a:solidFill>
              <a:srgbClr val="434A53"/>
            </a:solidFill>
            <a:prstDash val="solid"/>
          </a:ln>
        </p:spPr>
      </p:sp>
      <p:sp>
        <p:nvSpPr>
          <p:cNvPr id="1479776240" name="Text 10"/>
          <p:cNvSpPr/>
          <p:nvPr/>
        </p:nvSpPr>
        <p:spPr bwMode="auto"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Key Takeaways</a:t>
            </a:r>
            <a:endParaRPr lang="en-US" sz="3400"/>
          </a:p>
        </p:txBody>
      </p:sp>
      <p:sp>
        <p:nvSpPr>
          <p:cNvPr id="1813668125" name="Shape 11"/>
          <p:cNvSpPr/>
          <p:nvPr/>
        </p:nvSpPr>
        <p:spPr bwMode="auto">
          <a:xfrm>
            <a:off x="685800" y="1783080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082653655" name="Text 12"/>
          <p:cNvSpPr/>
          <p:nvPr/>
        </p:nvSpPr>
        <p:spPr bwMode="auto">
          <a:xfrm>
            <a:off x="960120" y="16002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Version control keeps a full history of changes and lets teams collaborate safely.</a:t>
            </a:r>
            <a:endParaRPr lang="en-US" sz="1500"/>
          </a:p>
        </p:txBody>
      </p:sp>
      <p:sp>
        <p:nvSpPr>
          <p:cNvPr id="1223788657" name="Shape 13"/>
          <p:cNvSpPr/>
          <p:nvPr/>
        </p:nvSpPr>
        <p:spPr bwMode="auto">
          <a:xfrm>
            <a:off x="685800" y="2560320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212438684" name="Text 14"/>
          <p:cNvSpPr/>
          <p:nvPr/>
        </p:nvSpPr>
        <p:spPr bwMode="auto">
          <a:xfrm>
            <a:off x="960120" y="2377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Git is the free, open-source tool almost everyone uses to do this locally.</a:t>
            </a:r>
            <a:endParaRPr lang="en-US" sz="1500"/>
          </a:p>
        </p:txBody>
      </p:sp>
      <p:sp>
        <p:nvSpPr>
          <p:cNvPr id="1453402851" name="Shape 15"/>
          <p:cNvSpPr/>
          <p:nvPr/>
        </p:nvSpPr>
        <p:spPr bwMode="auto">
          <a:xfrm>
            <a:off x="685800" y="3337560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806200422" name="Text 16"/>
          <p:cNvSpPr/>
          <p:nvPr/>
        </p:nvSpPr>
        <p:spPr bwMode="auto">
          <a:xfrm>
            <a:off x="960120" y="3154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GitHub is a separate website that hosts Git projects — they are not the same thing.</a:t>
            </a:r>
            <a:endParaRPr lang="en-US" sz="1500"/>
          </a:p>
        </p:txBody>
      </p:sp>
      <p:sp>
        <p:nvSpPr>
          <p:cNvPr id="861120401" name="Shape 17"/>
          <p:cNvSpPr/>
          <p:nvPr/>
        </p:nvSpPr>
        <p:spPr bwMode="auto">
          <a:xfrm>
            <a:off x="685800" y="4114800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475356322" name="Text 18"/>
          <p:cNvSpPr/>
          <p:nvPr/>
        </p:nvSpPr>
        <p:spPr bwMode="auto">
          <a:xfrm>
            <a:off x="960120" y="3931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Basic commands (add, commit, push, pull) cover daily use; advanced ones like --force need extra care.</a:t>
            </a:r>
            <a:endParaRPr lang="en-US" sz="1500"/>
          </a:p>
        </p:txBody>
      </p:sp>
      <p:sp>
        <p:nvSpPr>
          <p:cNvPr id="1901345544" name="Shape 19"/>
          <p:cNvSpPr/>
          <p:nvPr/>
        </p:nvSpPr>
        <p:spPr bwMode="auto">
          <a:xfrm>
            <a:off x="685800" y="4892039"/>
            <a:ext cx="109728" cy="109728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042951527" name="Text 20"/>
          <p:cNvSpPr/>
          <p:nvPr/>
        </p:nvSpPr>
        <p:spPr bwMode="auto">
          <a:xfrm>
            <a:off x="960120" y="47091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9D1D9"/>
                </a:solidFill>
                <a:latin typeface="Calibri"/>
                <a:ea typeface="Calibri"/>
                <a:cs typeface="Calibri"/>
              </a:rPr>
              <a:t>Some companies build their own tools (Sapling, Piper) simply because of their massive scale.</a:t>
            </a:r>
            <a:endParaRPr lang="en-US" sz="1500"/>
          </a:p>
        </p:txBody>
      </p:sp>
      <p:sp>
        <p:nvSpPr>
          <p:cNvPr id="681686299" name="Text 21"/>
          <p:cNvSpPr/>
          <p:nvPr/>
        </p:nvSpPr>
        <p:spPr bwMode="auto"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05033"/>
                </a:solidFill>
                <a:latin typeface="Cambria"/>
                <a:ea typeface="Cambria"/>
                <a:cs typeface="Cambria"/>
              </a:rPr>
              <a:t>Thank you!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4</cp:revision>
  <dcterms:created xsi:type="dcterms:W3CDTF">2026-07-27T19:54:21Z</dcterms:created>
  <dcterms:modified xsi:type="dcterms:W3CDTF">2026-07-28T11:04:15Z</dcterms:modified>
</cp:coreProperties>
</file>